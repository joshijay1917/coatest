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48"/>
  </p:notesMasterIdLst>
  <p:sldIdLst>
    <p:sldId id="256" r:id="rId2"/>
    <p:sldId id="257" r:id="rId3"/>
    <p:sldId id="258" r:id="rId4"/>
    <p:sldId id="259" r:id="rId5"/>
    <p:sldId id="260" r:id="rId6"/>
    <p:sldId id="261" r:id="rId7"/>
    <p:sldId id="262" r:id="rId8"/>
    <p:sldId id="286" r:id="rId9"/>
    <p:sldId id="263" r:id="rId10"/>
    <p:sldId id="285" r:id="rId11"/>
    <p:sldId id="264" r:id="rId12"/>
    <p:sldId id="287" r:id="rId13"/>
    <p:sldId id="265" r:id="rId14"/>
    <p:sldId id="290" r:id="rId15"/>
    <p:sldId id="267" r:id="rId16"/>
    <p:sldId id="352" r:id="rId17"/>
    <p:sldId id="268" r:id="rId18"/>
    <p:sldId id="289" r:id="rId19"/>
    <p:sldId id="288" r:id="rId20"/>
    <p:sldId id="270" r:id="rId21"/>
    <p:sldId id="271" r:id="rId22"/>
    <p:sldId id="272" r:id="rId23"/>
    <p:sldId id="292" r:id="rId24"/>
    <p:sldId id="291" r:id="rId25"/>
    <p:sldId id="274" r:id="rId26"/>
    <p:sldId id="275" r:id="rId27"/>
    <p:sldId id="276" r:id="rId28"/>
    <p:sldId id="277" r:id="rId29"/>
    <p:sldId id="348" r:id="rId30"/>
    <p:sldId id="294" r:id="rId31"/>
    <p:sldId id="349" r:id="rId32"/>
    <p:sldId id="278" r:id="rId33"/>
    <p:sldId id="298" r:id="rId34"/>
    <p:sldId id="297" r:id="rId35"/>
    <p:sldId id="279" r:id="rId36"/>
    <p:sldId id="280" r:id="rId37"/>
    <p:sldId id="300" r:id="rId38"/>
    <p:sldId id="281" r:id="rId39"/>
    <p:sldId id="282" r:id="rId40"/>
    <p:sldId id="296" r:id="rId41"/>
    <p:sldId id="350" r:id="rId42"/>
    <p:sldId id="283" r:id="rId43"/>
    <p:sldId id="345" r:id="rId44"/>
    <p:sldId id="346" r:id="rId45"/>
    <p:sldId id="347" r:id="rId46"/>
    <p:sldId id="284" r:id="rId4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2" d="100"/>
          <a:sy n="142" d="100"/>
        </p:scale>
        <p:origin x="714" y="11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2ac27326f0a_0_1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2ac27326f0a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2b0578c777c_0_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2b0578c777c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2b0578c777c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2b0578c777c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2b305bf23d9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2b305bf23d9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2b305bf23d9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2b305bf23d9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2b305bf23d9_0_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2b305bf23d9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2ac27326f0a_0_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2ac27326f0a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223060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2b1071a7a9d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2b1071a7a9d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2b1071a7a9d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2b1071a7a9d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429902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2b305bf23d9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2b305bf23d9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2b305bf23d9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2b305bf23d9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925738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2b305bf23d9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2b305bf23d9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2b1071a7a9d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2b1071a7a9d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102192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2b305bf23d9_0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2b305bf23d9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2b305bf23d9_0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2b305bf23d9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704838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2b305bf23d9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2b305bf23d9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2b305bf23d9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2b305bf23d9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011254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2b3b77c53b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2b3b77c53b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498096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2b305bf23d9_0_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2b305bf23d9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2b305bf23d9_0_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2b305bf23d9_0_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2b305bf23d9_0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 name="Google Shape;160;g2b305bf23d9_0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2b3b77c53bc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2b3b77c53bc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3759752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2b3b77c53bc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2b3b77c53bc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014366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2b305bf23d9_0_1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2b305bf23d9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2b305bf23d9_0_1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2b305bf23d9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2b305bf23d9_0_1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2b305bf23d9_0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2b305bf23d9_0_1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2b305bf23d9_0_1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2b305bf23d9_0_1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2b305bf23d9_0_1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4822721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2b305bf23d9_0_1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2b305bf23d9_0_1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5386769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2b305bf23d9_0_1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2b305bf23d9_0_1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6757770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2b3b77c53bc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2b3b77c53bc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2b305bf23d9_0_1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2b305bf23d9_0_1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9019888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2b3b77c53bc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2b3b77c53bc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0971419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2b305bf23d9_0_1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2b305bf23d9_0_1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2b305bf23d9_0_1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g2b305bf23d9_0_1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2b305bf23d9_0_1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g2b305bf23d9_0_1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8092019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2b3b77c53bc_0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 name="Google Shape;214;g2b3b77c53bc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2b305bf23d9_0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2b305bf23d9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2b305bf23d9_0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2b305bf23d9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02471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2b305bf23d9_0_1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2b305bf23d9_0_1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3"/>
        <p:cNvGrpSpPr/>
        <p:nvPr/>
      </p:nvGrpSpPr>
      <p:grpSpPr>
        <a:xfrm>
          <a:off x="0" y="0"/>
          <a:ext cx="0" cy="0"/>
          <a:chOff x="0" y="0"/>
          <a:chExt cx="0" cy="0"/>
        </a:xfrm>
      </p:grpSpPr>
      <p:sp>
        <p:nvSpPr>
          <p:cNvPr id="544" name="Google Shape;544;p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45" name="Google Shape;545;p7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49721850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3"/>
        <p:cNvGrpSpPr/>
        <p:nvPr/>
      </p:nvGrpSpPr>
      <p:grpSpPr>
        <a:xfrm>
          <a:off x="0" y="0"/>
          <a:ext cx="0" cy="0"/>
          <a:chOff x="0" y="0"/>
          <a:chExt cx="0" cy="0"/>
        </a:xfrm>
      </p:grpSpPr>
      <p:sp>
        <p:nvSpPr>
          <p:cNvPr id="544" name="Google Shape;544;p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45" name="Google Shape;545;p7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47280217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2b305bf23d9_0_1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2b305bf23d9_0_1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0686151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2b0c78bab39_0_3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2b0c78bab39_0_3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9.xml"/><Relationship Id="rId1" Type="http://schemas.openxmlformats.org/officeDocument/2006/relationships/slideLayout" Target="../slideLayouts/slideLayout3.xml"/><Relationship Id="rId4" Type="http://schemas.openxmlformats.org/officeDocument/2006/relationships/image" Target="../media/image13.jpe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1430375"/>
            <a:ext cx="8520600" cy="2052600"/>
          </a:xfrm>
          <a:prstGeom prst="rect">
            <a:avLst/>
          </a:prstGeom>
        </p:spPr>
        <p:txBody>
          <a:bodyPr spcFirstLastPara="1" wrap="square" lIns="91425" tIns="91425" rIns="91425" bIns="91425" anchor="b" anchorCtr="0">
            <a:noAutofit/>
          </a:bodyPr>
          <a:lstStyle/>
          <a:p>
            <a:pPr marL="0" marR="0" lvl="0" indent="0" algn="ctr" rtl="0">
              <a:lnSpc>
                <a:spcPct val="100000"/>
              </a:lnSpc>
              <a:spcBef>
                <a:spcPts val="0"/>
              </a:spcBef>
              <a:spcAft>
                <a:spcPts val="0"/>
              </a:spcAft>
              <a:buNone/>
            </a:pPr>
            <a:r>
              <a:rPr lang="en" sz="3400" b="1" dirty="0">
                <a:latin typeface="Times New Roman"/>
                <a:ea typeface="Times New Roman"/>
                <a:cs typeface="Times New Roman"/>
                <a:sym typeface="Times New Roman"/>
              </a:rPr>
              <a:t>Unit-4</a:t>
            </a:r>
            <a:endParaRPr sz="3400" b="1" dirty="0">
              <a:latin typeface="Times New Roman"/>
              <a:ea typeface="Times New Roman"/>
              <a:cs typeface="Times New Roman"/>
              <a:sym typeface="Times New Roman"/>
            </a:endParaRPr>
          </a:p>
          <a:p>
            <a:pPr marL="0" marR="0" lvl="0" indent="0" algn="ctr" rtl="0">
              <a:lnSpc>
                <a:spcPct val="100000"/>
              </a:lnSpc>
              <a:spcBef>
                <a:spcPts val="0"/>
              </a:spcBef>
              <a:spcAft>
                <a:spcPts val="0"/>
              </a:spcAft>
              <a:buNone/>
            </a:pPr>
            <a:r>
              <a:rPr lang="en" sz="3400" b="1" dirty="0">
                <a:latin typeface="Times New Roman"/>
                <a:ea typeface="Times New Roman"/>
                <a:cs typeface="Times New Roman"/>
                <a:sym typeface="Times New Roman"/>
              </a:rPr>
              <a:t>Assembly Language Programming</a:t>
            </a:r>
            <a:endParaRPr sz="3400" b="1" dirty="0">
              <a:latin typeface="Times New Roman"/>
              <a:ea typeface="Times New Roman"/>
              <a:cs typeface="Times New Roman"/>
              <a:sym typeface="Times New Roman"/>
            </a:endParaRPr>
          </a:p>
          <a:p>
            <a:pPr marL="0" lvl="0" indent="0" algn="ctr" rtl="0">
              <a:spcBef>
                <a:spcPts val="0"/>
              </a:spcBef>
              <a:spcAft>
                <a:spcPts val="0"/>
              </a:spcAft>
              <a:buSzPts val="990"/>
              <a:buNone/>
            </a:pPr>
            <a:endParaRPr sz="2400" dirty="0"/>
          </a:p>
        </p:txBody>
      </p:sp>
      <p:sp>
        <p:nvSpPr>
          <p:cNvPr id="55" name="Google Shape;55;p13"/>
          <p:cNvSpPr txBox="1">
            <a:spLocks noGrp="1"/>
          </p:cNvSpPr>
          <p:nvPr>
            <p:ph type="subTitle" idx="1"/>
          </p:nvPr>
        </p:nvSpPr>
        <p:spPr>
          <a:xfrm>
            <a:off x="5732850" y="3882425"/>
            <a:ext cx="3281700" cy="1065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500" b="1" dirty="0">
                <a:solidFill>
                  <a:schemeClr val="dk1"/>
                </a:solidFill>
                <a:latin typeface="Times New Roman"/>
                <a:ea typeface="Times New Roman"/>
                <a:cs typeface="Times New Roman"/>
                <a:sym typeface="Times New Roman"/>
              </a:rPr>
              <a:t>Vrunda Dave</a:t>
            </a:r>
            <a:endParaRPr sz="1500" b="1" dirty="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1500" b="1" dirty="0">
                <a:solidFill>
                  <a:schemeClr val="dk1"/>
                </a:solidFill>
                <a:latin typeface="Times New Roman"/>
                <a:ea typeface="Times New Roman"/>
                <a:cs typeface="Times New Roman"/>
                <a:sym typeface="Times New Roman"/>
              </a:rPr>
              <a:t>Assistant Professor</a:t>
            </a:r>
            <a:endParaRPr sz="1500" b="1" dirty="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1500" b="1" dirty="0">
                <a:solidFill>
                  <a:schemeClr val="dk1"/>
                </a:solidFill>
                <a:latin typeface="Times New Roman"/>
                <a:ea typeface="Times New Roman"/>
                <a:cs typeface="Times New Roman"/>
                <a:sym typeface="Times New Roman"/>
              </a:rPr>
              <a:t>IT Department</a:t>
            </a:r>
            <a:endParaRPr sz="1500" b="1" dirty="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1500" b="1" dirty="0">
                <a:solidFill>
                  <a:schemeClr val="dk1"/>
                </a:solidFill>
                <a:latin typeface="Times New Roman"/>
                <a:ea typeface="Times New Roman"/>
                <a:cs typeface="Times New Roman"/>
                <a:sym typeface="Times New Roman"/>
              </a:rPr>
              <a:t>V.V.P. Engineering College, Rajkot</a:t>
            </a:r>
            <a:endParaRPr sz="1500" b="1" dirty="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sz="1500" b="1" dirty="0">
              <a:solidFill>
                <a:schemeClr val="dk1"/>
              </a:solidFill>
              <a:latin typeface="Times New Roman"/>
              <a:ea typeface="Times New Roman"/>
              <a:cs typeface="Times New Roman"/>
              <a:sym typeface="Times New Roman"/>
            </a:endParaRPr>
          </a:p>
        </p:txBody>
      </p:sp>
      <p:pic>
        <p:nvPicPr>
          <p:cNvPr id="56" name="Google Shape;56;p13"/>
          <p:cNvPicPr preferRelativeResize="0"/>
          <p:nvPr/>
        </p:nvPicPr>
        <p:blipFill>
          <a:blip r:embed="rId3">
            <a:alphaModFix/>
          </a:blip>
          <a:stretch>
            <a:fillRect/>
          </a:stretch>
        </p:blipFill>
        <p:spPr>
          <a:xfrm>
            <a:off x="7622625" y="299288"/>
            <a:ext cx="1209675" cy="1209675"/>
          </a:xfrm>
          <a:prstGeom prst="rect">
            <a:avLst/>
          </a:prstGeom>
          <a:noFill/>
          <a:ln>
            <a:noFill/>
          </a:ln>
        </p:spPr>
      </p:pic>
      <p:sp>
        <p:nvSpPr>
          <p:cNvPr id="57" name="Google Shape;57;p13"/>
          <p:cNvSpPr txBox="1"/>
          <p:nvPr/>
        </p:nvSpPr>
        <p:spPr>
          <a:xfrm>
            <a:off x="669725" y="334875"/>
            <a:ext cx="6710700" cy="1138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600" b="1" dirty="0">
                <a:solidFill>
                  <a:schemeClr val="dk1"/>
                </a:solidFill>
                <a:latin typeface="Times New Roman"/>
                <a:ea typeface="Times New Roman"/>
                <a:cs typeface="Times New Roman"/>
                <a:sym typeface="Times New Roman"/>
              </a:rPr>
              <a:t>Computer Organization &amp; Architecture</a:t>
            </a:r>
            <a:endParaRPr sz="2600" b="1" dirty="0">
              <a:solidFill>
                <a:schemeClr val="dk1"/>
              </a:solidFill>
              <a:latin typeface="Times New Roman"/>
              <a:ea typeface="Times New Roman"/>
              <a:cs typeface="Times New Roman"/>
              <a:sym typeface="Times New Roman"/>
            </a:endParaRPr>
          </a:p>
          <a:p>
            <a:pPr marL="0" lvl="0" indent="0" algn="ctr" rtl="0">
              <a:spcBef>
                <a:spcPts val="0"/>
              </a:spcBef>
              <a:spcAft>
                <a:spcPts val="0"/>
              </a:spcAft>
              <a:buNone/>
            </a:pPr>
            <a:r>
              <a:rPr lang="en-IN" sz="2600" b="1" dirty="0">
                <a:solidFill>
                  <a:schemeClr val="dk1"/>
                </a:solidFill>
                <a:latin typeface="Times New Roman"/>
                <a:cs typeface="Times New Roman"/>
              </a:rPr>
              <a:t>(BE04000251)</a:t>
            </a:r>
            <a:endParaRPr sz="2600" b="1" dirty="0">
              <a:solidFill>
                <a:schemeClr val="dk1"/>
              </a:solidFill>
              <a:latin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820">
                <a:latin typeface="Times New Roman"/>
                <a:ea typeface="Times New Roman"/>
                <a:cs typeface="Times New Roman"/>
                <a:sym typeface="Times New Roman"/>
              </a:rPr>
              <a:t>Outline</a:t>
            </a:r>
            <a:endParaRPr sz="2820">
              <a:latin typeface="Times New Roman"/>
              <a:ea typeface="Times New Roman"/>
              <a:cs typeface="Times New Roman"/>
              <a:sym typeface="Times New Roman"/>
            </a:endParaRPr>
          </a:p>
        </p:txBody>
      </p:sp>
      <p:sp>
        <p:nvSpPr>
          <p:cNvPr id="63" name="Google Shape;63;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Font typeface="Times New Roman"/>
              <a:buChar char="●"/>
            </a:pPr>
            <a:r>
              <a:rPr lang="en" dirty="0">
                <a:solidFill>
                  <a:schemeClr val="dk1"/>
                </a:solidFill>
                <a:latin typeface="Times New Roman"/>
                <a:ea typeface="Times New Roman"/>
                <a:cs typeface="Times New Roman"/>
                <a:sym typeface="Times New Roman"/>
              </a:rPr>
              <a:t>Machine Language</a:t>
            </a:r>
            <a:endParaRPr dirty="0">
              <a:solidFill>
                <a:schemeClr val="dk1"/>
              </a:solidFill>
              <a:latin typeface="Times New Roman"/>
              <a:ea typeface="Times New Roman"/>
              <a:cs typeface="Times New Roman"/>
              <a:sym typeface="Times New Roman"/>
            </a:endParaRPr>
          </a:p>
          <a:p>
            <a:pPr marL="457200" lvl="0" indent="-342900" algn="l" rtl="0">
              <a:spcBef>
                <a:spcPts val="0"/>
              </a:spcBef>
              <a:spcAft>
                <a:spcPts val="0"/>
              </a:spcAft>
              <a:buClr>
                <a:schemeClr val="dk1"/>
              </a:buClr>
              <a:buSzPts val="1800"/>
              <a:buFont typeface="Times New Roman"/>
              <a:buChar char="●"/>
            </a:pPr>
            <a:r>
              <a:rPr lang="en" dirty="0">
                <a:solidFill>
                  <a:schemeClr val="dk1"/>
                </a:solidFill>
                <a:latin typeface="Times New Roman"/>
                <a:ea typeface="Times New Roman"/>
                <a:cs typeface="Times New Roman"/>
                <a:sym typeface="Times New Roman"/>
              </a:rPr>
              <a:t>Assembly Language</a:t>
            </a:r>
            <a:endParaRPr dirty="0">
              <a:solidFill>
                <a:schemeClr val="dk1"/>
              </a:solidFill>
              <a:latin typeface="Times New Roman"/>
              <a:ea typeface="Times New Roman"/>
              <a:cs typeface="Times New Roman"/>
              <a:sym typeface="Times New Roman"/>
            </a:endParaRPr>
          </a:p>
          <a:p>
            <a:pPr marL="457200" lvl="0" indent="-342900" algn="l" rtl="0">
              <a:spcBef>
                <a:spcPts val="0"/>
              </a:spcBef>
              <a:spcAft>
                <a:spcPts val="0"/>
              </a:spcAft>
              <a:buClr>
                <a:schemeClr val="dk1"/>
              </a:buClr>
              <a:buSzPts val="1800"/>
              <a:buFont typeface="Times New Roman"/>
              <a:buChar char="●"/>
            </a:pPr>
            <a:r>
              <a:rPr lang="en" dirty="0">
                <a:solidFill>
                  <a:schemeClr val="dk1"/>
                </a:solidFill>
                <a:latin typeface="Times New Roman"/>
                <a:ea typeface="Times New Roman"/>
                <a:cs typeface="Times New Roman"/>
                <a:sym typeface="Times New Roman"/>
              </a:rPr>
              <a:t>First Pass of Assembler</a:t>
            </a:r>
            <a:endParaRPr sz="3400" dirty="0"/>
          </a:p>
          <a:p>
            <a:pPr marL="457200" lvl="0" indent="-342900" algn="l" rtl="0">
              <a:spcBef>
                <a:spcPts val="0"/>
              </a:spcBef>
              <a:spcAft>
                <a:spcPts val="0"/>
              </a:spcAft>
              <a:buClr>
                <a:schemeClr val="dk1"/>
              </a:buClr>
              <a:buSzPts val="1800"/>
              <a:buFont typeface="Times New Roman"/>
              <a:buChar char="●"/>
            </a:pPr>
            <a:r>
              <a:rPr lang="en" dirty="0">
                <a:solidFill>
                  <a:schemeClr val="dk1"/>
                </a:solidFill>
                <a:latin typeface="Times New Roman"/>
                <a:ea typeface="Times New Roman"/>
                <a:cs typeface="Times New Roman"/>
                <a:sym typeface="Times New Roman"/>
              </a:rPr>
              <a:t>Second Pass of Assembler</a:t>
            </a:r>
            <a:endParaRPr dirty="0">
              <a:solidFill>
                <a:schemeClr val="dk1"/>
              </a:solidFill>
              <a:latin typeface="Times New Roman"/>
              <a:ea typeface="Times New Roman"/>
              <a:cs typeface="Times New Roman"/>
              <a:sym typeface="Times New Roman"/>
            </a:endParaRPr>
          </a:p>
          <a:p>
            <a:pPr marL="457200" lvl="0" indent="-342900" algn="l" rtl="0">
              <a:spcBef>
                <a:spcPts val="0"/>
              </a:spcBef>
              <a:spcAft>
                <a:spcPts val="0"/>
              </a:spcAft>
              <a:buClr>
                <a:schemeClr val="dk1"/>
              </a:buClr>
              <a:buSzPts val="1800"/>
              <a:buFont typeface="Times New Roman"/>
              <a:buChar char="●"/>
            </a:pPr>
            <a:r>
              <a:rPr lang="en" dirty="0">
                <a:solidFill>
                  <a:schemeClr val="dk1"/>
                </a:solidFill>
                <a:latin typeface="Times New Roman"/>
                <a:ea typeface="Times New Roman"/>
                <a:cs typeface="Times New Roman"/>
                <a:sym typeface="Times New Roman"/>
              </a:rPr>
              <a:t>Subroutines</a:t>
            </a:r>
            <a:endParaRPr dirty="0">
              <a:solidFill>
                <a:schemeClr val="dk1"/>
              </a:solidFill>
              <a:latin typeface="Times New Roman"/>
              <a:ea typeface="Times New Roman"/>
              <a:cs typeface="Times New Roman"/>
              <a:sym typeface="Times New Roman"/>
            </a:endParaRPr>
          </a:p>
          <a:p>
            <a:pPr marL="457200" lvl="0" indent="-342900" algn="l" rtl="0">
              <a:spcBef>
                <a:spcPts val="0"/>
              </a:spcBef>
              <a:spcAft>
                <a:spcPts val="0"/>
              </a:spcAft>
              <a:buClr>
                <a:schemeClr val="dk1"/>
              </a:buClr>
              <a:buSzPts val="1800"/>
              <a:buFont typeface="Times New Roman"/>
              <a:buChar char="●"/>
            </a:pPr>
            <a:r>
              <a:rPr lang="en" dirty="0">
                <a:solidFill>
                  <a:schemeClr val="dk1"/>
                </a:solidFill>
                <a:latin typeface="Times New Roman"/>
                <a:ea typeface="Times New Roman"/>
                <a:cs typeface="Times New Roman"/>
                <a:sym typeface="Times New Roman"/>
              </a:rPr>
              <a:t>I-O Programming</a:t>
            </a:r>
            <a:endParaRPr dirty="0">
              <a:solidFill>
                <a:schemeClr val="dk1"/>
              </a:solidFill>
              <a:latin typeface="Times New Roman"/>
              <a:ea typeface="Times New Roman"/>
              <a:cs typeface="Times New Roman"/>
              <a:sym typeface="Times New Roman"/>
            </a:endParaRPr>
          </a:p>
          <a:p>
            <a:pPr marL="0" lvl="0" indent="0" algn="l" rtl="0">
              <a:spcBef>
                <a:spcPts val="0"/>
              </a:spcBef>
              <a:spcAft>
                <a:spcPts val="1200"/>
              </a:spcAft>
              <a:buNone/>
            </a:pPr>
            <a:endParaRPr dirty="0">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5"/>
          <p:cNvSpPr txBox="1">
            <a:spLocks noGrp="1"/>
          </p:cNvSpPr>
          <p:nvPr>
            <p:ph type="subTitle" idx="1"/>
          </p:nvPr>
        </p:nvSpPr>
        <p:spPr>
          <a:xfrm>
            <a:off x="311700" y="2834125"/>
            <a:ext cx="8520600" cy="15594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4600" b="1">
                <a:solidFill>
                  <a:schemeClr val="dk1"/>
                </a:solidFill>
                <a:latin typeface="Times New Roman"/>
                <a:ea typeface="Times New Roman"/>
                <a:cs typeface="Times New Roman"/>
                <a:sym typeface="Times New Roman"/>
              </a:rPr>
              <a:t>Machine Language</a:t>
            </a:r>
            <a:endParaRPr sz="24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4600" b="1">
              <a:solidFill>
                <a:schemeClr val="dk1"/>
              </a:solidFill>
              <a:latin typeface="Times New Roman"/>
              <a:ea typeface="Times New Roman"/>
              <a:cs typeface="Times New Roman"/>
              <a:sym typeface="Times New Roman"/>
            </a:endParaRPr>
          </a:p>
          <a:p>
            <a:pPr marL="0" lvl="0" indent="0" algn="ctr" rtl="0">
              <a:spcBef>
                <a:spcPts val="1200"/>
              </a:spcBef>
              <a:spcAft>
                <a:spcPts val="0"/>
              </a:spcAft>
              <a:buNone/>
            </a:pPr>
            <a:endParaRPr sz="34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159300" y="-164575"/>
            <a:ext cx="8520600" cy="748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990"/>
              <a:buFont typeface="Arial"/>
              <a:buNone/>
            </a:pPr>
            <a:r>
              <a:rPr lang="en" sz="3940" b="1" dirty="0">
                <a:latin typeface="Times New Roman"/>
                <a:ea typeface="Times New Roman"/>
                <a:cs typeface="Times New Roman"/>
                <a:sym typeface="Times New Roman"/>
              </a:rPr>
              <a:t>Machine Language</a:t>
            </a:r>
            <a:endParaRPr sz="1960" dirty="0">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990"/>
              <a:buFont typeface="Arial"/>
              <a:buNone/>
            </a:pPr>
            <a:endParaRPr sz="3940" b="1" dirty="0">
              <a:latin typeface="Times New Roman"/>
              <a:ea typeface="Times New Roman"/>
              <a:cs typeface="Times New Roman"/>
              <a:sym typeface="Times New Roman"/>
            </a:endParaRPr>
          </a:p>
          <a:p>
            <a:pPr marL="0" lvl="0" indent="0" algn="l" rtl="0">
              <a:lnSpc>
                <a:spcPct val="115000"/>
              </a:lnSpc>
              <a:spcBef>
                <a:spcPts val="1200"/>
              </a:spcBef>
              <a:spcAft>
                <a:spcPts val="1200"/>
              </a:spcAft>
              <a:buClr>
                <a:schemeClr val="dk1"/>
              </a:buClr>
              <a:buSzPts val="990"/>
              <a:buFont typeface="Arial"/>
              <a:buNone/>
            </a:pPr>
            <a:endParaRPr sz="3400" b="1" dirty="0">
              <a:latin typeface="Times New Roman"/>
              <a:ea typeface="Times New Roman"/>
              <a:cs typeface="Times New Roman"/>
              <a:sym typeface="Times New Roman"/>
            </a:endParaRPr>
          </a:p>
        </p:txBody>
      </p:sp>
      <p:sp>
        <p:nvSpPr>
          <p:cNvPr id="74" name="Google Shape;74;p16"/>
          <p:cNvSpPr txBox="1">
            <a:spLocks noGrp="1"/>
          </p:cNvSpPr>
          <p:nvPr>
            <p:ph type="body" idx="1"/>
          </p:nvPr>
        </p:nvSpPr>
        <p:spPr>
          <a:xfrm>
            <a:off x="83100" y="431825"/>
            <a:ext cx="8520600" cy="4711800"/>
          </a:xfrm>
          <a:prstGeom prst="rect">
            <a:avLst/>
          </a:prstGeom>
        </p:spPr>
        <p:txBody>
          <a:bodyPr spcFirstLastPara="1" wrap="square" lIns="91425" tIns="91425" rIns="91425" bIns="91425" anchor="t" anchorCtr="0">
            <a:noAutofit/>
          </a:bodyPr>
          <a:lstStyle/>
          <a:p>
            <a:pPr marL="0" lvl="0" indent="0" algn="just" rtl="0">
              <a:lnSpc>
                <a:spcPct val="90000"/>
              </a:lnSpc>
              <a:spcBef>
                <a:spcPts val="500"/>
              </a:spcBef>
              <a:spcAft>
                <a:spcPts val="0"/>
              </a:spcAft>
              <a:buNone/>
            </a:pPr>
            <a:r>
              <a:rPr lang="en" b="1" dirty="0">
                <a:solidFill>
                  <a:schemeClr val="accent2"/>
                </a:solidFill>
                <a:latin typeface="Times New Roman"/>
                <a:ea typeface="Times New Roman"/>
                <a:cs typeface="Times New Roman"/>
                <a:sym typeface="Times New Roman"/>
              </a:rPr>
              <a:t>Program: </a:t>
            </a:r>
            <a:endParaRPr b="1" dirty="0">
              <a:solidFill>
                <a:schemeClr val="accent2"/>
              </a:solidFill>
              <a:latin typeface="Times New Roman"/>
              <a:ea typeface="Times New Roman"/>
              <a:cs typeface="Times New Roman"/>
              <a:sym typeface="Times New Roman"/>
            </a:endParaRPr>
          </a:p>
          <a:p>
            <a:pPr marL="457200" lvl="0" indent="-342900" algn="just" rtl="0">
              <a:lnSpc>
                <a:spcPct val="90000"/>
              </a:lnSpc>
              <a:spcBef>
                <a:spcPts val="500"/>
              </a:spcBef>
              <a:spcAft>
                <a:spcPts val="0"/>
              </a:spcAft>
              <a:buClr>
                <a:schemeClr val="accent2"/>
              </a:buClr>
              <a:buSzPts val="1800"/>
              <a:buFont typeface="Times New Roman"/>
              <a:buChar char="●"/>
            </a:pPr>
            <a:r>
              <a:rPr lang="en" dirty="0">
                <a:solidFill>
                  <a:schemeClr val="accent2"/>
                </a:solidFill>
                <a:latin typeface="Times New Roman"/>
                <a:ea typeface="Times New Roman"/>
                <a:cs typeface="Times New Roman"/>
                <a:sym typeface="Times New Roman"/>
              </a:rPr>
              <a:t>A program is a list of instructions or statements for directing the computer to perform a required data-processing task.  </a:t>
            </a:r>
            <a:endParaRPr dirty="0">
              <a:solidFill>
                <a:schemeClr val="accent2"/>
              </a:solidFill>
              <a:latin typeface="Times New Roman"/>
              <a:ea typeface="Times New Roman"/>
              <a:cs typeface="Times New Roman"/>
              <a:sym typeface="Times New Roman"/>
            </a:endParaRPr>
          </a:p>
          <a:p>
            <a:pPr marL="457200" lvl="0" indent="-342900" algn="just" rtl="0">
              <a:lnSpc>
                <a:spcPct val="90000"/>
              </a:lnSpc>
              <a:spcBef>
                <a:spcPts val="0"/>
              </a:spcBef>
              <a:spcAft>
                <a:spcPts val="0"/>
              </a:spcAft>
              <a:buClr>
                <a:schemeClr val="accent2"/>
              </a:buClr>
              <a:buSzPts val="1800"/>
              <a:buFont typeface="Times New Roman"/>
              <a:buChar char="●"/>
            </a:pPr>
            <a:r>
              <a:rPr lang="en" dirty="0">
                <a:solidFill>
                  <a:schemeClr val="accent2"/>
                </a:solidFill>
                <a:latin typeface="Times New Roman"/>
                <a:ea typeface="Times New Roman"/>
                <a:cs typeface="Times New Roman"/>
                <a:sym typeface="Times New Roman"/>
              </a:rPr>
              <a:t>Programs written in any other language must be translated to the binary representation of instructions before they can be executed by the computer.</a:t>
            </a:r>
          </a:p>
          <a:p>
            <a:pPr marL="457200" lvl="0" indent="-342900" algn="just" rtl="0">
              <a:lnSpc>
                <a:spcPct val="90000"/>
              </a:lnSpc>
              <a:spcBef>
                <a:spcPts val="0"/>
              </a:spcBef>
              <a:spcAft>
                <a:spcPts val="0"/>
              </a:spcAft>
              <a:buClr>
                <a:schemeClr val="accent2"/>
              </a:buClr>
              <a:buSzPts val="1800"/>
              <a:buFont typeface="Times New Roman"/>
              <a:buChar char="●"/>
            </a:pPr>
            <a:r>
              <a:rPr lang="en-IN" dirty="0">
                <a:solidFill>
                  <a:schemeClr val="accent2"/>
                </a:solidFill>
                <a:latin typeface="Times New Roman"/>
                <a:ea typeface="Times New Roman"/>
                <a:cs typeface="Times New Roman"/>
                <a:sym typeface="Times New Roman"/>
              </a:rPr>
              <a:t>C Code → Compiler → Assembly → Assembler → Machine Code → Execution</a:t>
            </a:r>
            <a:endParaRPr dirty="0">
              <a:solidFill>
                <a:schemeClr val="accent2"/>
              </a:solidFill>
              <a:latin typeface="Times New Roman"/>
              <a:ea typeface="Times New Roman"/>
              <a:cs typeface="Times New Roman"/>
              <a:sym typeface="Times New Roman"/>
            </a:endParaRPr>
          </a:p>
          <a:p>
            <a:pPr marL="0" lvl="0" indent="0" algn="just" rtl="0">
              <a:lnSpc>
                <a:spcPct val="90000"/>
              </a:lnSpc>
              <a:spcBef>
                <a:spcPts val="500"/>
              </a:spcBef>
              <a:spcAft>
                <a:spcPts val="0"/>
              </a:spcAft>
              <a:buNone/>
            </a:pPr>
            <a:r>
              <a:rPr lang="en" b="1" dirty="0">
                <a:solidFill>
                  <a:schemeClr val="accent2"/>
                </a:solidFill>
                <a:latin typeface="Times New Roman"/>
                <a:ea typeface="Times New Roman"/>
                <a:cs typeface="Times New Roman"/>
                <a:sym typeface="Times New Roman"/>
              </a:rPr>
              <a:t>Categories of programs written for a computer:</a:t>
            </a:r>
            <a:endParaRPr b="1" dirty="0">
              <a:solidFill>
                <a:schemeClr val="accent2"/>
              </a:solidFill>
              <a:latin typeface="Times New Roman"/>
              <a:ea typeface="Times New Roman"/>
              <a:cs typeface="Times New Roman"/>
              <a:sym typeface="Times New Roman"/>
            </a:endParaRPr>
          </a:p>
          <a:p>
            <a:pPr marL="0" lvl="0" indent="0" algn="just" rtl="0">
              <a:lnSpc>
                <a:spcPct val="90000"/>
              </a:lnSpc>
              <a:spcBef>
                <a:spcPts val="500"/>
              </a:spcBef>
              <a:spcAft>
                <a:spcPts val="0"/>
              </a:spcAft>
              <a:buNone/>
            </a:pPr>
            <a:endParaRPr b="1" dirty="0">
              <a:solidFill>
                <a:schemeClr val="accent2"/>
              </a:solidFill>
              <a:latin typeface="Times New Roman"/>
              <a:ea typeface="Times New Roman"/>
              <a:cs typeface="Times New Roman"/>
              <a:sym typeface="Times New Roman"/>
            </a:endParaRPr>
          </a:p>
        </p:txBody>
      </p:sp>
      <p:sp>
        <p:nvSpPr>
          <p:cNvPr id="75" name="Google Shape;75;p16"/>
          <p:cNvSpPr txBox="1"/>
          <p:nvPr/>
        </p:nvSpPr>
        <p:spPr>
          <a:xfrm>
            <a:off x="-3640" y="2748747"/>
            <a:ext cx="4179000" cy="2591100"/>
          </a:xfrm>
          <a:prstGeom prst="rect">
            <a:avLst/>
          </a:prstGeom>
          <a:noFill/>
          <a:ln>
            <a:noFill/>
          </a:ln>
        </p:spPr>
        <p:txBody>
          <a:bodyPr spcFirstLastPara="1" wrap="square" lIns="91425" tIns="91425" rIns="91425" bIns="91425" anchor="t" anchorCtr="0">
            <a:noAutofit/>
          </a:bodyPr>
          <a:lstStyle/>
          <a:p>
            <a:pPr marL="342900" lvl="0" indent="-342900" algn="just" rtl="0">
              <a:lnSpc>
                <a:spcPct val="90000"/>
              </a:lnSpc>
              <a:spcBef>
                <a:spcPts val="500"/>
              </a:spcBef>
              <a:spcAft>
                <a:spcPts val="0"/>
              </a:spcAft>
              <a:buClr>
                <a:schemeClr val="dk1"/>
              </a:buClr>
              <a:buSzPct val="100000"/>
              <a:buFont typeface="Arial"/>
              <a:buAutoNum type="arabicPeriod"/>
            </a:pPr>
            <a:r>
              <a:rPr lang="en" sz="1800" b="1" dirty="0">
                <a:solidFill>
                  <a:schemeClr val="dk1"/>
                </a:solidFill>
                <a:latin typeface="Times New Roman"/>
                <a:cs typeface="Times New Roman"/>
                <a:sym typeface="Times New Roman"/>
              </a:rPr>
              <a:t>Binary code: </a:t>
            </a:r>
          </a:p>
          <a:p>
            <a:pPr lvl="0" algn="just" rtl="0">
              <a:lnSpc>
                <a:spcPct val="90000"/>
              </a:lnSpc>
              <a:spcBef>
                <a:spcPts val="500"/>
              </a:spcBef>
              <a:spcAft>
                <a:spcPts val="0"/>
              </a:spcAft>
              <a:buClr>
                <a:schemeClr val="dk1"/>
              </a:buClr>
              <a:buSzPts val="1100"/>
            </a:pPr>
            <a:r>
              <a:rPr lang="en" sz="1800" dirty="0">
                <a:solidFill>
                  <a:schemeClr val="accent2"/>
                </a:solidFill>
                <a:latin typeface="Times New Roman"/>
                <a:ea typeface="Times New Roman"/>
                <a:cs typeface="Times New Roman"/>
                <a:sym typeface="Times New Roman"/>
              </a:rPr>
              <a:t>This is a sequence of instructions and operands in binary that list the exact representation of instructions as they appear in computer memory. i.e. the command given to the computer is in form of 1’s and 0’s which is nothing but an electronic voltage.</a:t>
            </a:r>
            <a:endParaRPr sz="1800" dirty="0">
              <a:solidFill>
                <a:schemeClr val="accent2"/>
              </a:solidFill>
              <a:latin typeface="Times New Roman"/>
              <a:ea typeface="Times New Roman"/>
              <a:cs typeface="Times New Roman"/>
              <a:sym typeface="Times New Roman"/>
            </a:endParaRPr>
          </a:p>
          <a:p>
            <a:pPr marL="0" lvl="0" indent="0" algn="just" rtl="0">
              <a:spcBef>
                <a:spcPts val="0"/>
              </a:spcBef>
              <a:spcAft>
                <a:spcPts val="0"/>
              </a:spcAft>
              <a:buNone/>
            </a:pPr>
            <a:endParaRPr sz="1800" dirty="0">
              <a:solidFill>
                <a:schemeClr val="dk2"/>
              </a:solidFill>
            </a:endParaRPr>
          </a:p>
        </p:txBody>
      </p:sp>
      <p:pic>
        <p:nvPicPr>
          <p:cNvPr id="76" name="Google Shape;76;p16"/>
          <p:cNvPicPr preferRelativeResize="0"/>
          <p:nvPr/>
        </p:nvPicPr>
        <p:blipFill rotWithShape="1">
          <a:blip r:embed="rId3">
            <a:alphaModFix/>
          </a:blip>
          <a:srcRect l="15525" t="35148" r="46973" b="22903"/>
          <a:stretch/>
        </p:blipFill>
        <p:spPr>
          <a:xfrm>
            <a:off x="5079132" y="2317250"/>
            <a:ext cx="4004975" cy="2705700"/>
          </a:xfrm>
          <a:prstGeom prst="rect">
            <a:avLst/>
          </a:prstGeom>
          <a:noFill/>
          <a:ln>
            <a:noFill/>
          </a:ln>
        </p:spPr>
      </p:pic>
      <p:cxnSp>
        <p:nvCxnSpPr>
          <p:cNvPr id="3" name="Straight Arrow Connector 2">
            <a:extLst>
              <a:ext uri="{FF2B5EF4-FFF2-40B4-BE49-F238E27FC236}">
                <a16:creationId xmlns:a16="http://schemas.microsoft.com/office/drawing/2014/main" id="{5776723A-475E-4A4D-AFE5-91A10BC37F19}"/>
              </a:ext>
            </a:extLst>
          </p:cNvPr>
          <p:cNvCxnSpPr/>
          <p:nvPr/>
        </p:nvCxnSpPr>
        <p:spPr>
          <a:xfrm flipV="1">
            <a:off x="4630089" y="3181493"/>
            <a:ext cx="1213197" cy="110650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 name="TextBox 3">
            <a:extLst>
              <a:ext uri="{FF2B5EF4-FFF2-40B4-BE49-F238E27FC236}">
                <a16:creationId xmlns:a16="http://schemas.microsoft.com/office/drawing/2014/main" id="{2703FE1D-1727-4402-BCD5-BED73855D603}"/>
              </a:ext>
            </a:extLst>
          </p:cNvPr>
          <p:cNvSpPr txBox="1"/>
          <p:nvPr/>
        </p:nvSpPr>
        <p:spPr>
          <a:xfrm>
            <a:off x="4088621" y="4217818"/>
            <a:ext cx="960505" cy="338554"/>
          </a:xfrm>
          <a:prstGeom prst="rect">
            <a:avLst/>
          </a:prstGeom>
          <a:noFill/>
        </p:spPr>
        <p:txBody>
          <a:bodyPr wrap="square" rtlCol="0">
            <a:spAutoFit/>
          </a:bodyPr>
          <a:lstStyle/>
          <a:p>
            <a:r>
              <a:rPr lang="en-US" sz="1600" b="1" dirty="0"/>
              <a:t>LDA</a:t>
            </a:r>
            <a:endParaRPr lang="en-IN" sz="1600" b="1" dirty="0"/>
          </a:p>
        </p:txBody>
      </p:sp>
      <p:cxnSp>
        <p:nvCxnSpPr>
          <p:cNvPr id="9" name="Straight Arrow Connector 8">
            <a:extLst>
              <a:ext uri="{FF2B5EF4-FFF2-40B4-BE49-F238E27FC236}">
                <a16:creationId xmlns:a16="http://schemas.microsoft.com/office/drawing/2014/main" id="{DE3C5A05-955F-4C49-92B6-27DBC8FD74AB}"/>
              </a:ext>
            </a:extLst>
          </p:cNvPr>
          <p:cNvCxnSpPr>
            <a:cxnSpLocks/>
          </p:cNvCxnSpPr>
          <p:nvPr/>
        </p:nvCxnSpPr>
        <p:spPr>
          <a:xfrm flipV="1">
            <a:off x="4544633" y="3430709"/>
            <a:ext cx="1352789" cy="122717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1" name="TextBox 10">
            <a:extLst>
              <a:ext uri="{FF2B5EF4-FFF2-40B4-BE49-F238E27FC236}">
                <a16:creationId xmlns:a16="http://schemas.microsoft.com/office/drawing/2014/main" id="{E7AEC6A6-A356-43F6-BDE2-7CF97B3BBDC0}"/>
              </a:ext>
            </a:extLst>
          </p:cNvPr>
          <p:cNvSpPr txBox="1"/>
          <p:nvPr/>
        </p:nvSpPr>
        <p:spPr>
          <a:xfrm>
            <a:off x="4088620" y="4620384"/>
            <a:ext cx="960505" cy="338554"/>
          </a:xfrm>
          <a:prstGeom prst="rect">
            <a:avLst/>
          </a:prstGeom>
          <a:noFill/>
        </p:spPr>
        <p:txBody>
          <a:bodyPr wrap="square" rtlCol="0">
            <a:spAutoFit/>
          </a:bodyPr>
          <a:lstStyle/>
          <a:p>
            <a:r>
              <a:rPr lang="en-US" sz="1600" b="1" dirty="0"/>
              <a:t>ADD</a:t>
            </a:r>
            <a:endParaRPr lang="en-IN" sz="1600"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7"/>
          <p:cNvSpPr txBox="1">
            <a:spLocks noGrp="1"/>
          </p:cNvSpPr>
          <p:nvPr>
            <p:ph type="title"/>
          </p:nvPr>
        </p:nvSpPr>
        <p:spPr>
          <a:xfrm>
            <a:off x="83100" y="-12175"/>
            <a:ext cx="8520600" cy="7488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0"/>
              </a:spcAft>
              <a:buClr>
                <a:schemeClr val="dk1"/>
              </a:buClr>
              <a:buSzPts val="990"/>
              <a:buFont typeface="Arial"/>
              <a:buNone/>
            </a:pPr>
            <a:r>
              <a:rPr lang="en" sz="4600" b="1">
                <a:latin typeface="Times New Roman"/>
                <a:ea typeface="Times New Roman"/>
                <a:cs typeface="Times New Roman"/>
                <a:sym typeface="Times New Roman"/>
              </a:rPr>
              <a:t>Machine Language</a:t>
            </a:r>
            <a:endParaRPr sz="2400">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990"/>
              <a:buFont typeface="Arial"/>
              <a:buNone/>
            </a:pPr>
            <a:endParaRPr sz="4600" b="1">
              <a:latin typeface="Times New Roman"/>
              <a:ea typeface="Times New Roman"/>
              <a:cs typeface="Times New Roman"/>
              <a:sym typeface="Times New Roman"/>
            </a:endParaRPr>
          </a:p>
          <a:p>
            <a:pPr marL="0" lvl="0" indent="0" algn="l" rtl="0">
              <a:lnSpc>
                <a:spcPct val="115000"/>
              </a:lnSpc>
              <a:spcBef>
                <a:spcPts val="1200"/>
              </a:spcBef>
              <a:spcAft>
                <a:spcPts val="1200"/>
              </a:spcAft>
              <a:buClr>
                <a:schemeClr val="dk1"/>
              </a:buClr>
              <a:buSzPct val="27500"/>
              <a:buFont typeface="Arial"/>
              <a:buNone/>
            </a:pPr>
            <a:endParaRPr sz="4000" b="1">
              <a:latin typeface="Times New Roman"/>
              <a:ea typeface="Times New Roman"/>
              <a:cs typeface="Times New Roman"/>
              <a:sym typeface="Times New Roman"/>
            </a:endParaRPr>
          </a:p>
        </p:txBody>
      </p:sp>
      <p:sp>
        <p:nvSpPr>
          <p:cNvPr id="82" name="Google Shape;82;p17"/>
          <p:cNvSpPr txBox="1"/>
          <p:nvPr/>
        </p:nvSpPr>
        <p:spPr>
          <a:xfrm>
            <a:off x="79475" y="790275"/>
            <a:ext cx="6108000" cy="11253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n" sz="1800" dirty="0">
                <a:solidFill>
                  <a:schemeClr val="dk1"/>
                </a:solidFill>
                <a:latin typeface="Times New Roman"/>
                <a:ea typeface="Times New Roman"/>
                <a:cs typeface="Times New Roman"/>
                <a:sym typeface="Times New Roman"/>
              </a:rPr>
              <a:t>2</a:t>
            </a:r>
            <a:r>
              <a:rPr lang="en" sz="1800" dirty="0">
                <a:solidFill>
                  <a:schemeClr val="dk2"/>
                </a:solidFill>
                <a:latin typeface="Times New Roman"/>
                <a:ea typeface="Times New Roman"/>
                <a:cs typeface="Times New Roman"/>
                <a:sym typeface="Times New Roman"/>
              </a:rPr>
              <a:t>. </a:t>
            </a:r>
            <a:r>
              <a:rPr lang="en" sz="1800" b="1" dirty="0">
                <a:solidFill>
                  <a:schemeClr val="dk1"/>
                </a:solidFill>
                <a:latin typeface="Times New Roman"/>
                <a:ea typeface="Times New Roman"/>
                <a:cs typeface="Times New Roman"/>
                <a:sym typeface="Times New Roman"/>
              </a:rPr>
              <a:t>Octal or hexadecimal code: </a:t>
            </a:r>
          </a:p>
          <a:p>
            <a:pPr marL="0" lvl="0" indent="0" algn="just" rtl="0">
              <a:spcBef>
                <a:spcPts val="0"/>
              </a:spcBef>
              <a:spcAft>
                <a:spcPts val="0"/>
              </a:spcAft>
              <a:buNone/>
            </a:pPr>
            <a:r>
              <a:rPr lang="en" sz="1800" dirty="0">
                <a:solidFill>
                  <a:schemeClr val="dk1"/>
                </a:solidFill>
                <a:latin typeface="Times New Roman"/>
                <a:ea typeface="Times New Roman"/>
                <a:cs typeface="Times New Roman"/>
                <a:sym typeface="Times New Roman"/>
              </a:rPr>
              <a:t>This is an equivalent translation of the binary code to octal or hexadecimal representation.</a:t>
            </a:r>
            <a:endParaRPr sz="1800" dirty="0">
              <a:solidFill>
                <a:schemeClr val="dk1"/>
              </a:solidFill>
              <a:latin typeface="Times New Roman"/>
              <a:ea typeface="Times New Roman"/>
              <a:cs typeface="Times New Roman"/>
              <a:sym typeface="Times New Roman"/>
            </a:endParaRPr>
          </a:p>
        </p:txBody>
      </p:sp>
      <p:pic>
        <p:nvPicPr>
          <p:cNvPr id="83" name="Google Shape;83;p17"/>
          <p:cNvPicPr preferRelativeResize="0"/>
          <p:nvPr/>
        </p:nvPicPr>
        <p:blipFill rotWithShape="1">
          <a:blip r:embed="rId3">
            <a:alphaModFix/>
          </a:blip>
          <a:srcRect l="4168" t="25968" r="66539" b="20532"/>
          <a:stretch/>
        </p:blipFill>
        <p:spPr>
          <a:xfrm>
            <a:off x="6162375" y="183350"/>
            <a:ext cx="2317252" cy="2290476"/>
          </a:xfrm>
          <a:prstGeom prst="rect">
            <a:avLst/>
          </a:prstGeom>
          <a:noFill/>
          <a:ln>
            <a:noFill/>
          </a:ln>
        </p:spPr>
      </p:pic>
      <p:sp>
        <p:nvSpPr>
          <p:cNvPr id="84" name="Google Shape;84;p17"/>
          <p:cNvSpPr txBox="1"/>
          <p:nvPr/>
        </p:nvSpPr>
        <p:spPr>
          <a:xfrm>
            <a:off x="83650" y="1882588"/>
            <a:ext cx="4229400" cy="3188931"/>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n" sz="1800" dirty="0">
                <a:solidFill>
                  <a:schemeClr val="dk1"/>
                </a:solidFill>
                <a:latin typeface="Times New Roman"/>
                <a:ea typeface="Times New Roman"/>
                <a:cs typeface="Times New Roman"/>
                <a:sym typeface="Times New Roman"/>
              </a:rPr>
              <a:t>3. </a:t>
            </a:r>
            <a:r>
              <a:rPr lang="en" sz="1800" b="1" dirty="0">
                <a:solidFill>
                  <a:schemeClr val="dk1"/>
                </a:solidFill>
                <a:latin typeface="Times New Roman"/>
                <a:ea typeface="Times New Roman"/>
                <a:cs typeface="Times New Roman"/>
                <a:sym typeface="Times New Roman"/>
              </a:rPr>
              <a:t>Symbolic code:</a:t>
            </a:r>
            <a:r>
              <a:rPr lang="en" sz="1800" dirty="0">
                <a:solidFill>
                  <a:schemeClr val="dk1"/>
                </a:solidFill>
                <a:latin typeface="Times New Roman"/>
                <a:ea typeface="Times New Roman"/>
                <a:cs typeface="Times New Roman"/>
                <a:sym typeface="Times New Roman"/>
              </a:rPr>
              <a:t> </a:t>
            </a:r>
          </a:p>
          <a:p>
            <a:pPr marL="0" lvl="0" indent="0" algn="just" rtl="0">
              <a:spcBef>
                <a:spcPts val="0"/>
              </a:spcBef>
              <a:spcAft>
                <a:spcPts val="0"/>
              </a:spcAft>
              <a:buNone/>
            </a:pPr>
            <a:r>
              <a:rPr lang="en" sz="1800" dirty="0">
                <a:solidFill>
                  <a:schemeClr val="dk1"/>
                </a:solidFill>
                <a:latin typeface="Times New Roman"/>
                <a:ea typeface="Times New Roman"/>
                <a:cs typeface="Times New Roman"/>
                <a:sym typeface="Times New Roman"/>
              </a:rPr>
              <a:t>The user employs symbols (letters, numerals, or special characters) for the operation part, the address part, and other parts of the instruction code.  </a:t>
            </a:r>
          </a:p>
          <a:p>
            <a:pPr marL="0" lvl="0" indent="0" algn="just" rtl="0">
              <a:spcBef>
                <a:spcPts val="0"/>
              </a:spcBef>
              <a:spcAft>
                <a:spcPts val="0"/>
              </a:spcAft>
              <a:buNone/>
            </a:pPr>
            <a:r>
              <a:rPr lang="en" sz="1800" dirty="0">
                <a:solidFill>
                  <a:schemeClr val="dk1"/>
                </a:solidFill>
                <a:latin typeface="Times New Roman"/>
                <a:ea typeface="Times New Roman"/>
                <a:cs typeface="Times New Roman"/>
                <a:sym typeface="Times New Roman"/>
              </a:rPr>
              <a:t>Each symbolic instruction can be translated into one binary coded instruction. This translation is done by a special program called an </a:t>
            </a:r>
            <a:r>
              <a:rPr lang="en" sz="1800" b="1" dirty="0">
                <a:solidFill>
                  <a:schemeClr val="dk1"/>
                </a:solidFill>
                <a:latin typeface="Times New Roman"/>
                <a:ea typeface="Times New Roman"/>
                <a:cs typeface="Times New Roman"/>
                <a:sym typeface="Times New Roman"/>
              </a:rPr>
              <a:t>assembler</a:t>
            </a:r>
            <a:r>
              <a:rPr lang="en" sz="1800" dirty="0">
                <a:solidFill>
                  <a:schemeClr val="dk1"/>
                </a:solidFill>
                <a:latin typeface="Times New Roman"/>
                <a:ea typeface="Times New Roman"/>
                <a:cs typeface="Times New Roman"/>
                <a:sym typeface="Times New Roman"/>
              </a:rPr>
              <a:t> and the language is called as assembly language program. </a:t>
            </a:r>
            <a:endParaRPr sz="1800" dirty="0">
              <a:solidFill>
                <a:schemeClr val="dk1"/>
              </a:solidFill>
              <a:latin typeface="Times New Roman"/>
              <a:ea typeface="Times New Roman"/>
              <a:cs typeface="Times New Roman"/>
              <a:sym typeface="Times New Roman"/>
            </a:endParaRPr>
          </a:p>
        </p:txBody>
      </p:sp>
      <p:pic>
        <p:nvPicPr>
          <p:cNvPr id="85" name="Google Shape;85;p17"/>
          <p:cNvPicPr preferRelativeResize="0"/>
          <p:nvPr/>
        </p:nvPicPr>
        <p:blipFill rotWithShape="1">
          <a:blip r:embed="rId4">
            <a:alphaModFix/>
          </a:blip>
          <a:srcRect l="34721" t="25773" r="8608" b="21271"/>
          <a:stretch/>
        </p:blipFill>
        <p:spPr>
          <a:xfrm>
            <a:off x="4276724" y="2839650"/>
            <a:ext cx="4875599" cy="200917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8"/>
          <p:cNvSpPr txBox="1">
            <a:spLocks noGrp="1"/>
          </p:cNvSpPr>
          <p:nvPr>
            <p:ph type="title"/>
          </p:nvPr>
        </p:nvSpPr>
        <p:spPr>
          <a:xfrm>
            <a:off x="83100" y="-88375"/>
            <a:ext cx="8520600" cy="7488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0"/>
              </a:spcAft>
              <a:buClr>
                <a:schemeClr val="dk1"/>
              </a:buClr>
              <a:buSzPts val="990"/>
              <a:buFont typeface="Arial"/>
              <a:buNone/>
            </a:pPr>
            <a:r>
              <a:rPr lang="en" sz="4600" b="1">
                <a:latin typeface="Times New Roman"/>
                <a:ea typeface="Times New Roman"/>
                <a:cs typeface="Times New Roman"/>
                <a:sym typeface="Times New Roman"/>
              </a:rPr>
              <a:t>Machine Language</a:t>
            </a:r>
            <a:endParaRPr sz="2400">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990"/>
              <a:buFont typeface="Arial"/>
              <a:buNone/>
            </a:pPr>
            <a:endParaRPr sz="4600" b="1">
              <a:latin typeface="Times New Roman"/>
              <a:ea typeface="Times New Roman"/>
              <a:cs typeface="Times New Roman"/>
              <a:sym typeface="Times New Roman"/>
            </a:endParaRPr>
          </a:p>
          <a:p>
            <a:pPr marL="0" lvl="0" indent="0" algn="l" rtl="0">
              <a:lnSpc>
                <a:spcPct val="115000"/>
              </a:lnSpc>
              <a:spcBef>
                <a:spcPts val="1200"/>
              </a:spcBef>
              <a:spcAft>
                <a:spcPts val="1200"/>
              </a:spcAft>
              <a:buClr>
                <a:schemeClr val="dk1"/>
              </a:buClr>
              <a:buSzPct val="27500"/>
              <a:buFont typeface="Arial"/>
              <a:buNone/>
            </a:pPr>
            <a:endParaRPr sz="4000" b="1">
              <a:latin typeface="Times New Roman"/>
              <a:ea typeface="Times New Roman"/>
              <a:cs typeface="Times New Roman"/>
              <a:sym typeface="Times New Roman"/>
            </a:endParaRPr>
          </a:p>
        </p:txBody>
      </p:sp>
      <p:sp>
        <p:nvSpPr>
          <p:cNvPr id="91" name="Google Shape;91;p18"/>
          <p:cNvSpPr txBox="1"/>
          <p:nvPr/>
        </p:nvSpPr>
        <p:spPr>
          <a:xfrm>
            <a:off x="159850" y="713775"/>
            <a:ext cx="4863000" cy="41484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n" sz="1800" dirty="0">
                <a:solidFill>
                  <a:schemeClr val="dk1"/>
                </a:solidFill>
                <a:latin typeface="Times New Roman"/>
                <a:ea typeface="Times New Roman"/>
                <a:cs typeface="Times New Roman"/>
                <a:sym typeface="Times New Roman"/>
              </a:rPr>
              <a:t>4. </a:t>
            </a:r>
            <a:r>
              <a:rPr lang="en" sz="1800" b="1" dirty="0">
                <a:solidFill>
                  <a:schemeClr val="dk1"/>
                </a:solidFill>
                <a:latin typeface="Times New Roman"/>
                <a:ea typeface="Times New Roman"/>
                <a:cs typeface="Times New Roman"/>
                <a:sym typeface="Times New Roman"/>
              </a:rPr>
              <a:t>High-level programming languages:</a:t>
            </a:r>
            <a:r>
              <a:rPr lang="en" sz="1800" dirty="0">
                <a:solidFill>
                  <a:schemeClr val="dk1"/>
                </a:solidFill>
                <a:latin typeface="Times New Roman"/>
                <a:ea typeface="Times New Roman"/>
                <a:cs typeface="Times New Roman"/>
                <a:sym typeface="Times New Roman"/>
              </a:rPr>
              <a:t> </a:t>
            </a:r>
          </a:p>
          <a:p>
            <a:pPr marL="0" lvl="0" indent="0" algn="just" rtl="0">
              <a:spcBef>
                <a:spcPts val="0"/>
              </a:spcBef>
              <a:spcAft>
                <a:spcPts val="0"/>
              </a:spcAft>
              <a:buNone/>
            </a:pPr>
            <a:r>
              <a:rPr lang="en" sz="1800" dirty="0">
                <a:solidFill>
                  <a:schemeClr val="dk1"/>
                </a:solidFill>
                <a:latin typeface="Times New Roman"/>
                <a:ea typeface="Times New Roman"/>
                <a:cs typeface="Times New Roman"/>
                <a:sym typeface="Times New Roman"/>
              </a:rPr>
              <a:t>It is developed to reflect the procedures used in the solution of a problem </a:t>
            </a:r>
            <a:r>
              <a:rPr lang="en" sz="1800" b="1" dirty="0">
                <a:solidFill>
                  <a:schemeClr val="dk1"/>
                </a:solidFill>
                <a:latin typeface="Times New Roman"/>
                <a:ea typeface="Times New Roman"/>
                <a:cs typeface="Times New Roman"/>
                <a:sym typeface="Times New Roman"/>
              </a:rPr>
              <a:t>rather than be concerned with the computer hardware behaviour</a:t>
            </a:r>
            <a:r>
              <a:rPr lang="en" sz="1800" dirty="0">
                <a:solidFill>
                  <a:schemeClr val="dk1"/>
                </a:solidFill>
                <a:latin typeface="Times New Roman"/>
                <a:ea typeface="Times New Roman"/>
                <a:cs typeface="Times New Roman"/>
                <a:sym typeface="Times New Roman"/>
              </a:rPr>
              <a:t>.  </a:t>
            </a:r>
          </a:p>
          <a:p>
            <a:pPr marL="0" lvl="0" indent="0" algn="just" rtl="0">
              <a:spcBef>
                <a:spcPts val="0"/>
              </a:spcBef>
              <a:spcAft>
                <a:spcPts val="0"/>
              </a:spcAft>
              <a:buNone/>
            </a:pPr>
            <a:r>
              <a:rPr lang="en" sz="1800" b="1" dirty="0">
                <a:solidFill>
                  <a:schemeClr val="dk1"/>
                </a:solidFill>
                <a:latin typeface="Times New Roman"/>
                <a:ea typeface="Times New Roman"/>
                <a:cs typeface="Times New Roman"/>
                <a:sym typeface="Times New Roman"/>
              </a:rPr>
              <a:t>Example:</a:t>
            </a:r>
            <a:r>
              <a:rPr lang="en" sz="1800" dirty="0">
                <a:solidFill>
                  <a:schemeClr val="dk1"/>
                </a:solidFill>
                <a:latin typeface="Times New Roman"/>
                <a:ea typeface="Times New Roman"/>
                <a:cs typeface="Times New Roman"/>
                <a:sym typeface="Times New Roman"/>
              </a:rPr>
              <a:t> a high-level programming language is </a:t>
            </a:r>
            <a:r>
              <a:rPr lang="en" sz="1800" b="1" dirty="0">
                <a:solidFill>
                  <a:schemeClr val="dk1"/>
                </a:solidFill>
                <a:latin typeface="Times New Roman"/>
                <a:ea typeface="Times New Roman"/>
                <a:cs typeface="Times New Roman"/>
                <a:sym typeface="Times New Roman"/>
              </a:rPr>
              <a:t>Fortran(FORmula TRANslating-1957). </a:t>
            </a:r>
            <a:r>
              <a:rPr lang="en" sz="1800" dirty="0">
                <a:solidFill>
                  <a:schemeClr val="dk1"/>
                </a:solidFill>
                <a:latin typeface="Times New Roman"/>
                <a:ea typeface="Times New Roman"/>
                <a:cs typeface="Times New Roman"/>
                <a:sym typeface="Times New Roman"/>
              </a:rPr>
              <a:t>It employs problem oriented symbols and formats. The program is written in a sequence of statements in a form that people prefer to think in when solving a problem. </a:t>
            </a:r>
          </a:p>
          <a:p>
            <a:pPr marL="0" lvl="0" indent="0" algn="just" rtl="0">
              <a:spcBef>
                <a:spcPts val="0"/>
              </a:spcBef>
              <a:spcAft>
                <a:spcPts val="0"/>
              </a:spcAft>
              <a:buNone/>
            </a:pPr>
            <a:r>
              <a:rPr lang="en" sz="1800" dirty="0">
                <a:solidFill>
                  <a:schemeClr val="dk1"/>
                </a:solidFill>
                <a:latin typeface="Times New Roman"/>
                <a:ea typeface="Times New Roman"/>
                <a:cs typeface="Times New Roman"/>
                <a:sym typeface="Times New Roman"/>
              </a:rPr>
              <a:t>The program that translates a high-level language program to binary is called a </a:t>
            </a:r>
            <a:r>
              <a:rPr lang="en" sz="1800" b="1" dirty="0">
                <a:solidFill>
                  <a:schemeClr val="dk1"/>
                </a:solidFill>
                <a:latin typeface="Times New Roman"/>
                <a:ea typeface="Times New Roman"/>
                <a:cs typeface="Times New Roman"/>
                <a:sym typeface="Times New Roman"/>
              </a:rPr>
              <a:t>compiler.</a:t>
            </a:r>
            <a:r>
              <a:rPr lang="en" sz="1800" dirty="0">
                <a:solidFill>
                  <a:schemeClr val="dk1"/>
                </a:solidFill>
                <a:latin typeface="Times New Roman"/>
                <a:ea typeface="Times New Roman"/>
                <a:cs typeface="Times New Roman"/>
                <a:sym typeface="Times New Roman"/>
              </a:rPr>
              <a:t> </a:t>
            </a:r>
            <a:endParaRPr sz="1800" dirty="0">
              <a:solidFill>
                <a:schemeClr val="dk1"/>
              </a:solidFill>
              <a:latin typeface="Times New Roman"/>
              <a:ea typeface="Times New Roman"/>
              <a:cs typeface="Times New Roman"/>
              <a:sym typeface="Times New Roman"/>
            </a:endParaRPr>
          </a:p>
        </p:txBody>
      </p:sp>
      <p:pic>
        <p:nvPicPr>
          <p:cNvPr id="92" name="Google Shape;92;p18"/>
          <p:cNvPicPr preferRelativeResize="0"/>
          <p:nvPr/>
        </p:nvPicPr>
        <p:blipFill rotWithShape="1">
          <a:blip r:embed="rId3">
            <a:alphaModFix/>
          </a:blip>
          <a:srcRect l="9404" t="36240" r="46649" b="21312"/>
          <a:stretch/>
        </p:blipFill>
        <p:spPr>
          <a:xfrm>
            <a:off x="5355425" y="1674325"/>
            <a:ext cx="3804050" cy="179485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9"/>
          <p:cNvSpPr txBox="1">
            <a:spLocks noGrp="1"/>
          </p:cNvSpPr>
          <p:nvPr>
            <p:ph type="subTitle" idx="1"/>
          </p:nvPr>
        </p:nvSpPr>
        <p:spPr>
          <a:xfrm>
            <a:off x="311700" y="2834125"/>
            <a:ext cx="8520600" cy="15594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4600" b="1">
                <a:solidFill>
                  <a:schemeClr val="dk1"/>
                </a:solidFill>
                <a:latin typeface="Times New Roman"/>
                <a:ea typeface="Times New Roman"/>
                <a:cs typeface="Times New Roman"/>
                <a:sym typeface="Times New Roman"/>
              </a:rPr>
              <a:t>Assembly Language</a:t>
            </a:r>
            <a:endParaRPr sz="24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4600" b="1">
              <a:solidFill>
                <a:schemeClr val="dk1"/>
              </a:solidFill>
              <a:latin typeface="Times New Roman"/>
              <a:ea typeface="Times New Roman"/>
              <a:cs typeface="Times New Roman"/>
              <a:sym typeface="Times New Roman"/>
            </a:endParaRPr>
          </a:p>
          <a:p>
            <a:pPr marL="0" lvl="0" indent="0" algn="ctr" rtl="0">
              <a:spcBef>
                <a:spcPts val="1200"/>
              </a:spcBef>
              <a:spcAft>
                <a:spcPts val="0"/>
              </a:spcAft>
              <a:buNone/>
            </a:pPr>
            <a:endParaRPr sz="34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4"/>
          <p:cNvSpPr txBox="1">
            <a:spLocks noGrp="1"/>
          </p:cNvSpPr>
          <p:nvPr>
            <p:ph type="title"/>
          </p:nvPr>
        </p:nvSpPr>
        <p:spPr>
          <a:xfrm>
            <a:off x="280964" y="14721"/>
            <a:ext cx="8520600" cy="572700"/>
          </a:xfrm>
          <a:prstGeom prst="rect">
            <a:avLst/>
          </a:prstGeom>
          <a:noFill/>
          <a:ln>
            <a:noFill/>
          </a:ln>
        </p:spPr>
        <p:txBody>
          <a:bodyPr spcFirstLastPara="1" wrap="square" lIns="91425" tIns="91425" rIns="91425" bIns="91425" anchor="t" anchorCtr="0">
            <a:noAutofit/>
          </a:bodyPr>
          <a:lstStyle/>
          <a:p>
            <a:pPr>
              <a:lnSpc>
                <a:spcPct val="115000"/>
              </a:lnSpc>
              <a:buSzPts val="990"/>
            </a:pPr>
            <a:r>
              <a:rPr lang="en" sz="3940" b="1" dirty="0">
                <a:latin typeface="Times New Roman"/>
                <a:cs typeface="Times New Roman"/>
                <a:sym typeface="Times New Roman"/>
              </a:rPr>
              <a:t>Assembly Language Programming</a:t>
            </a:r>
            <a:endParaRPr sz="3940" b="1" dirty="0">
              <a:latin typeface="Times New Roman"/>
              <a:cs typeface="Times New Roman"/>
              <a:sym typeface="Times New Roman"/>
            </a:endParaRPr>
          </a:p>
        </p:txBody>
      </p:sp>
      <p:sp>
        <p:nvSpPr>
          <p:cNvPr id="63" name="Google Shape;63;p14"/>
          <p:cNvSpPr txBox="1">
            <a:spLocks noGrp="1"/>
          </p:cNvSpPr>
          <p:nvPr>
            <p:ph type="body" idx="1"/>
          </p:nvPr>
        </p:nvSpPr>
        <p:spPr>
          <a:xfrm>
            <a:off x="311700" y="860612"/>
            <a:ext cx="8520600" cy="3934225"/>
          </a:xfrm>
          <a:prstGeom prst="rect">
            <a:avLst/>
          </a:prstGeom>
        </p:spPr>
        <p:txBody>
          <a:bodyPr spcFirstLastPara="1" wrap="square" lIns="91425" tIns="91425" rIns="91425" bIns="91425" anchor="t" anchorCtr="0">
            <a:normAutofit/>
          </a:bodyPr>
          <a:lstStyle/>
          <a:p>
            <a:pPr algn="just">
              <a:lnSpc>
                <a:spcPct val="100000"/>
              </a:lnSpc>
              <a:spcBef>
                <a:spcPts val="0"/>
              </a:spcBef>
              <a:buClr>
                <a:schemeClr val="accent2"/>
              </a:buClr>
              <a:buFont typeface="Times New Roman"/>
              <a:buChar char="●"/>
            </a:pPr>
            <a:r>
              <a:rPr lang="en-US" dirty="0">
                <a:solidFill>
                  <a:schemeClr val="accent2"/>
                </a:solidFill>
                <a:latin typeface="Times New Roman"/>
                <a:cs typeface="Times New Roman"/>
              </a:rPr>
              <a:t>Assembly language is a low-level language that </a:t>
            </a:r>
            <a:r>
              <a:rPr lang="en-US" b="1" dirty="0">
                <a:solidFill>
                  <a:schemeClr val="accent2"/>
                </a:solidFill>
                <a:latin typeface="Times New Roman"/>
                <a:cs typeface="Times New Roman"/>
              </a:rPr>
              <a:t>helps to communicate directly with computer hardware. </a:t>
            </a:r>
          </a:p>
          <a:p>
            <a:pPr algn="just">
              <a:lnSpc>
                <a:spcPct val="100000"/>
              </a:lnSpc>
              <a:spcBef>
                <a:spcPts val="0"/>
              </a:spcBef>
              <a:buClr>
                <a:schemeClr val="accent2"/>
              </a:buClr>
              <a:buFont typeface="Times New Roman"/>
              <a:buChar char="●"/>
            </a:pPr>
            <a:r>
              <a:rPr lang="en-US" dirty="0">
                <a:solidFill>
                  <a:schemeClr val="accent2"/>
                </a:solidFill>
                <a:latin typeface="Times New Roman"/>
                <a:cs typeface="Times New Roman"/>
              </a:rPr>
              <a:t>It uses </a:t>
            </a:r>
            <a:r>
              <a:rPr lang="en-US" b="1" dirty="0">
                <a:solidFill>
                  <a:schemeClr val="accent2"/>
                </a:solidFill>
                <a:latin typeface="Times New Roman"/>
                <a:cs typeface="Times New Roman"/>
              </a:rPr>
              <a:t>mnemonics</a:t>
            </a:r>
            <a:r>
              <a:rPr lang="en-US" dirty="0">
                <a:solidFill>
                  <a:schemeClr val="accent2"/>
                </a:solidFill>
                <a:latin typeface="Times New Roman"/>
                <a:cs typeface="Times New Roman"/>
              </a:rPr>
              <a:t> to represent the operations that a processor has to do. Which is </a:t>
            </a:r>
            <a:r>
              <a:rPr lang="en-US" b="1" dirty="0">
                <a:solidFill>
                  <a:schemeClr val="accent2"/>
                </a:solidFill>
                <a:latin typeface="Times New Roman"/>
                <a:cs typeface="Times New Roman"/>
              </a:rPr>
              <a:t>an intermediate language </a:t>
            </a:r>
            <a:r>
              <a:rPr lang="en-US" dirty="0">
                <a:solidFill>
                  <a:schemeClr val="accent2"/>
                </a:solidFill>
                <a:latin typeface="Times New Roman"/>
                <a:cs typeface="Times New Roman"/>
              </a:rPr>
              <a:t>between high-level languages like C++ and the binary language. </a:t>
            </a:r>
          </a:p>
          <a:p>
            <a:pPr algn="just">
              <a:lnSpc>
                <a:spcPct val="100000"/>
              </a:lnSpc>
              <a:spcBef>
                <a:spcPts val="0"/>
              </a:spcBef>
              <a:buClr>
                <a:schemeClr val="accent2"/>
              </a:buClr>
              <a:buFont typeface="Times New Roman"/>
              <a:buChar char="●"/>
            </a:pPr>
            <a:r>
              <a:rPr lang="en-US" dirty="0">
                <a:solidFill>
                  <a:schemeClr val="accent2"/>
                </a:solidFill>
                <a:latin typeface="Times New Roman"/>
                <a:cs typeface="Times New Roman"/>
              </a:rPr>
              <a:t>It uses hexadecimal and binary values, and it is readable by humans.</a:t>
            </a:r>
          </a:p>
          <a:p>
            <a:pPr algn="just">
              <a:lnSpc>
                <a:spcPct val="100000"/>
              </a:lnSpc>
              <a:spcBef>
                <a:spcPts val="0"/>
              </a:spcBef>
              <a:buClr>
                <a:schemeClr val="accent2"/>
              </a:buClr>
              <a:buFont typeface="Times New Roman"/>
              <a:buChar char="●"/>
            </a:pPr>
            <a:r>
              <a:rPr lang="en-US" dirty="0">
                <a:solidFill>
                  <a:schemeClr val="accent2"/>
                </a:solidFill>
                <a:latin typeface="Times New Roman"/>
                <a:cs typeface="Times New Roman"/>
              </a:rPr>
              <a:t>It enables the programmer </a:t>
            </a:r>
            <a:r>
              <a:rPr lang="en-US" b="1" dirty="0">
                <a:solidFill>
                  <a:schemeClr val="accent2"/>
                </a:solidFill>
                <a:latin typeface="Times New Roman"/>
                <a:cs typeface="Times New Roman"/>
              </a:rPr>
              <a:t>to communicate directly with the hardware such as registers, memory locations, I/O devices or any other hardware components. </a:t>
            </a:r>
          </a:p>
          <a:p>
            <a:pPr algn="just">
              <a:lnSpc>
                <a:spcPct val="100000"/>
              </a:lnSpc>
              <a:spcBef>
                <a:spcPts val="0"/>
              </a:spcBef>
              <a:buClr>
                <a:schemeClr val="accent2"/>
              </a:buClr>
              <a:buFont typeface="Times New Roman"/>
              <a:buChar char="●"/>
            </a:pPr>
            <a:r>
              <a:rPr lang="en-US" dirty="0">
                <a:solidFill>
                  <a:schemeClr val="accent2"/>
                </a:solidFill>
                <a:latin typeface="Times New Roman"/>
                <a:cs typeface="Times New Roman"/>
              </a:rPr>
              <a:t>Assembly language is </a:t>
            </a:r>
            <a:r>
              <a:rPr lang="en-US" b="1" dirty="0">
                <a:solidFill>
                  <a:schemeClr val="accent2"/>
                </a:solidFill>
                <a:latin typeface="Times New Roman"/>
                <a:cs typeface="Times New Roman"/>
              </a:rPr>
              <a:t>platform-dependent</a:t>
            </a:r>
            <a:r>
              <a:rPr lang="en-US" dirty="0">
                <a:solidFill>
                  <a:schemeClr val="accent2"/>
                </a:solidFill>
                <a:latin typeface="Times New Roman"/>
                <a:cs typeface="Times New Roman"/>
              </a:rPr>
              <a:t> because it is </a:t>
            </a:r>
            <a:r>
              <a:rPr lang="en-US" b="1" dirty="0">
                <a:solidFill>
                  <a:schemeClr val="accent2"/>
                </a:solidFill>
                <a:latin typeface="Times New Roman"/>
                <a:cs typeface="Times New Roman"/>
              </a:rPr>
              <a:t>closely tied to the specific architecture of the computer's processor. (Example: </a:t>
            </a:r>
            <a:r>
              <a:rPr lang="en-US" b="1">
                <a:solidFill>
                  <a:schemeClr val="accent2"/>
                </a:solidFill>
                <a:latin typeface="Times New Roman"/>
                <a:cs typeface="Times New Roman"/>
              </a:rPr>
              <a:t>MUL instruction in 8086)</a:t>
            </a:r>
            <a:endParaRPr lang="en-US" b="1" dirty="0">
              <a:solidFill>
                <a:schemeClr val="accent2"/>
              </a:solidFill>
              <a:latin typeface="Times New Roman"/>
              <a:cs typeface="Times New Roman"/>
            </a:endParaRPr>
          </a:p>
          <a:p>
            <a:pPr algn="just">
              <a:lnSpc>
                <a:spcPct val="100000"/>
              </a:lnSpc>
              <a:spcBef>
                <a:spcPts val="0"/>
              </a:spcBef>
              <a:buClr>
                <a:schemeClr val="accent2"/>
              </a:buClr>
              <a:buFont typeface="Times New Roman"/>
              <a:buChar char="●"/>
            </a:pPr>
            <a:r>
              <a:rPr lang="en-US" dirty="0">
                <a:solidFill>
                  <a:schemeClr val="accent2"/>
                </a:solidFill>
                <a:latin typeface="Times New Roman"/>
                <a:cs typeface="Times New Roman"/>
              </a:rPr>
              <a:t>Each processor architecture has its own assembly language instructions. Therefore, code written in assembly language for one processor will not work on a different processor unless it supports the same instruction set.</a:t>
            </a:r>
            <a:endParaRPr dirty="0">
              <a:solidFill>
                <a:schemeClr val="accent2"/>
              </a:solidFill>
              <a:latin typeface="Times New Roman"/>
              <a:cs typeface="Times New Roman"/>
              <a:sym typeface="Times New Roman"/>
            </a:endParaRPr>
          </a:p>
        </p:txBody>
      </p:sp>
    </p:spTree>
    <p:extLst>
      <p:ext uri="{BB962C8B-B14F-4D97-AF65-F5344CB8AC3E}">
        <p14:creationId xmlns:p14="http://schemas.microsoft.com/office/powerpoint/2010/main" val="31369306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0"/>
          <p:cNvSpPr txBox="1">
            <a:spLocks noGrp="1"/>
          </p:cNvSpPr>
          <p:nvPr>
            <p:ph type="title"/>
          </p:nvPr>
        </p:nvSpPr>
        <p:spPr>
          <a:xfrm>
            <a:off x="6900" y="-103875"/>
            <a:ext cx="8520600" cy="728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0"/>
              </a:spcAft>
              <a:buClr>
                <a:schemeClr val="dk1"/>
              </a:buClr>
              <a:buSzPts val="990"/>
              <a:buFont typeface="Arial"/>
              <a:buNone/>
            </a:pPr>
            <a:r>
              <a:rPr lang="en" sz="4600" b="1">
                <a:latin typeface="Times New Roman"/>
                <a:ea typeface="Times New Roman"/>
                <a:cs typeface="Times New Roman"/>
                <a:sym typeface="Times New Roman"/>
              </a:rPr>
              <a:t>Assembly Language</a:t>
            </a:r>
            <a:endParaRPr sz="2400">
              <a:latin typeface="Times New Roman"/>
              <a:ea typeface="Times New Roman"/>
              <a:cs typeface="Times New Roman"/>
              <a:sym typeface="Times New Roman"/>
            </a:endParaRPr>
          </a:p>
          <a:p>
            <a:pPr marL="0" lvl="0" indent="0" algn="l" rtl="0">
              <a:lnSpc>
                <a:spcPct val="115000"/>
              </a:lnSpc>
              <a:spcBef>
                <a:spcPts val="1200"/>
              </a:spcBef>
              <a:spcAft>
                <a:spcPts val="1200"/>
              </a:spcAft>
              <a:buClr>
                <a:schemeClr val="dk1"/>
              </a:buClr>
              <a:buSzPct val="27500"/>
              <a:buFont typeface="Arial"/>
              <a:buNone/>
            </a:pPr>
            <a:endParaRPr sz="4000" b="1">
              <a:latin typeface="Times New Roman"/>
              <a:ea typeface="Times New Roman"/>
              <a:cs typeface="Times New Roman"/>
              <a:sym typeface="Times New Roman"/>
            </a:endParaRPr>
          </a:p>
        </p:txBody>
      </p:sp>
      <p:sp>
        <p:nvSpPr>
          <p:cNvPr id="103" name="Google Shape;103;p20"/>
          <p:cNvSpPr txBox="1">
            <a:spLocks noGrp="1"/>
          </p:cNvSpPr>
          <p:nvPr>
            <p:ph type="body" idx="1"/>
          </p:nvPr>
        </p:nvSpPr>
        <p:spPr>
          <a:xfrm>
            <a:off x="83100" y="687275"/>
            <a:ext cx="8520600" cy="4255200"/>
          </a:xfrm>
          <a:prstGeom prst="rect">
            <a:avLst/>
          </a:prstGeom>
        </p:spPr>
        <p:txBody>
          <a:bodyPr spcFirstLastPara="1" wrap="square" lIns="91425" tIns="91425" rIns="91425" bIns="91425" anchor="t" anchorCtr="0">
            <a:noAutofit/>
          </a:bodyPr>
          <a:lstStyle/>
          <a:p>
            <a:pPr algn="just">
              <a:lnSpc>
                <a:spcPct val="100000"/>
              </a:lnSpc>
              <a:buClr>
                <a:schemeClr val="dk1"/>
              </a:buClr>
              <a:buFont typeface="Times New Roman"/>
              <a:buChar char="●"/>
            </a:pPr>
            <a:r>
              <a:rPr lang="en-US" dirty="0">
                <a:solidFill>
                  <a:schemeClr val="dk1"/>
                </a:solidFill>
                <a:latin typeface="Times New Roman"/>
                <a:cs typeface="Times New Roman"/>
              </a:rPr>
              <a:t>A programming language is defined by a set of rules. </a:t>
            </a:r>
          </a:p>
          <a:p>
            <a:pPr algn="just">
              <a:lnSpc>
                <a:spcPct val="100000"/>
              </a:lnSpc>
              <a:buClr>
                <a:schemeClr val="dk1"/>
              </a:buClr>
              <a:buFont typeface="Times New Roman"/>
              <a:buChar char="●"/>
            </a:pPr>
            <a:r>
              <a:rPr lang="en-US" dirty="0">
                <a:solidFill>
                  <a:schemeClr val="dk1"/>
                </a:solidFill>
                <a:latin typeface="Times New Roman"/>
                <a:cs typeface="Times New Roman"/>
              </a:rPr>
              <a:t>Users must conform to all format rules of the language if they want their programs to be translated correctly. </a:t>
            </a:r>
          </a:p>
          <a:p>
            <a:pPr algn="just">
              <a:lnSpc>
                <a:spcPct val="100000"/>
              </a:lnSpc>
              <a:buClr>
                <a:schemeClr val="dk1"/>
              </a:buClr>
              <a:buFont typeface="Times New Roman"/>
              <a:buChar char="●"/>
            </a:pPr>
            <a:r>
              <a:rPr lang="en-US" dirty="0">
                <a:solidFill>
                  <a:schemeClr val="dk1"/>
                </a:solidFill>
                <a:latin typeface="Times New Roman"/>
                <a:cs typeface="Times New Roman"/>
              </a:rPr>
              <a:t>Almost </a:t>
            </a:r>
            <a:r>
              <a:rPr lang="en-US" b="1" dirty="0">
                <a:solidFill>
                  <a:schemeClr val="dk1"/>
                </a:solidFill>
                <a:latin typeface="Times New Roman"/>
                <a:cs typeface="Times New Roman"/>
              </a:rPr>
              <a:t>every commercial computer has its own particular assembly language. </a:t>
            </a:r>
          </a:p>
          <a:p>
            <a:pPr algn="just">
              <a:lnSpc>
                <a:spcPct val="100000"/>
              </a:lnSpc>
              <a:buClr>
                <a:schemeClr val="dk1"/>
              </a:buClr>
              <a:buFont typeface="Times New Roman"/>
              <a:buChar char="●"/>
            </a:pPr>
            <a:r>
              <a:rPr lang="en-US" dirty="0">
                <a:solidFill>
                  <a:schemeClr val="dk1"/>
                </a:solidFill>
                <a:latin typeface="Times New Roman"/>
                <a:cs typeface="Times New Roman"/>
              </a:rPr>
              <a:t>The rules for writing assembly language programs are documented and published in manuals which are usually available from the computer manufacturer.</a:t>
            </a:r>
          </a:p>
          <a:p>
            <a:pPr algn="just">
              <a:lnSpc>
                <a:spcPct val="100000"/>
              </a:lnSpc>
              <a:buClr>
                <a:schemeClr val="dk1"/>
              </a:buClr>
              <a:buFont typeface="Times New Roman"/>
              <a:buChar char="●"/>
            </a:pPr>
            <a:endParaRPr lang="en-US" dirty="0">
              <a:solidFill>
                <a:schemeClr val="dk1"/>
              </a:solidFill>
              <a:latin typeface="Times New Roman"/>
              <a:cs typeface="Times New Roman"/>
            </a:endParaRPr>
          </a:p>
          <a:p>
            <a:pPr algn="just">
              <a:lnSpc>
                <a:spcPct val="100000"/>
              </a:lnSpc>
              <a:buClr>
                <a:schemeClr val="dk1"/>
              </a:buClr>
              <a:buFont typeface="Times New Roman"/>
              <a:buChar char="●"/>
            </a:pPr>
            <a:r>
              <a:rPr lang="en-US" b="1" dirty="0">
                <a:solidFill>
                  <a:schemeClr val="dk1"/>
                </a:solidFill>
                <a:latin typeface="Times New Roman"/>
                <a:cs typeface="Times New Roman"/>
              </a:rPr>
              <a:t>Rules of the Language :</a:t>
            </a:r>
          </a:p>
          <a:p>
            <a:pPr algn="just">
              <a:lnSpc>
                <a:spcPct val="100000"/>
              </a:lnSpc>
              <a:buClr>
                <a:schemeClr val="dk1"/>
              </a:buClr>
              <a:buFont typeface="Times New Roman"/>
              <a:buChar char="●"/>
            </a:pPr>
            <a:r>
              <a:rPr lang="en-US" dirty="0">
                <a:solidFill>
                  <a:schemeClr val="dk1"/>
                </a:solidFill>
                <a:latin typeface="Times New Roman"/>
                <a:cs typeface="Times New Roman"/>
              </a:rPr>
              <a:t>Each line of an assembly language program is arranged in </a:t>
            </a:r>
            <a:r>
              <a:rPr lang="en-US" b="1" dirty="0">
                <a:solidFill>
                  <a:schemeClr val="dk1"/>
                </a:solidFill>
                <a:latin typeface="Times New Roman"/>
                <a:cs typeface="Times New Roman"/>
              </a:rPr>
              <a:t>three columns called fields</a:t>
            </a:r>
            <a:r>
              <a:rPr lang="en-US" dirty="0">
                <a:solidFill>
                  <a:schemeClr val="dk1"/>
                </a:solidFill>
                <a:latin typeface="Times New Roman"/>
                <a:cs typeface="Times New Roman"/>
              </a:rPr>
              <a:t>. </a:t>
            </a:r>
          </a:p>
          <a:p>
            <a:pPr algn="just">
              <a:lnSpc>
                <a:spcPct val="100000"/>
              </a:lnSpc>
              <a:buClr>
                <a:schemeClr val="dk1"/>
              </a:buClr>
              <a:buFont typeface="Times New Roman"/>
              <a:buChar char="●"/>
            </a:pPr>
            <a:r>
              <a:rPr lang="en-US" dirty="0">
                <a:solidFill>
                  <a:schemeClr val="dk1"/>
                </a:solidFill>
                <a:latin typeface="Times New Roman"/>
                <a:cs typeface="Times New Roman"/>
              </a:rPr>
              <a:t>The fields specify the following information:</a:t>
            </a:r>
          </a:p>
          <a:p>
            <a:pPr marL="114300" lvl="0" indent="0" algn="just">
              <a:buNone/>
            </a:pPr>
            <a:r>
              <a:rPr lang="en-US" sz="1800" dirty="0">
                <a:solidFill>
                  <a:schemeClr val="tx1"/>
                </a:solidFill>
                <a:latin typeface="Times New Roman" panose="02020603050405020304" pitchFamily="18" charset="0"/>
                <a:cs typeface="Times New Roman" panose="02020603050405020304" pitchFamily="18" charset="0"/>
              </a:rPr>
              <a:t>1. The </a:t>
            </a:r>
            <a:r>
              <a:rPr lang="en-US" sz="1800" b="1" dirty="0">
                <a:solidFill>
                  <a:schemeClr val="tx1"/>
                </a:solidFill>
                <a:latin typeface="Times New Roman" panose="02020603050405020304" pitchFamily="18" charset="0"/>
                <a:cs typeface="Times New Roman" panose="02020603050405020304" pitchFamily="18" charset="0"/>
              </a:rPr>
              <a:t>label field </a:t>
            </a:r>
            <a:r>
              <a:rPr lang="en-US" sz="1800" dirty="0">
                <a:solidFill>
                  <a:schemeClr val="tx1"/>
                </a:solidFill>
                <a:latin typeface="Times New Roman" panose="02020603050405020304" pitchFamily="18" charset="0"/>
                <a:cs typeface="Times New Roman" panose="02020603050405020304" pitchFamily="18" charset="0"/>
              </a:rPr>
              <a:t>may be empty or it may specify a symbolic address.</a:t>
            </a:r>
          </a:p>
          <a:p>
            <a:pPr marL="114300" lvl="0" indent="0" algn="just">
              <a:buNone/>
            </a:pPr>
            <a:r>
              <a:rPr lang="en-US" sz="1800" dirty="0">
                <a:solidFill>
                  <a:schemeClr val="tx1"/>
                </a:solidFill>
                <a:latin typeface="Times New Roman" panose="02020603050405020304" pitchFamily="18" charset="0"/>
                <a:cs typeface="Times New Roman" panose="02020603050405020304" pitchFamily="18" charset="0"/>
              </a:rPr>
              <a:t>2. The </a:t>
            </a:r>
            <a:r>
              <a:rPr lang="en-US" sz="1800" b="1" dirty="0">
                <a:solidFill>
                  <a:schemeClr val="tx1"/>
                </a:solidFill>
                <a:latin typeface="Times New Roman" panose="02020603050405020304" pitchFamily="18" charset="0"/>
                <a:cs typeface="Times New Roman" panose="02020603050405020304" pitchFamily="18" charset="0"/>
              </a:rPr>
              <a:t>instruction field </a:t>
            </a:r>
            <a:r>
              <a:rPr lang="en-US" sz="1800" dirty="0">
                <a:solidFill>
                  <a:schemeClr val="tx1"/>
                </a:solidFill>
                <a:latin typeface="Times New Roman" panose="02020603050405020304" pitchFamily="18" charset="0"/>
                <a:cs typeface="Times New Roman" panose="02020603050405020304" pitchFamily="18" charset="0"/>
              </a:rPr>
              <a:t>specifies a machine instruction or a pseudo instruction.</a:t>
            </a:r>
          </a:p>
          <a:p>
            <a:pPr marL="114300" lvl="0" indent="0" algn="just">
              <a:buNone/>
            </a:pPr>
            <a:r>
              <a:rPr lang="en-US" sz="1800" dirty="0">
                <a:solidFill>
                  <a:schemeClr val="tx1"/>
                </a:solidFill>
                <a:latin typeface="Times New Roman" panose="02020603050405020304" pitchFamily="18" charset="0"/>
                <a:cs typeface="Times New Roman" panose="02020603050405020304" pitchFamily="18" charset="0"/>
              </a:rPr>
              <a:t>3. The </a:t>
            </a:r>
            <a:r>
              <a:rPr lang="en-US" sz="1800" b="1" dirty="0">
                <a:solidFill>
                  <a:schemeClr val="tx1"/>
                </a:solidFill>
                <a:latin typeface="Times New Roman" panose="02020603050405020304" pitchFamily="18" charset="0"/>
                <a:cs typeface="Times New Roman" panose="02020603050405020304" pitchFamily="18" charset="0"/>
              </a:rPr>
              <a:t>comment field </a:t>
            </a:r>
            <a:r>
              <a:rPr lang="en-US" sz="1800" dirty="0">
                <a:solidFill>
                  <a:schemeClr val="tx1"/>
                </a:solidFill>
                <a:latin typeface="Times New Roman" panose="02020603050405020304" pitchFamily="18" charset="0"/>
                <a:cs typeface="Times New Roman" panose="02020603050405020304" pitchFamily="18" charset="0"/>
              </a:rPr>
              <a:t>may be empty or it may include a comment.</a:t>
            </a:r>
          </a:p>
          <a:p>
            <a:pPr marL="0" lvl="0" indent="0" algn="just" rtl="0">
              <a:lnSpc>
                <a:spcPct val="100000"/>
              </a:lnSpc>
              <a:spcBef>
                <a:spcPts val="0"/>
              </a:spcBef>
              <a:spcAft>
                <a:spcPts val="0"/>
              </a:spcAft>
              <a:buNone/>
            </a:pPr>
            <a:endParaRPr dirty="0">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0"/>
          <p:cNvSpPr txBox="1">
            <a:spLocks noGrp="1"/>
          </p:cNvSpPr>
          <p:nvPr>
            <p:ph type="title"/>
          </p:nvPr>
        </p:nvSpPr>
        <p:spPr>
          <a:xfrm>
            <a:off x="6900" y="-211451"/>
            <a:ext cx="8520600" cy="728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0"/>
              </a:spcAft>
              <a:buClr>
                <a:schemeClr val="dk1"/>
              </a:buClr>
              <a:buSzPts val="990"/>
              <a:buFont typeface="Arial"/>
              <a:buNone/>
            </a:pPr>
            <a:r>
              <a:rPr lang="en" sz="4600" b="1" dirty="0">
                <a:latin typeface="Times New Roman"/>
                <a:ea typeface="Times New Roman"/>
                <a:cs typeface="Times New Roman"/>
                <a:sym typeface="Times New Roman"/>
              </a:rPr>
              <a:t>Assembly Language</a:t>
            </a:r>
            <a:endParaRPr sz="2400" dirty="0">
              <a:latin typeface="Times New Roman"/>
              <a:ea typeface="Times New Roman"/>
              <a:cs typeface="Times New Roman"/>
              <a:sym typeface="Times New Roman"/>
            </a:endParaRPr>
          </a:p>
          <a:p>
            <a:pPr marL="0" lvl="0" indent="0" algn="l" rtl="0">
              <a:lnSpc>
                <a:spcPct val="115000"/>
              </a:lnSpc>
              <a:spcBef>
                <a:spcPts val="1200"/>
              </a:spcBef>
              <a:spcAft>
                <a:spcPts val="1200"/>
              </a:spcAft>
              <a:buClr>
                <a:schemeClr val="dk1"/>
              </a:buClr>
              <a:buSzPct val="27500"/>
              <a:buFont typeface="Arial"/>
              <a:buNone/>
            </a:pPr>
            <a:endParaRPr sz="4000" b="1" dirty="0">
              <a:latin typeface="Times New Roman"/>
              <a:ea typeface="Times New Roman"/>
              <a:cs typeface="Times New Roman"/>
              <a:sym typeface="Times New Roman"/>
            </a:endParaRPr>
          </a:p>
        </p:txBody>
      </p:sp>
      <p:sp>
        <p:nvSpPr>
          <p:cNvPr id="103" name="Google Shape;103;p20"/>
          <p:cNvSpPr txBox="1">
            <a:spLocks noGrp="1"/>
          </p:cNvSpPr>
          <p:nvPr>
            <p:ph type="body" idx="1"/>
          </p:nvPr>
        </p:nvSpPr>
        <p:spPr>
          <a:xfrm>
            <a:off x="83100" y="430306"/>
            <a:ext cx="8968692" cy="4512169"/>
          </a:xfrm>
          <a:prstGeom prst="rect">
            <a:avLst/>
          </a:prstGeom>
        </p:spPr>
        <p:txBody>
          <a:bodyPr spcFirstLastPara="1" wrap="square" lIns="91425" tIns="91425" rIns="91425" bIns="91425" anchor="t" anchorCtr="0">
            <a:noAutofit/>
          </a:bodyPr>
          <a:lstStyle/>
          <a:p>
            <a:pPr marL="457200" lvl="0" indent="-342900" algn="just" rtl="0">
              <a:lnSpc>
                <a:spcPct val="100000"/>
              </a:lnSpc>
              <a:spcBef>
                <a:spcPts val="0"/>
              </a:spcBef>
              <a:spcAft>
                <a:spcPts val="0"/>
              </a:spcAft>
              <a:buClr>
                <a:schemeClr val="dk1"/>
              </a:buClr>
              <a:buSzPts val="1800"/>
              <a:buFont typeface="Times New Roman"/>
              <a:buChar char="●"/>
            </a:pPr>
            <a:r>
              <a:rPr lang="en" b="1" dirty="0">
                <a:solidFill>
                  <a:schemeClr val="dk1"/>
                </a:solidFill>
                <a:latin typeface="Times New Roman"/>
                <a:ea typeface="Times New Roman"/>
                <a:cs typeface="Times New Roman"/>
                <a:sym typeface="Times New Roman"/>
              </a:rPr>
              <a:t>Assembler:</a:t>
            </a:r>
            <a:r>
              <a:rPr lang="en" dirty="0">
                <a:solidFill>
                  <a:schemeClr val="dk1"/>
                </a:solidFill>
                <a:latin typeface="Times New Roman"/>
                <a:ea typeface="Times New Roman"/>
                <a:cs typeface="Times New Roman"/>
                <a:sym typeface="Times New Roman"/>
              </a:rPr>
              <a:t> It is a program that accepts a symbolic language program and produces its binary machine language equivalent.  </a:t>
            </a:r>
            <a:endParaRPr dirty="0">
              <a:solidFill>
                <a:schemeClr val="dk1"/>
              </a:solidFill>
              <a:latin typeface="Times New Roman"/>
              <a:ea typeface="Times New Roman"/>
              <a:cs typeface="Times New Roman"/>
              <a:sym typeface="Times New Roman"/>
            </a:endParaRPr>
          </a:p>
          <a:p>
            <a:pPr marL="457200" lvl="0" indent="-342900" algn="just" rtl="0">
              <a:lnSpc>
                <a:spcPct val="100000"/>
              </a:lnSpc>
              <a:spcBef>
                <a:spcPts val="0"/>
              </a:spcBef>
              <a:spcAft>
                <a:spcPts val="0"/>
              </a:spcAft>
              <a:buClr>
                <a:schemeClr val="dk1"/>
              </a:buClr>
              <a:buSzPts val="1800"/>
              <a:buFont typeface="Times New Roman"/>
              <a:buChar char="●"/>
            </a:pPr>
            <a:r>
              <a:rPr lang="en" dirty="0">
                <a:solidFill>
                  <a:schemeClr val="dk1"/>
                </a:solidFill>
                <a:latin typeface="Times New Roman"/>
                <a:ea typeface="Times New Roman"/>
                <a:cs typeface="Times New Roman"/>
                <a:sym typeface="Times New Roman"/>
              </a:rPr>
              <a:t>The instruction field in an assembly language program may specify one of the following items: </a:t>
            </a:r>
            <a:endParaRPr dirty="0">
              <a:solidFill>
                <a:schemeClr val="dk1"/>
              </a:solidFill>
              <a:latin typeface="Times New Roman"/>
              <a:ea typeface="Times New Roman"/>
              <a:cs typeface="Times New Roman"/>
              <a:sym typeface="Times New Roman"/>
            </a:endParaRPr>
          </a:p>
          <a:p>
            <a:pPr marL="457200" lvl="0" indent="0" algn="just" rtl="0">
              <a:lnSpc>
                <a:spcPct val="100000"/>
              </a:lnSpc>
              <a:spcBef>
                <a:spcPts val="0"/>
              </a:spcBef>
              <a:spcAft>
                <a:spcPts val="0"/>
              </a:spcAft>
              <a:buNone/>
            </a:pPr>
            <a:r>
              <a:rPr lang="en" dirty="0">
                <a:solidFill>
                  <a:schemeClr val="dk1"/>
                </a:solidFill>
                <a:latin typeface="Times New Roman"/>
                <a:ea typeface="Times New Roman"/>
                <a:cs typeface="Times New Roman"/>
                <a:sym typeface="Times New Roman"/>
              </a:rPr>
              <a:t>1. A memory-reference instruction (MRI) </a:t>
            </a:r>
            <a:endParaRPr dirty="0">
              <a:solidFill>
                <a:schemeClr val="dk1"/>
              </a:solidFill>
              <a:latin typeface="Times New Roman"/>
              <a:ea typeface="Times New Roman"/>
              <a:cs typeface="Times New Roman"/>
              <a:sym typeface="Times New Roman"/>
            </a:endParaRPr>
          </a:p>
          <a:p>
            <a:pPr marL="457200" lvl="0" indent="0" algn="just" rtl="0">
              <a:lnSpc>
                <a:spcPct val="100000"/>
              </a:lnSpc>
              <a:spcBef>
                <a:spcPts val="0"/>
              </a:spcBef>
              <a:spcAft>
                <a:spcPts val="0"/>
              </a:spcAft>
              <a:buNone/>
            </a:pPr>
            <a:r>
              <a:rPr lang="en" dirty="0">
                <a:solidFill>
                  <a:schemeClr val="dk1"/>
                </a:solidFill>
                <a:latin typeface="Times New Roman"/>
                <a:ea typeface="Times New Roman"/>
                <a:cs typeface="Times New Roman"/>
                <a:sym typeface="Times New Roman"/>
              </a:rPr>
              <a:t>2. A register-reference or input-output instruction (non-MRI) </a:t>
            </a:r>
            <a:endParaRPr dirty="0">
              <a:solidFill>
                <a:schemeClr val="dk1"/>
              </a:solidFill>
              <a:latin typeface="Times New Roman"/>
              <a:ea typeface="Times New Roman"/>
              <a:cs typeface="Times New Roman"/>
              <a:sym typeface="Times New Roman"/>
            </a:endParaRPr>
          </a:p>
          <a:p>
            <a:pPr marL="457200" lvl="0" indent="0" algn="just" rtl="0">
              <a:lnSpc>
                <a:spcPct val="100000"/>
              </a:lnSpc>
              <a:spcBef>
                <a:spcPts val="0"/>
              </a:spcBef>
              <a:spcAft>
                <a:spcPts val="0"/>
              </a:spcAft>
              <a:buNone/>
            </a:pPr>
            <a:r>
              <a:rPr lang="en" dirty="0">
                <a:solidFill>
                  <a:schemeClr val="dk1"/>
                </a:solidFill>
                <a:latin typeface="Times New Roman"/>
                <a:ea typeface="Times New Roman"/>
                <a:cs typeface="Times New Roman"/>
                <a:sym typeface="Times New Roman"/>
              </a:rPr>
              <a:t>3. A pseudo instruction with or without an operand  </a:t>
            </a:r>
          </a:p>
          <a:p>
            <a:pPr marL="457200" lvl="0" indent="0" algn="just" rtl="0">
              <a:lnSpc>
                <a:spcPct val="100000"/>
              </a:lnSpc>
              <a:spcBef>
                <a:spcPts val="0"/>
              </a:spcBef>
              <a:spcAft>
                <a:spcPts val="0"/>
              </a:spcAft>
              <a:buNone/>
            </a:pPr>
            <a:endParaRPr lang="en-US" dirty="0">
              <a:solidFill>
                <a:schemeClr val="dk1"/>
              </a:solidFill>
              <a:latin typeface="Times New Roman"/>
              <a:ea typeface="Times New Roman"/>
              <a:cs typeface="Times New Roman"/>
              <a:sym typeface="Times New Roman"/>
            </a:endParaRPr>
          </a:p>
          <a:p>
            <a:pPr marL="457200" lvl="0" indent="0" algn="just" rtl="0">
              <a:lnSpc>
                <a:spcPct val="100000"/>
              </a:lnSpc>
              <a:spcBef>
                <a:spcPts val="0"/>
              </a:spcBef>
              <a:spcAft>
                <a:spcPts val="0"/>
              </a:spcAft>
              <a:buNone/>
            </a:pPr>
            <a:endParaRPr dirty="0">
              <a:solidFill>
                <a:schemeClr val="dk1"/>
              </a:solidFill>
              <a:latin typeface="Times New Roman"/>
              <a:ea typeface="Times New Roman"/>
              <a:cs typeface="Times New Roman"/>
              <a:sym typeface="Times New Roman"/>
            </a:endParaRPr>
          </a:p>
          <a:p>
            <a:pPr lvl="0" algn="just" rtl="0">
              <a:lnSpc>
                <a:spcPct val="100000"/>
              </a:lnSpc>
              <a:spcBef>
                <a:spcPts val="0"/>
              </a:spcBef>
              <a:spcAft>
                <a:spcPts val="0"/>
              </a:spcAft>
              <a:buClr>
                <a:schemeClr val="dk1"/>
              </a:buClr>
              <a:buSzPts val="1800"/>
              <a:buFont typeface="+mj-lt"/>
              <a:buAutoNum type="arabicPeriod"/>
            </a:pPr>
            <a:r>
              <a:rPr lang="en" b="1" dirty="0">
                <a:solidFill>
                  <a:schemeClr val="dk1"/>
                </a:solidFill>
                <a:latin typeface="Times New Roman"/>
                <a:ea typeface="Times New Roman"/>
                <a:cs typeface="Times New Roman"/>
                <a:sym typeface="Times New Roman"/>
              </a:rPr>
              <a:t>Memory-reference instruction(MRI):</a:t>
            </a:r>
          </a:p>
          <a:p>
            <a:pPr algn="just">
              <a:lnSpc>
                <a:spcPct val="100000"/>
              </a:lnSpc>
              <a:buClr>
                <a:schemeClr val="dk1"/>
              </a:buClr>
              <a:buFont typeface="Times New Roman"/>
              <a:buChar char="●"/>
            </a:pPr>
            <a:r>
              <a:rPr lang="en" dirty="0">
                <a:solidFill>
                  <a:schemeClr val="dk1"/>
                </a:solidFill>
                <a:latin typeface="Times New Roman"/>
                <a:cs typeface="Times New Roman"/>
                <a:sym typeface="Times New Roman"/>
              </a:rPr>
              <a:t>It occupies </a:t>
            </a:r>
            <a:r>
              <a:rPr lang="en" b="1" dirty="0">
                <a:solidFill>
                  <a:schemeClr val="dk1"/>
                </a:solidFill>
                <a:latin typeface="Times New Roman"/>
                <a:cs typeface="Times New Roman"/>
                <a:sym typeface="Times New Roman"/>
              </a:rPr>
              <a:t>two or three symbols </a:t>
            </a:r>
            <a:r>
              <a:rPr lang="en" dirty="0">
                <a:solidFill>
                  <a:schemeClr val="dk1"/>
                </a:solidFill>
                <a:latin typeface="Times New Roman"/>
                <a:cs typeface="Times New Roman"/>
                <a:sym typeface="Times New Roman"/>
              </a:rPr>
              <a:t>separated by spaces. </a:t>
            </a:r>
          </a:p>
          <a:p>
            <a:pPr algn="just">
              <a:lnSpc>
                <a:spcPct val="100000"/>
              </a:lnSpc>
              <a:buClr>
                <a:schemeClr val="dk1"/>
              </a:buClr>
              <a:buFont typeface="Wingdings" panose="05000000000000000000" pitchFamily="2" charset="2"/>
              <a:buChar char="Ø"/>
            </a:pPr>
            <a:r>
              <a:rPr lang="en-US" dirty="0">
                <a:solidFill>
                  <a:schemeClr val="dk1"/>
                </a:solidFill>
                <a:latin typeface="Times New Roman"/>
                <a:ea typeface="Times New Roman"/>
                <a:cs typeface="Times New Roman"/>
                <a:sym typeface="Times New Roman"/>
              </a:rPr>
              <a:t>The first must be a three-letter symbol defining an </a:t>
            </a:r>
            <a:r>
              <a:rPr lang="en-US" b="1" dirty="0">
                <a:solidFill>
                  <a:schemeClr val="dk1"/>
                </a:solidFill>
                <a:latin typeface="Times New Roman"/>
                <a:ea typeface="Times New Roman"/>
                <a:cs typeface="Times New Roman"/>
                <a:sym typeface="Times New Roman"/>
              </a:rPr>
              <a:t>MRI OPCODE</a:t>
            </a:r>
            <a:r>
              <a:rPr lang="en-US" dirty="0">
                <a:solidFill>
                  <a:schemeClr val="dk1"/>
                </a:solidFill>
                <a:latin typeface="Times New Roman"/>
                <a:ea typeface="Times New Roman"/>
                <a:cs typeface="Times New Roman"/>
                <a:sym typeface="Times New Roman"/>
              </a:rPr>
              <a:t>.  </a:t>
            </a:r>
          </a:p>
          <a:p>
            <a:pPr lvl="0" algn="just" rtl="0">
              <a:lnSpc>
                <a:spcPct val="100000"/>
              </a:lnSpc>
              <a:spcBef>
                <a:spcPts val="0"/>
              </a:spcBef>
              <a:spcAft>
                <a:spcPts val="0"/>
              </a:spcAft>
              <a:buClr>
                <a:schemeClr val="dk1"/>
              </a:buClr>
              <a:buSzPts val="1800"/>
              <a:buFont typeface="Wingdings" panose="05000000000000000000" pitchFamily="2" charset="2"/>
              <a:buChar char="Ø"/>
            </a:pPr>
            <a:r>
              <a:rPr lang="en" dirty="0">
                <a:solidFill>
                  <a:schemeClr val="dk1"/>
                </a:solidFill>
                <a:latin typeface="Times New Roman"/>
                <a:ea typeface="Times New Roman"/>
                <a:cs typeface="Times New Roman"/>
                <a:sym typeface="Times New Roman"/>
              </a:rPr>
              <a:t>The second is a symbolic address. </a:t>
            </a:r>
          </a:p>
          <a:p>
            <a:pPr lvl="0" algn="just" rtl="0">
              <a:lnSpc>
                <a:spcPct val="100000"/>
              </a:lnSpc>
              <a:spcBef>
                <a:spcPts val="0"/>
              </a:spcBef>
              <a:spcAft>
                <a:spcPts val="0"/>
              </a:spcAft>
              <a:buClr>
                <a:schemeClr val="dk1"/>
              </a:buClr>
              <a:buSzPts val="1800"/>
              <a:buFont typeface="Wingdings" panose="05000000000000000000" pitchFamily="2" charset="2"/>
              <a:buChar char="Ø"/>
            </a:pPr>
            <a:r>
              <a:rPr lang="en" dirty="0">
                <a:solidFill>
                  <a:schemeClr val="dk1"/>
                </a:solidFill>
                <a:latin typeface="Times New Roman"/>
                <a:ea typeface="Times New Roman"/>
                <a:cs typeface="Times New Roman"/>
                <a:sym typeface="Times New Roman"/>
              </a:rPr>
              <a:t>The third symbol, which may or may not be present, is the letter I. If I is missing, the line denotes a direct address instruction. The presence of the symbol I denotes an indirect address instruction.  </a:t>
            </a:r>
            <a:endParaRPr dirty="0">
              <a:solidFill>
                <a:schemeClr val="dk1"/>
              </a:solidFill>
              <a:latin typeface="Times New Roman"/>
              <a:ea typeface="Times New Roman"/>
              <a:cs typeface="Times New Roman"/>
              <a:sym typeface="Times New Roman"/>
            </a:endParaRPr>
          </a:p>
          <a:p>
            <a:pPr marL="0" lvl="0" indent="0" algn="just" rtl="0">
              <a:lnSpc>
                <a:spcPct val="100000"/>
              </a:lnSpc>
              <a:spcBef>
                <a:spcPts val="0"/>
              </a:spcBef>
              <a:spcAft>
                <a:spcPts val="0"/>
              </a:spcAft>
              <a:buNone/>
            </a:pPr>
            <a:endParaRPr dirty="0">
              <a:solidFill>
                <a:schemeClr val="dk1"/>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8C478144-7771-4BF3-8D7F-E73DEF676954}"/>
              </a:ext>
            </a:extLst>
          </p:cNvPr>
          <p:cNvPicPr>
            <a:picLocks noChangeAspect="1"/>
          </p:cNvPicPr>
          <p:nvPr/>
        </p:nvPicPr>
        <p:blipFill>
          <a:blip r:embed="rId3"/>
          <a:stretch>
            <a:fillRect/>
          </a:stretch>
        </p:blipFill>
        <p:spPr>
          <a:xfrm>
            <a:off x="4976859" y="2504995"/>
            <a:ext cx="3914993" cy="681156"/>
          </a:xfrm>
          <a:prstGeom prst="rect">
            <a:avLst/>
          </a:prstGeom>
        </p:spPr>
      </p:pic>
    </p:spTree>
    <p:extLst>
      <p:ext uri="{BB962C8B-B14F-4D97-AF65-F5344CB8AC3E}">
        <p14:creationId xmlns:p14="http://schemas.microsoft.com/office/powerpoint/2010/main" val="16571687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21"/>
          <p:cNvSpPr txBox="1">
            <a:spLocks noGrp="1"/>
          </p:cNvSpPr>
          <p:nvPr>
            <p:ph type="title"/>
          </p:nvPr>
        </p:nvSpPr>
        <p:spPr>
          <a:xfrm>
            <a:off x="6900" y="-27675"/>
            <a:ext cx="8520600" cy="728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0"/>
              </a:spcAft>
              <a:buClr>
                <a:schemeClr val="dk1"/>
              </a:buClr>
              <a:buSzPts val="990"/>
              <a:buFont typeface="Arial"/>
              <a:buNone/>
            </a:pPr>
            <a:r>
              <a:rPr lang="en" sz="4600" b="1">
                <a:latin typeface="Times New Roman"/>
                <a:ea typeface="Times New Roman"/>
                <a:cs typeface="Times New Roman"/>
                <a:sym typeface="Times New Roman"/>
              </a:rPr>
              <a:t>Assembly Language</a:t>
            </a:r>
            <a:endParaRPr sz="2400">
              <a:latin typeface="Times New Roman"/>
              <a:ea typeface="Times New Roman"/>
              <a:cs typeface="Times New Roman"/>
              <a:sym typeface="Times New Roman"/>
            </a:endParaRPr>
          </a:p>
          <a:p>
            <a:pPr marL="0" lvl="0" indent="0" algn="l" rtl="0">
              <a:lnSpc>
                <a:spcPct val="115000"/>
              </a:lnSpc>
              <a:spcBef>
                <a:spcPts val="1200"/>
              </a:spcBef>
              <a:spcAft>
                <a:spcPts val="1200"/>
              </a:spcAft>
              <a:buClr>
                <a:schemeClr val="dk1"/>
              </a:buClr>
              <a:buSzPct val="27500"/>
              <a:buFont typeface="Arial"/>
              <a:buNone/>
            </a:pPr>
            <a:endParaRPr sz="4000" b="1">
              <a:latin typeface="Times New Roman"/>
              <a:ea typeface="Times New Roman"/>
              <a:cs typeface="Times New Roman"/>
              <a:sym typeface="Times New Roman"/>
            </a:endParaRPr>
          </a:p>
        </p:txBody>
      </p:sp>
      <p:sp>
        <p:nvSpPr>
          <p:cNvPr id="109" name="Google Shape;109;p21"/>
          <p:cNvSpPr txBox="1">
            <a:spLocks noGrp="1"/>
          </p:cNvSpPr>
          <p:nvPr>
            <p:ph type="body" idx="1"/>
          </p:nvPr>
        </p:nvSpPr>
        <p:spPr>
          <a:xfrm>
            <a:off x="121520" y="776875"/>
            <a:ext cx="8520600" cy="3760500"/>
          </a:xfrm>
          <a:prstGeom prst="rect">
            <a:avLst/>
          </a:prstGeom>
        </p:spPr>
        <p:txBody>
          <a:bodyPr spcFirstLastPara="1" wrap="square" lIns="91425" tIns="91425" rIns="91425" bIns="91425" anchor="t" anchorCtr="0">
            <a:noAutofit/>
          </a:bodyPr>
          <a:lstStyle/>
          <a:p>
            <a:pPr algn="just">
              <a:lnSpc>
                <a:spcPct val="100000"/>
              </a:lnSpc>
              <a:buClr>
                <a:schemeClr val="dk1"/>
              </a:buClr>
              <a:buFont typeface="+mj-lt"/>
              <a:buAutoNum type="arabicPeriod" startAt="2"/>
            </a:pPr>
            <a:r>
              <a:rPr lang="en" b="1" dirty="0">
                <a:solidFill>
                  <a:schemeClr val="dk1"/>
                </a:solidFill>
                <a:latin typeface="Times New Roman"/>
                <a:cs typeface="Times New Roman"/>
                <a:sym typeface="Times New Roman"/>
              </a:rPr>
              <a:t>Register-reference or input-output instruction (non-MRI):</a:t>
            </a:r>
          </a:p>
          <a:p>
            <a:pPr marL="457200" lvl="0" indent="-342900" algn="just" rtl="0">
              <a:lnSpc>
                <a:spcPct val="100000"/>
              </a:lnSpc>
              <a:spcBef>
                <a:spcPts val="0"/>
              </a:spcBef>
              <a:spcAft>
                <a:spcPts val="0"/>
              </a:spcAft>
              <a:buClr>
                <a:schemeClr val="dk1"/>
              </a:buClr>
              <a:buSzPts val="1800"/>
              <a:buFont typeface="Times New Roman"/>
              <a:buChar char="●"/>
            </a:pPr>
            <a:r>
              <a:rPr lang="en" dirty="0">
                <a:solidFill>
                  <a:schemeClr val="dk1"/>
                </a:solidFill>
                <a:latin typeface="Times New Roman"/>
                <a:ea typeface="Times New Roman"/>
                <a:cs typeface="Times New Roman"/>
                <a:sym typeface="Times New Roman"/>
              </a:rPr>
              <a:t>A </a:t>
            </a:r>
            <a:r>
              <a:rPr lang="en" b="1" dirty="0">
                <a:solidFill>
                  <a:schemeClr val="dk1"/>
                </a:solidFill>
                <a:latin typeface="Times New Roman"/>
                <a:ea typeface="Times New Roman"/>
                <a:cs typeface="Times New Roman"/>
                <a:sym typeface="Times New Roman"/>
              </a:rPr>
              <a:t>non-MRI</a:t>
            </a:r>
            <a:r>
              <a:rPr lang="en" dirty="0">
                <a:solidFill>
                  <a:schemeClr val="dk1"/>
                </a:solidFill>
                <a:latin typeface="Times New Roman"/>
                <a:ea typeface="Times New Roman"/>
                <a:cs typeface="Times New Roman"/>
                <a:sym typeface="Times New Roman"/>
              </a:rPr>
              <a:t> is defined as an instruction that does not have an address part. </a:t>
            </a:r>
          </a:p>
          <a:p>
            <a:pPr marL="457200" lvl="0" indent="-342900" algn="just" rtl="0">
              <a:lnSpc>
                <a:spcPct val="100000"/>
              </a:lnSpc>
              <a:spcBef>
                <a:spcPts val="0"/>
              </a:spcBef>
              <a:spcAft>
                <a:spcPts val="0"/>
              </a:spcAft>
              <a:buClr>
                <a:schemeClr val="dk1"/>
              </a:buClr>
              <a:buSzPts val="1800"/>
              <a:buFont typeface="Times New Roman"/>
              <a:buChar char="●"/>
            </a:pPr>
            <a:r>
              <a:rPr lang="en" dirty="0">
                <a:solidFill>
                  <a:schemeClr val="dk1"/>
                </a:solidFill>
                <a:latin typeface="Times New Roman"/>
                <a:ea typeface="Times New Roman"/>
                <a:cs typeface="Times New Roman"/>
                <a:sym typeface="Times New Roman"/>
              </a:rPr>
              <a:t>It is recognized in the instruction field of a program by any one of the </a:t>
            </a:r>
            <a:r>
              <a:rPr lang="en" b="1" dirty="0">
                <a:solidFill>
                  <a:schemeClr val="dk1"/>
                </a:solidFill>
                <a:latin typeface="Times New Roman"/>
                <a:ea typeface="Times New Roman"/>
                <a:cs typeface="Times New Roman"/>
                <a:sym typeface="Times New Roman"/>
              </a:rPr>
              <a:t>three-letter symbols </a:t>
            </a:r>
            <a:r>
              <a:rPr lang="en" dirty="0">
                <a:solidFill>
                  <a:schemeClr val="dk1"/>
                </a:solidFill>
                <a:latin typeface="Times New Roman"/>
                <a:ea typeface="Times New Roman"/>
                <a:cs typeface="Times New Roman"/>
                <a:sym typeface="Times New Roman"/>
              </a:rPr>
              <a:t>for the register-reference and input-output instructions. </a:t>
            </a:r>
          </a:p>
          <a:p>
            <a:pPr marL="457200" lvl="0" indent="-342900" algn="just" rtl="0">
              <a:lnSpc>
                <a:spcPct val="100000"/>
              </a:lnSpc>
              <a:spcBef>
                <a:spcPts val="0"/>
              </a:spcBef>
              <a:spcAft>
                <a:spcPts val="0"/>
              </a:spcAft>
              <a:buClr>
                <a:schemeClr val="dk1"/>
              </a:buClr>
              <a:buSzPts val="1800"/>
              <a:buFont typeface="Times New Roman"/>
              <a:buChar char="●"/>
            </a:pPr>
            <a:endParaRPr lang="en" dirty="0">
              <a:solidFill>
                <a:schemeClr val="dk1"/>
              </a:solidFill>
              <a:latin typeface="Times New Roman"/>
              <a:ea typeface="Times New Roman"/>
              <a:cs typeface="Times New Roman"/>
              <a:sym typeface="Times New Roman"/>
            </a:endParaRPr>
          </a:p>
          <a:p>
            <a:pPr marL="457200" lvl="0" indent="-342900" algn="just" rtl="0">
              <a:lnSpc>
                <a:spcPct val="100000"/>
              </a:lnSpc>
              <a:spcBef>
                <a:spcPts val="0"/>
              </a:spcBef>
              <a:spcAft>
                <a:spcPts val="0"/>
              </a:spcAft>
              <a:buClr>
                <a:schemeClr val="dk1"/>
              </a:buClr>
              <a:buSzPts val="1800"/>
              <a:buFont typeface="Times New Roman"/>
              <a:buChar char="●"/>
            </a:pPr>
            <a:endParaRPr lang="en" dirty="0">
              <a:solidFill>
                <a:schemeClr val="dk1"/>
              </a:solidFill>
              <a:latin typeface="Times New Roman"/>
              <a:ea typeface="Times New Roman"/>
              <a:cs typeface="Times New Roman"/>
              <a:sym typeface="Times New Roman"/>
            </a:endParaRPr>
          </a:p>
          <a:p>
            <a:pPr marL="457200" lvl="0" indent="-342900" algn="just" rtl="0">
              <a:lnSpc>
                <a:spcPct val="100000"/>
              </a:lnSpc>
              <a:spcBef>
                <a:spcPts val="0"/>
              </a:spcBef>
              <a:spcAft>
                <a:spcPts val="0"/>
              </a:spcAft>
              <a:buClr>
                <a:schemeClr val="dk1"/>
              </a:buClr>
              <a:buSzPts val="1800"/>
              <a:buFont typeface="Times New Roman"/>
              <a:buChar char="●"/>
            </a:pPr>
            <a:endParaRPr lang="en" dirty="0">
              <a:solidFill>
                <a:schemeClr val="dk1"/>
              </a:solidFill>
              <a:latin typeface="Times New Roman"/>
              <a:ea typeface="Times New Roman"/>
              <a:cs typeface="Times New Roman"/>
              <a:sym typeface="Times New Roman"/>
            </a:endParaRPr>
          </a:p>
          <a:p>
            <a:pPr marL="457200" lvl="0" indent="-342900" algn="just" rtl="0">
              <a:lnSpc>
                <a:spcPct val="100000"/>
              </a:lnSpc>
              <a:spcBef>
                <a:spcPts val="0"/>
              </a:spcBef>
              <a:spcAft>
                <a:spcPts val="0"/>
              </a:spcAft>
              <a:buClr>
                <a:schemeClr val="dk1"/>
              </a:buClr>
              <a:buSzPts val="1800"/>
              <a:buFont typeface="Times New Roman"/>
              <a:buChar char="●"/>
            </a:pPr>
            <a:endParaRPr lang="en" dirty="0">
              <a:solidFill>
                <a:schemeClr val="dk1"/>
              </a:solidFill>
              <a:latin typeface="Times New Roman"/>
              <a:ea typeface="Times New Roman"/>
              <a:cs typeface="Times New Roman"/>
              <a:sym typeface="Times New Roman"/>
            </a:endParaRPr>
          </a:p>
          <a:p>
            <a:pPr marL="457200" lvl="0" indent="0" algn="just" rtl="0">
              <a:lnSpc>
                <a:spcPct val="100000"/>
              </a:lnSpc>
              <a:spcBef>
                <a:spcPts val="0"/>
              </a:spcBef>
              <a:spcAft>
                <a:spcPts val="0"/>
              </a:spcAft>
              <a:buNone/>
            </a:pPr>
            <a:endParaRPr dirty="0">
              <a:solidFill>
                <a:schemeClr val="dk1"/>
              </a:solidFill>
              <a:latin typeface="Times New Roman"/>
              <a:ea typeface="Times New Roman"/>
              <a:cs typeface="Times New Roman"/>
              <a:sym typeface="Times New Roman"/>
            </a:endParaRPr>
          </a:p>
          <a:p>
            <a:pPr marL="0" lvl="0" indent="0" algn="just" rtl="0">
              <a:lnSpc>
                <a:spcPct val="100000"/>
              </a:lnSpc>
              <a:spcBef>
                <a:spcPts val="0"/>
              </a:spcBef>
              <a:spcAft>
                <a:spcPts val="0"/>
              </a:spcAft>
              <a:buNone/>
            </a:pPr>
            <a:endParaRPr dirty="0">
              <a:solidFill>
                <a:schemeClr val="dk1"/>
              </a:solidFill>
              <a:latin typeface="Times New Roman"/>
              <a:ea typeface="Times New Roman"/>
              <a:cs typeface="Times New Roman"/>
              <a:sym typeface="Times New Roman"/>
            </a:endParaRPr>
          </a:p>
        </p:txBody>
      </p:sp>
      <p:pic>
        <p:nvPicPr>
          <p:cNvPr id="6" name="Picture 5">
            <a:extLst>
              <a:ext uri="{FF2B5EF4-FFF2-40B4-BE49-F238E27FC236}">
                <a16:creationId xmlns:a16="http://schemas.microsoft.com/office/drawing/2014/main" id="{434F82B0-C2C2-4718-B07C-31419E77F564}"/>
              </a:ext>
            </a:extLst>
          </p:cNvPr>
          <p:cNvPicPr>
            <a:picLocks noChangeAspect="1"/>
          </p:cNvPicPr>
          <p:nvPr/>
        </p:nvPicPr>
        <p:blipFill>
          <a:blip r:embed="rId3"/>
          <a:stretch>
            <a:fillRect/>
          </a:stretch>
        </p:blipFill>
        <p:spPr>
          <a:xfrm>
            <a:off x="976118" y="2727453"/>
            <a:ext cx="5639587" cy="98121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21"/>
          <p:cNvSpPr txBox="1">
            <a:spLocks noGrp="1"/>
          </p:cNvSpPr>
          <p:nvPr>
            <p:ph type="title"/>
          </p:nvPr>
        </p:nvSpPr>
        <p:spPr>
          <a:xfrm>
            <a:off x="6900" y="-27675"/>
            <a:ext cx="8520600" cy="728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0"/>
              </a:spcAft>
              <a:buClr>
                <a:schemeClr val="dk1"/>
              </a:buClr>
              <a:buSzPts val="990"/>
              <a:buFont typeface="Arial"/>
              <a:buNone/>
            </a:pPr>
            <a:r>
              <a:rPr lang="en" sz="4600" b="1">
                <a:latin typeface="Times New Roman"/>
                <a:ea typeface="Times New Roman"/>
                <a:cs typeface="Times New Roman"/>
                <a:sym typeface="Times New Roman"/>
              </a:rPr>
              <a:t>Assembly Language</a:t>
            </a:r>
            <a:endParaRPr sz="2400">
              <a:latin typeface="Times New Roman"/>
              <a:ea typeface="Times New Roman"/>
              <a:cs typeface="Times New Roman"/>
              <a:sym typeface="Times New Roman"/>
            </a:endParaRPr>
          </a:p>
          <a:p>
            <a:pPr marL="0" lvl="0" indent="0" algn="l" rtl="0">
              <a:lnSpc>
                <a:spcPct val="115000"/>
              </a:lnSpc>
              <a:spcBef>
                <a:spcPts val="1200"/>
              </a:spcBef>
              <a:spcAft>
                <a:spcPts val="1200"/>
              </a:spcAft>
              <a:buClr>
                <a:schemeClr val="dk1"/>
              </a:buClr>
              <a:buSzPct val="27500"/>
              <a:buFont typeface="Arial"/>
              <a:buNone/>
            </a:pPr>
            <a:endParaRPr sz="4000" b="1">
              <a:latin typeface="Times New Roman"/>
              <a:ea typeface="Times New Roman"/>
              <a:cs typeface="Times New Roman"/>
              <a:sym typeface="Times New Roman"/>
            </a:endParaRPr>
          </a:p>
        </p:txBody>
      </p:sp>
      <p:sp>
        <p:nvSpPr>
          <p:cNvPr id="109" name="Google Shape;109;p21"/>
          <p:cNvSpPr txBox="1">
            <a:spLocks noGrp="1"/>
          </p:cNvSpPr>
          <p:nvPr>
            <p:ph type="body" idx="1"/>
          </p:nvPr>
        </p:nvSpPr>
        <p:spPr>
          <a:xfrm>
            <a:off x="121520" y="776875"/>
            <a:ext cx="8520600" cy="3760500"/>
          </a:xfrm>
          <a:prstGeom prst="rect">
            <a:avLst/>
          </a:prstGeom>
        </p:spPr>
        <p:txBody>
          <a:bodyPr spcFirstLastPara="1" wrap="square" lIns="91425" tIns="91425" rIns="91425" bIns="91425" anchor="t" anchorCtr="0">
            <a:noAutofit/>
          </a:bodyPr>
          <a:lstStyle/>
          <a:p>
            <a:pPr marL="457200" indent="-342900" algn="just">
              <a:buClr>
                <a:schemeClr val="dk1"/>
              </a:buClr>
              <a:buSzPts val="1800"/>
              <a:buFont typeface="+mj-lt"/>
              <a:buAutoNum type="arabicPeriod" startAt="3"/>
            </a:pPr>
            <a:r>
              <a:rPr lang="en-US" sz="1800" b="1" dirty="0">
                <a:solidFill>
                  <a:schemeClr val="dk1"/>
                </a:solidFill>
                <a:latin typeface="Times New Roman"/>
                <a:cs typeface="Times New Roman"/>
                <a:sym typeface="Times New Roman"/>
              </a:rPr>
              <a:t>Pseudo instruction: </a:t>
            </a:r>
          </a:p>
          <a:p>
            <a:pPr algn="just">
              <a:lnSpc>
                <a:spcPct val="100000"/>
              </a:lnSpc>
              <a:buClr>
                <a:schemeClr val="dk1"/>
              </a:buClr>
              <a:buFont typeface="Times New Roman"/>
              <a:buChar char="●"/>
            </a:pPr>
            <a:r>
              <a:rPr lang="en-US" dirty="0">
                <a:solidFill>
                  <a:schemeClr val="dk1"/>
                </a:solidFill>
                <a:latin typeface="Times New Roman"/>
                <a:cs typeface="Times New Roman"/>
                <a:sym typeface="Times New Roman"/>
              </a:rPr>
              <a:t>It is </a:t>
            </a:r>
            <a:r>
              <a:rPr lang="en-US" b="1" dirty="0">
                <a:solidFill>
                  <a:schemeClr val="dk1"/>
                </a:solidFill>
                <a:latin typeface="Times New Roman"/>
                <a:cs typeface="Times New Roman"/>
                <a:sym typeface="Times New Roman"/>
              </a:rPr>
              <a:t>not a machine instruction </a:t>
            </a:r>
            <a:r>
              <a:rPr lang="en-US" dirty="0">
                <a:solidFill>
                  <a:schemeClr val="dk1"/>
                </a:solidFill>
                <a:latin typeface="Times New Roman"/>
                <a:cs typeface="Times New Roman"/>
                <a:sym typeface="Times New Roman"/>
              </a:rPr>
              <a:t>but rather an instruction to the assembler that </a:t>
            </a:r>
            <a:r>
              <a:rPr lang="en-US" dirty="0">
                <a:solidFill>
                  <a:schemeClr val="dk1"/>
                </a:solidFill>
                <a:latin typeface="Times New Roman"/>
                <a:cs typeface="Times New Roman"/>
              </a:rPr>
              <a:t>helps in the translation process.</a:t>
            </a:r>
            <a:endParaRPr lang="en-US" dirty="0">
              <a:solidFill>
                <a:schemeClr val="dk1"/>
              </a:solidFill>
              <a:latin typeface="Times New Roman"/>
              <a:cs typeface="Times New Roman"/>
              <a:sym typeface="Times New Roman"/>
            </a:endParaRPr>
          </a:p>
          <a:p>
            <a:pPr algn="just">
              <a:lnSpc>
                <a:spcPct val="100000"/>
              </a:lnSpc>
              <a:buClr>
                <a:schemeClr val="dk1"/>
              </a:buClr>
              <a:buFont typeface="Times New Roman"/>
              <a:buChar char="●"/>
            </a:pPr>
            <a:r>
              <a:rPr lang="en-US" dirty="0">
                <a:solidFill>
                  <a:schemeClr val="dk1"/>
                </a:solidFill>
                <a:latin typeface="Times New Roman"/>
                <a:cs typeface="Times New Roman"/>
              </a:rPr>
              <a:t>They are used to </a:t>
            </a:r>
            <a:r>
              <a:rPr lang="en-US" b="1" dirty="0">
                <a:solidFill>
                  <a:schemeClr val="dk1"/>
                </a:solidFill>
                <a:latin typeface="Times New Roman"/>
                <a:cs typeface="Times New Roman"/>
              </a:rPr>
              <a:t>simplify the process of writing and reading assembly language code. </a:t>
            </a:r>
          </a:p>
          <a:p>
            <a:pPr algn="just">
              <a:lnSpc>
                <a:spcPct val="100000"/>
              </a:lnSpc>
              <a:buClr>
                <a:schemeClr val="dk1"/>
              </a:buClr>
              <a:buFont typeface="Times New Roman"/>
              <a:buChar char="●"/>
            </a:pPr>
            <a:r>
              <a:rPr lang="en-US" dirty="0">
                <a:solidFill>
                  <a:schemeClr val="dk1"/>
                </a:solidFill>
                <a:latin typeface="Times New Roman"/>
                <a:cs typeface="Times New Roman"/>
              </a:rPr>
              <a:t>Pseudo Instructions are </a:t>
            </a:r>
            <a:r>
              <a:rPr lang="en-US" b="1" dirty="0">
                <a:solidFill>
                  <a:schemeClr val="dk1"/>
                </a:solidFill>
                <a:latin typeface="Times New Roman"/>
                <a:cs typeface="Times New Roman"/>
              </a:rPr>
              <a:t>special commands to the assembler about the positioning of the program.</a:t>
            </a:r>
          </a:p>
          <a:p>
            <a:pPr algn="just">
              <a:lnSpc>
                <a:spcPct val="100000"/>
              </a:lnSpc>
              <a:buClr>
                <a:schemeClr val="dk1"/>
              </a:buClr>
              <a:buFont typeface="Times New Roman"/>
              <a:buChar char="●"/>
            </a:pPr>
            <a:r>
              <a:rPr lang="en-US" dirty="0">
                <a:solidFill>
                  <a:schemeClr val="dk1"/>
                </a:solidFill>
                <a:latin typeface="Times New Roman"/>
                <a:cs typeface="Times New Roman"/>
              </a:rPr>
              <a:t>The pseudo instructions </a:t>
            </a:r>
            <a:r>
              <a:rPr lang="en-US" b="1" dirty="0">
                <a:solidFill>
                  <a:schemeClr val="dk1"/>
                </a:solidFill>
                <a:latin typeface="Times New Roman"/>
                <a:cs typeface="Times New Roman"/>
              </a:rPr>
              <a:t>varied from version to version of the assembler</a:t>
            </a:r>
            <a:r>
              <a:rPr lang="en-US" dirty="0">
                <a:solidFill>
                  <a:schemeClr val="dk1"/>
                </a:solidFill>
                <a:latin typeface="Times New Roman"/>
                <a:cs typeface="Times New Roman"/>
              </a:rPr>
              <a:t>.</a:t>
            </a:r>
          </a:p>
          <a:p>
            <a:pPr algn="just">
              <a:lnSpc>
                <a:spcPct val="100000"/>
              </a:lnSpc>
              <a:buClr>
                <a:schemeClr val="dk1"/>
              </a:buClr>
              <a:buFont typeface="Times New Roman"/>
              <a:buChar char="●"/>
            </a:pPr>
            <a:r>
              <a:rPr lang="en-US" dirty="0">
                <a:solidFill>
                  <a:schemeClr val="dk1"/>
                </a:solidFill>
                <a:latin typeface="Times New Roman"/>
                <a:cs typeface="Times New Roman"/>
              </a:rPr>
              <a:t>It is an instruction to the assembler that </a:t>
            </a:r>
            <a:r>
              <a:rPr lang="en-US" b="1" dirty="0">
                <a:solidFill>
                  <a:schemeClr val="dk1"/>
                </a:solidFill>
                <a:latin typeface="Times New Roman"/>
                <a:cs typeface="Times New Roman"/>
              </a:rPr>
              <a:t>does not generate any machine code</a:t>
            </a:r>
            <a:r>
              <a:rPr lang="en-US" dirty="0">
                <a:solidFill>
                  <a:schemeClr val="dk1"/>
                </a:solidFill>
                <a:latin typeface="Times New Roman"/>
                <a:cs typeface="Times New Roman"/>
              </a:rPr>
              <a:t>.</a:t>
            </a:r>
          </a:p>
          <a:p>
            <a:pPr algn="just">
              <a:lnSpc>
                <a:spcPct val="100000"/>
              </a:lnSpc>
              <a:buClr>
                <a:schemeClr val="dk1"/>
              </a:buClr>
              <a:buFont typeface="Times New Roman"/>
              <a:buChar char="●"/>
            </a:pPr>
            <a:r>
              <a:rPr lang="en-US" dirty="0">
                <a:solidFill>
                  <a:schemeClr val="dk1"/>
                </a:solidFill>
                <a:latin typeface="Times New Roman"/>
                <a:cs typeface="Times New Roman"/>
                <a:sym typeface="Times New Roman"/>
              </a:rPr>
              <a:t>It gives basic information about the assembler to the programmer.</a:t>
            </a:r>
            <a:endParaRPr dirty="0">
              <a:solidFill>
                <a:schemeClr val="dk1"/>
              </a:solidFill>
              <a:latin typeface="Times New Roman"/>
              <a:cs typeface="Times New Roman"/>
              <a:sym typeface="Times New Roman"/>
            </a:endParaRPr>
          </a:p>
          <a:p>
            <a:pPr marL="457200" lvl="0" indent="0" algn="just" rtl="0">
              <a:lnSpc>
                <a:spcPct val="100000"/>
              </a:lnSpc>
              <a:spcBef>
                <a:spcPts val="0"/>
              </a:spcBef>
              <a:spcAft>
                <a:spcPts val="0"/>
              </a:spcAft>
              <a:buNone/>
            </a:pPr>
            <a:endParaRPr dirty="0">
              <a:solidFill>
                <a:schemeClr val="dk1"/>
              </a:solidFill>
              <a:latin typeface="Times New Roman"/>
              <a:ea typeface="Times New Roman"/>
              <a:cs typeface="Times New Roman"/>
              <a:sym typeface="Times New Roman"/>
            </a:endParaRPr>
          </a:p>
          <a:p>
            <a:pPr marL="0" lvl="0" indent="0" algn="just" rtl="0">
              <a:lnSpc>
                <a:spcPct val="100000"/>
              </a:lnSpc>
              <a:spcBef>
                <a:spcPts val="0"/>
              </a:spcBef>
              <a:spcAft>
                <a:spcPts val="0"/>
              </a:spcAft>
              <a:buNone/>
            </a:pPr>
            <a:endParaRPr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3639491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22"/>
          <p:cNvSpPr txBox="1">
            <a:spLocks noGrp="1"/>
          </p:cNvSpPr>
          <p:nvPr>
            <p:ph type="title"/>
          </p:nvPr>
        </p:nvSpPr>
        <p:spPr>
          <a:xfrm>
            <a:off x="6900" y="-76841"/>
            <a:ext cx="8520600" cy="776087"/>
          </a:xfrm>
          <a:prstGeom prst="rect">
            <a:avLst/>
          </a:prstGeom>
        </p:spPr>
        <p:txBody>
          <a:bodyPr spcFirstLastPara="1" wrap="square" lIns="91425" tIns="91425" rIns="91425" bIns="91425" anchor="t" anchorCtr="0">
            <a:noAutofit/>
          </a:bodyPr>
          <a:lstStyle/>
          <a:p>
            <a:pPr>
              <a:lnSpc>
                <a:spcPct val="115000"/>
              </a:lnSpc>
              <a:buSzPts val="990"/>
            </a:pPr>
            <a:r>
              <a:rPr lang="en-US" sz="3600" b="1" dirty="0">
                <a:latin typeface="Times New Roman"/>
                <a:cs typeface="Times New Roman"/>
                <a:sym typeface="Times New Roman"/>
              </a:rPr>
              <a:t>Pseudo instruction</a:t>
            </a:r>
            <a:br>
              <a:rPr lang="en-US" sz="3600" b="1" dirty="0">
                <a:latin typeface="Times New Roman"/>
                <a:cs typeface="Times New Roman"/>
                <a:sym typeface="Times New Roman"/>
              </a:rPr>
            </a:br>
            <a:endParaRPr sz="3600" b="1" dirty="0">
              <a:latin typeface="Times New Roman"/>
              <a:cs typeface="Times New Roman"/>
              <a:sym typeface="Times New Roman"/>
            </a:endParaRPr>
          </a:p>
          <a:p>
            <a:pPr marL="0" lvl="0" indent="0" algn="l" rtl="0">
              <a:lnSpc>
                <a:spcPct val="115000"/>
              </a:lnSpc>
              <a:spcBef>
                <a:spcPts val="1200"/>
              </a:spcBef>
              <a:spcAft>
                <a:spcPts val="1200"/>
              </a:spcAft>
              <a:buClr>
                <a:schemeClr val="dk1"/>
              </a:buClr>
              <a:buSzPct val="27500"/>
              <a:buFont typeface="Arial"/>
              <a:buNone/>
            </a:pPr>
            <a:endParaRPr b="1" dirty="0">
              <a:latin typeface="Times New Roman"/>
              <a:ea typeface="Times New Roman"/>
              <a:cs typeface="Times New Roman"/>
              <a:sym typeface="Times New Roman"/>
            </a:endParaRPr>
          </a:p>
        </p:txBody>
      </p:sp>
      <p:sp>
        <p:nvSpPr>
          <p:cNvPr id="115" name="Google Shape;115;p22"/>
          <p:cNvSpPr txBox="1"/>
          <p:nvPr/>
        </p:nvSpPr>
        <p:spPr>
          <a:xfrm>
            <a:off x="102100" y="605938"/>
            <a:ext cx="8818800" cy="2381100"/>
          </a:xfrm>
          <a:prstGeom prst="rect">
            <a:avLst/>
          </a:prstGeom>
          <a:noFill/>
          <a:ln>
            <a:noFill/>
          </a:ln>
        </p:spPr>
        <p:txBody>
          <a:bodyPr spcFirstLastPara="1" wrap="square" lIns="91425" tIns="91425" rIns="91425" bIns="91425" anchor="t" anchorCtr="0">
            <a:noAutofit/>
          </a:bodyPr>
          <a:lstStyle/>
          <a:p>
            <a:pPr marL="457200" indent="-342900" algn="just">
              <a:buClr>
                <a:schemeClr val="dk1"/>
              </a:buClr>
              <a:buSzPts val="1800"/>
              <a:buFont typeface="Times New Roman"/>
              <a:buChar char="●"/>
            </a:pPr>
            <a:r>
              <a:rPr lang="en" sz="1800" dirty="0">
                <a:solidFill>
                  <a:schemeClr val="dk1"/>
                </a:solidFill>
                <a:latin typeface="Times New Roman"/>
                <a:cs typeface="Times New Roman"/>
                <a:sym typeface="Times New Roman"/>
              </a:rPr>
              <a:t>The ORG (origin) pseudo ins</a:t>
            </a:r>
            <a:r>
              <a:rPr lang="en" sz="1800" dirty="0">
                <a:solidFill>
                  <a:schemeClr val="dk1"/>
                </a:solidFill>
                <a:latin typeface="Times New Roman"/>
                <a:ea typeface="Times New Roman"/>
                <a:cs typeface="Times New Roman"/>
                <a:sym typeface="Times New Roman"/>
              </a:rPr>
              <a:t>truction informs the assembler that the instruction or operand in the following line is to be placed in a memory location specified by the number next to ORG.  </a:t>
            </a:r>
            <a:endParaRPr sz="1800" dirty="0">
              <a:solidFill>
                <a:schemeClr val="dk1"/>
              </a:solidFill>
              <a:latin typeface="Times New Roman"/>
              <a:ea typeface="Times New Roman"/>
              <a:cs typeface="Times New Roman"/>
              <a:sym typeface="Times New Roman"/>
            </a:endParaRPr>
          </a:p>
          <a:p>
            <a:pPr marL="457200" lvl="0" indent="-342900" algn="just" rtl="0">
              <a:spcBef>
                <a:spcPts val="0"/>
              </a:spcBef>
              <a:spcAft>
                <a:spcPts val="0"/>
              </a:spcAft>
              <a:buClr>
                <a:schemeClr val="dk1"/>
              </a:buClr>
              <a:buSzPts val="1800"/>
              <a:buFont typeface="Times New Roman"/>
              <a:buChar char="●"/>
            </a:pPr>
            <a:r>
              <a:rPr lang="en" sz="1800" dirty="0">
                <a:solidFill>
                  <a:schemeClr val="dk1"/>
                </a:solidFill>
                <a:latin typeface="Times New Roman"/>
                <a:ea typeface="Times New Roman"/>
                <a:cs typeface="Times New Roman"/>
                <a:sym typeface="Times New Roman"/>
              </a:rPr>
              <a:t>The END symbol is placed at the end of the program to inform the assembler that the program is terminated.  </a:t>
            </a:r>
            <a:endParaRPr sz="1800" dirty="0">
              <a:solidFill>
                <a:schemeClr val="dk1"/>
              </a:solidFill>
              <a:latin typeface="Times New Roman"/>
              <a:ea typeface="Times New Roman"/>
              <a:cs typeface="Times New Roman"/>
              <a:sym typeface="Times New Roman"/>
            </a:endParaRPr>
          </a:p>
          <a:p>
            <a:pPr marL="457200" lvl="0" indent="-342900" algn="just" rtl="0">
              <a:spcBef>
                <a:spcPts val="0"/>
              </a:spcBef>
              <a:spcAft>
                <a:spcPts val="0"/>
              </a:spcAft>
              <a:buClr>
                <a:schemeClr val="dk1"/>
              </a:buClr>
              <a:buSzPts val="1800"/>
              <a:buFont typeface="Times New Roman"/>
              <a:buChar char="●"/>
            </a:pPr>
            <a:r>
              <a:rPr lang="en" sz="1800" dirty="0">
                <a:solidFill>
                  <a:schemeClr val="dk1"/>
                </a:solidFill>
                <a:latin typeface="Times New Roman"/>
                <a:ea typeface="Times New Roman"/>
                <a:cs typeface="Times New Roman"/>
                <a:sym typeface="Times New Roman"/>
              </a:rPr>
              <a:t>The other two pseudo instructions specify the radix of the operand and tell the assembler how to convert the listed number to a binary number. </a:t>
            </a:r>
            <a:endParaRPr sz="18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sz="1800" dirty="0">
              <a:solidFill>
                <a:schemeClr val="dk2"/>
              </a:solidFill>
            </a:endParaRPr>
          </a:p>
        </p:txBody>
      </p:sp>
      <p:pic>
        <p:nvPicPr>
          <p:cNvPr id="116" name="Google Shape;116;p22"/>
          <p:cNvPicPr preferRelativeResize="0"/>
          <p:nvPr/>
        </p:nvPicPr>
        <p:blipFill rotWithShape="1">
          <a:blip r:embed="rId3">
            <a:alphaModFix/>
          </a:blip>
          <a:srcRect l="9056" t="30645" r="12604" b="30513"/>
          <a:stretch/>
        </p:blipFill>
        <p:spPr>
          <a:xfrm>
            <a:off x="841187" y="2750884"/>
            <a:ext cx="7233049" cy="211447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3"/>
          <p:cNvSpPr txBox="1">
            <a:spLocks noGrp="1"/>
          </p:cNvSpPr>
          <p:nvPr>
            <p:ph type="title"/>
          </p:nvPr>
        </p:nvSpPr>
        <p:spPr>
          <a:xfrm>
            <a:off x="311700" y="-12175"/>
            <a:ext cx="8520600" cy="57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990"/>
              <a:buFont typeface="Arial"/>
              <a:buNone/>
            </a:pPr>
            <a:r>
              <a:rPr lang="en" sz="2640" b="1">
                <a:latin typeface="Times New Roman"/>
                <a:ea typeface="Times New Roman"/>
                <a:cs typeface="Times New Roman"/>
                <a:sym typeface="Times New Roman"/>
              </a:rPr>
              <a:t>Assembly Language Program to Subtract Two Numbers</a:t>
            </a:r>
            <a:endParaRPr sz="2160">
              <a:latin typeface="Times New Roman"/>
              <a:ea typeface="Times New Roman"/>
              <a:cs typeface="Times New Roman"/>
              <a:sym typeface="Times New Roman"/>
            </a:endParaRPr>
          </a:p>
          <a:p>
            <a:pPr marL="0" lvl="0" indent="0" algn="l" rtl="0">
              <a:lnSpc>
                <a:spcPct val="115000"/>
              </a:lnSpc>
              <a:spcBef>
                <a:spcPts val="1200"/>
              </a:spcBef>
              <a:spcAft>
                <a:spcPts val="1200"/>
              </a:spcAft>
              <a:buClr>
                <a:schemeClr val="dk1"/>
              </a:buClr>
              <a:buSzPts val="990"/>
              <a:buFont typeface="Arial"/>
              <a:buNone/>
            </a:pPr>
            <a:endParaRPr sz="3600" b="1">
              <a:latin typeface="Times New Roman"/>
              <a:ea typeface="Times New Roman"/>
              <a:cs typeface="Times New Roman"/>
              <a:sym typeface="Times New Roman"/>
            </a:endParaRPr>
          </a:p>
        </p:txBody>
      </p:sp>
      <p:sp>
        <p:nvSpPr>
          <p:cNvPr id="122" name="Google Shape;122;p23"/>
          <p:cNvSpPr txBox="1"/>
          <p:nvPr/>
        </p:nvSpPr>
        <p:spPr>
          <a:xfrm>
            <a:off x="-82982" y="816175"/>
            <a:ext cx="4366500" cy="4166700"/>
          </a:xfrm>
          <a:prstGeom prst="rect">
            <a:avLst/>
          </a:prstGeom>
          <a:noFill/>
          <a:ln>
            <a:noFill/>
          </a:ln>
        </p:spPr>
        <p:txBody>
          <a:bodyPr spcFirstLastPara="1" wrap="square" lIns="91425" tIns="91425" rIns="91425" bIns="91425" anchor="t" anchorCtr="0">
            <a:noAutofit/>
          </a:bodyPr>
          <a:lstStyle/>
          <a:p>
            <a:pPr marL="457200" lvl="0" indent="-342900" algn="just" rtl="0">
              <a:lnSpc>
                <a:spcPct val="90000"/>
              </a:lnSpc>
              <a:spcBef>
                <a:spcPts val="1000"/>
              </a:spcBef>
              <a:spcAft>
                <a:spcPts val="0"/>
              </a:spcAft>
              <a:buClr>
                <a:schemeClr val="dk1"/>
              </a:buClr>
              <a:buSzPts val="1800"/>
              <a:buFont typeface="Times New Roman"/>
              <a:buChar char="●"/>
            </a:pPr>
            <a:r>
              <a:rPr lang="en" sz="1800" dirty="0">
                <a:solidFill>
                  <a:schemeClr val="dk1"/>
                </a:solidFill>
                <a:latin typeface="Times New Roman"/>
                <a:ea typeface="Times New Roman"/>
                <a:cs typeface="Times New Roman"/>
                <a:sym typeface="Times New Roman"/>
              </a:rPr>
              <a:t>The first line has the pseudo instruction ORG to define the origin of the program at memory location (100)</a:t>
            </a:r>
            <a:r>
              <a:rPr lang="en" sz="1800" baseline="-25000" dirty="0">
                <a:solidFill>
                  <a:schemeClr val="dk1"/>
                </a:solidFill>
                <a:latin typeface="Times New Roman"/>
                <a:ea typeface="Times New Roman"/>
                <a:cs typeface="Times New Roman"/>
                <a:sym typeface="Times New Roman"/>
              </a:rPr>
              <a:t>16</a:t>
            </a:r>
            <a:r>
              <a:rPr lang="en" sz="1800" dirty="0">
                <a:solidFill>
                  <a:schemeClr val="dk1"/>
                </a:solidFill>
                <a:latin typeface="Times New Roman"/>
                <a:ea typeface="Times New Roman"/>
                <a:cs typeface="Times New Roman"/>
                <a:sym typeface="Times New Roman"/>
              </a:rPr>
              <a:t>. </a:t>
            </a:r>
          </a:p>
          <a:p>
            <a:pPr marL="457200" lvl="0" indent="-342900" algn="just" rtl="0">
              <a:lnSpc>
                <a:spcPct val="90000"/>
              </a:lnSpc>
              <a:spcBef>
                <a:spcPts val="1000"/>
              </a:spcBef>
              <a:spcAft>
                <a:spcPts val="0"/>
              </a:spcAft>
              <a:buClr>
                <a:schemeClr val="dk1"/>
              </a:buClr>
              <a:buSzPts val="1800"/>
              <a:buFont typeface="Times New Roman"/>
              <a:buChar char="●"/>
            </a:pPr>
            <a:r>
              <a:rPr lang="en" sz="1800" dirty="0">
                <a:solidFill>
                  <a:schemeClr val="dk1"/>
                </a:solidFill>
                <a:latin typeface="Times New Roman"/>
                <a:ea typeface="Times New Roman"/>
                <a:cs typeface="Times New Roman"/>
                <a:sym typeface="Times New Roman"/>
              </a:rPr>
              <a:t>The next six lines define machine instructions, and the last four have pseudo instructions.  </a:t>
            </a:r>
          </a:p>
          <a:p>
            <a:pPr marL="457200" lvl="0" indent="-342900" algn="just" rtl="0">
              <a:lnSpc>
                <a:spcPct val="90000"/>
              </a:lnSpc>
              <a:spcBef>
                <a:spcPts val="1000"/>
              </a:spcBef>
              <a:spcAft>
                <a:spcPts val="0"/>
              </a:spcAft>
              <a:buClr>
                <a:schemeClr val="dk1"/>
              </a:buClr>
              <a:buSzPts val="1800"/>
              <a:buFont typeface="Times New Roman"/>
              <a:buChar char="●"/>
            </a:pPr>
            <a:r>
              <a:rPr lang="en" sz="1800" dirty="0">
                <a:solidFill>
                  <a:schemeClr val="dk1"/>
                </a:solidFill>
                <a:latin typeface="Times New Roman"/>
                <a:ea typeface="Times New Roman"/>
                <a:cs typeface="Times New Roman"/>
                <a:sym typeface="Times New Roman"/>
              </a:rPr>
              <a:t>Three symbolic addresses have been used and each is listed in column 1 as a label.</a:t>
            </a:r>
            <a:endParaRPr sz="1800" dirty="0">
              <a:solidFill>
                <a:schemeClr val="dk1"/>
              </a:solidFill>
              <a:latin typeface="Times New Roman"/>
              <a:ea typeface="Times New Roman"/>
              <a:cs typeface="Times New Roman"/>
              <a:sym typeface="Times New Roman"/>
            </a:endParaRPr>
          </a:p>
          <a:p>
            <a:pPr marL="457200" lvl="0" indent="-342900" algn="just" rtl="0">
              <a:lnSpc>
                <a:spcPct val="90000"/>
              </a:lnSpc>
              <a:spcBef>
                <a:spcPts val="0"/>
              </a:spcBef>
              <a:spcAft>
                <a:spcPts val="0"/>
              </a:spcAft>
              <a:buClr>
                <a:schemeClr val="dk1"/>
              </a:buClr>
              <a:buSzPts val="1800"/>
              <a:buFont typeface="Times New Roman"/>
              <a:buChar char="●"/>
            </a:pPr>
            <a:r>
              <a:rPr lang="en" sz="1800" dirty="0">
                <a:solidFill>
                  <a:schemeClr val="dk1"/>
                </a:solidFill>
                <a:latin typeface="Times New Roman"/>
                <a:ea typeface="Times New Roman"/>
                <a:cs typeface="Times New Roman"/>
                <a:sym typeface="Times New Roman"/>
              </a:rPr>
              <a:t>When the program is translated into binary code and executed by the computer it will perform a subtraction between two numbers.  </a:t>
            </a:r>
            <a:endParaRPr sz="18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sz="1800" dirty="0">
              <a:solidFill>
                <a:schemeClr val="dk1"/>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3A2CDBA2-A7FE-4230-8A10-0224661A0E19}"/>
              </a:ext>
            </a:extLst>
          </p:cNvPr>
          <p:cNvPicPr>
            <a:picLocks noChangeAspect="1"/>
          </p:cNvPicPr>
          <p:nvPr/>
        </p:nvPicPr>
        <p:blipFill>
          <a:blip r:embed="rId3"/>
          <a:stretch>
            <a:fillRect/>
          </a:stretch>
        </p:blipFill>
        <p:spPr>
          <a:xfrm>
            <a:off x="4487476" y="945976"/>
            <a:ext cx="4449055" cy="3743325"/>
          </a:xfrm>
          <a:prstGeom prst="rect">
            <a:avLst/>
          </a:prstGeom>
        </p:spPr>
      </p:pic>
    </p:spTree>
    <p:extLst>
      <p:ext uri="{BB962C8B-B14F-4D97-AF65-F5344CB8AC3E}">
        <p14:creationId xmlns:p14="http://schemas.microsoft.com/office/powerpoint/2010/main" val="33862372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4"/>
          <p:cNvSpPr txBox="1">
            <a:spLocks noGrp="1"/>
          </p:cNvSpPr>
          <p:nvPr>
            <p:ph type="title"/>
          </p:nvPr>
        </p:nvSpPr>
        <p:spPr>
          <a:xfrm>
            <a:off x="311700" y="-12175"/>
            <a:ext cx="8520600" cy="57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990"/>
              <a:buFont typeface="Arial"/>
              <a:buNone/>
            </a:pPr>
            <a:r>
              <a:rPr lang="en" sz="2640" b="1">
                <a:latin typeface="Times New Roman"/>
                <a:ea typeface="Times New Roman"/>
                <a:cs typeface="Times New Roman"/>
                <a:sym typeface="Times New Roman"/>
              </a:rPr>
              <a:t>Assembly Language Program to Subtract Two Numbers</a:t>
            </a:r>
            <a:endParaRPr sz="2160">
              <a:latin typeface="Times New Roman"/>
              <a:ea typeface="Times New Roman"/>
              <a:cs typeface="Times New Roman"/>
              <a:sym typeface="Times New Roman"/>
            </a:endParaRPr>
          </a:p>
          <a:p>
            <a:pPr marL="0" lvl="0" indent="0" algn="l" rtl="0">
              <a:lnSpc>
                <a:spcPct val="115000"/>
              </a:lnSpc>
              <a:spcBef>
                <a:spcPts val="1200"/>
              </a:spcBef>
              <a:spcAft>
                <a:spcPts val="1200"/>
              </a:spcAft>
              <a:buClr>
                <a:schemeClr val="dk1"/>
              </a:buClr>
              <a:buSzPts val="990"/>
              <a:buFont typeface="Arial"/>
              <a:buNone/>
            </a:pPr>
            <a:endParaRPr sz="3600" b="1">
              <a:latin typeface="Times New Roman"/>
              <a:ea typeface="Times New Roman"/>
              <a:cs typeface="Times New Roman"/>
              <a:sym typeface="Times New Roman"/>
            </a:endParaRPr>
          </a:p>
        </p:txBody>
      </p:sp>
      <p:sp>
        <p:nvSpPr>
          <p:cNvPr id="129" name="Google Shape;129;p24"/>
          <p:cNvSpPr txBox="1"/>
          <p:nvPr/>
        </p:nvSpPr>
        <p:spPr>
          <a:xfrm>
            <a:off x="93750" y="739975"/>
            <a:ext cx="4246200" cy="4166700"/>
          </a:xfrm>
          <a:prstGeom prst="rect">
            <a:avLst/>
          </a:prstGeom>
          <a:noFill/>
          <a:ln>
            <a:noFill/>
          </a:ln>
        </p:spPr>
        <p:txBody>
          <a:bodyPr spcFirstLastPara="1" wrap="square" lIns="91425" tIns="91425" rIns="91425" bIns="91425" anchor="t" anchorCtr="0">
            <a:noAutofit/>
          </a:bodyPr>
          <a:lstStyle/>
          <a:p>
            <a:pPr marL="457200" lvl="0" indent="-342900" algn="just" rtl="0">
              <a:lnSpc>
                <a:spcPct val="90000"/>
              </a:lnSpc>
              <a:spcBef>
                <a:spcPts val="1000"/>
              </a:spcBef>
              <a:spcAft>
                <a:spcPts val="0"/>
              </a:spcAft>
              <a:buClr>
                <a:schemeClr val="dk1"/>
              </a:buClr>
              <a:buSzPts val="1800"/>
              <a:buFont typeface="Times New Roman"/>
              <a:buChar char="●"/>
            </a:pPr>
            <a:r>
              <a:rPr lang="en" sz="1800" dirty="0">
                <a:solidFill>
                  <a:schemeClr val="dk1"/>
                </a:solidFill>
                <a:latin typeface="Times New Roman"/>
                <a:ea typeface="Times New Roman"/>
                <a:cs typeface="Times New Roman"/>
                <a:sym typeface="Times New Roman"/>
              </a:rPr>
              <a:t>The subtraction is performed by adding the minuend to the 2's complement of the subtrahend. </a:t>
            </a:r>
          </a:p>
          <a:p>
            <a:pPr marL="457200" lvl="0" indent="-342900" algn="just" rtl="0">
              <a:lnSpc>
                <a:spcPct val="90000"/>
              </a:lnSpc>
              <a:spcBef>
                <a:spcPts val="1000"/>
              </a:spcBef>
              <a:spcAft>
                <a:spcPts val="0"/>
              </a:spcAft>
              <a:buClr>
                <a:schemeClr val="dk1"/>
              </a:buClr>
              <a:buSzPts val="1800"/>
              <a:buFont typeface="Times New Roman"/>
              <a:buChar char="●"/>
            </a:pPr>
            <a:r>
              <a:rPr lang="en" sz="1800" dirty="0">
                <a:solidFill>
                  <a:schemeClr val="dk1"/>
                </a:solidFill>
                <a:latin typeface="Times New Roman"/>
                <a:ea typeface="Times New Roman"/>
                <a:cs typeface="Times New Roman"/>
                <a:sym typeface="Times New Roman"/>
              </a:rPr>
              <a:t>The subtrahend is a negative number. It is converted into a binary number in signed-2's complement representation because we dictate that all negative numbers be in their 2's complement form.  </a:t>
            </a:r>
            <a:endParaRPr sz="1800" dirty="0">
              <a:solidFill>
                <a:schemeClr val="dk1"/>
              </a:solidFill>
              <a:latin typeface="Times New Roman"/>
              <a:ea typeface="Times New Roman"/>
              <a:cs typeface="Times New Roman"/>
              <a:sym typeface="Times New Roman"/>
            </a:endParaRPr>
          </a:p>
          <a:p>
            <a:pPr marL="457200" lvl="0" indent="-342900" algn="just" rtl="0">
              <a:lnSpc>
                <a:spcPct val="90000"/>
              </a:lnSpc>
              <a:spcBef>
                <a:spcPts val="0"/>
              </a:spcBef>
              <a:spcAft>
                <a:spcPts val="0"/>
              </a:spcAft>
              <a:buClr>
                <a:schemeClr val="dk1"/>
              </a:buClr>
              <a:buSzPts val="1800"/>
              <a:buFont typeface="Times New Roman"/>
              <a:buChar char="●"/>
            </a:pPr>
            <a:r>
              <a:rPr lang="en" sz="1800" dirty="0">
                <a:solidFill>
                  <a:schemeClr val="dk1"/>
                </a:solidFill>
                <a:latin typeface="Times New Roman"/>
                <a:ea typeface="Times New Roman"/>
                <a:cs typeface="Times New Roman"/>
                <a:sym typeface="Times New Roman"/>
              </a:rPr>
              <a:t>When the 2's complement of the subtrahend is taken (by complementing and incrementing the AC), - 23 converts to + 23 and the difference is 83 + (2's complement of -23) = 83 + 23 = 106. </a:t>
            </a:r>
            <a:endParaRPr sz="18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sz="1800" dirty="0">
              <a:solidFill>
                <a:schemeClr val="dk1"/>
              </a:solidFill>
              <a:latin typeface="Times New Roman"/>
              <a:ea typeface="Times New Roman"/>
              <a:cs typeface="Times New Roman"/>
              <a:sym typeface="Times New Roman"/>
            </a:endParaRPr>
          </a:p>
        </p:txBody>
      </p:sp>
      <p:pic>
        <p:nvPicPr>
          <p:cNvPr id="7" name="Picture 6">
            <a:extLst>
              <a:ext uri="{FF2B5EF4-FFF2-40B4-BE49-F238E27FC236}">
                <a16:creationId xmlns:a16="http://schemas.microsoft.com/office/drawing/2014/main" id="{5D029450-FD95-457C-90EB-107CCF876F5A}"/>
              </a:ext>
            </a:extLst>
          </p:cNvPr>
          <p:cNvPicPr>
            <a:picLocks noChangeAspect="1"/>
          </p:cNvPicPr>
          <p:nvPr/>
        </p:nvPicPr>
        <p:blipFill>
          <a:blip r:embed="rId3"/>
          <a:stretch>
            <a:fillRect/>
          </a:stretch>
        </p:blipFill>
        <p:spPr>
          <a:xfrm>
            <a:off x="4487476" y="945976"/>
            <a:ext cx="4449055" cy="374332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4"/>
          <p:cNvSpPr txBox="1">
            <a:spLocks noGrp="1"/>
          </p:cNvSpPr>
          <p:nvPr>
            <p:ph type="title"/>
          </p:nvPr>
        </p:nvSpPr>
        <p:spPr>
          <a:xfrm>
            <a:off x="311700" y="-12175"/>
            <a:ext cx="8520600" cy="57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990"/>
              <a:buFont typeface="Arial"/>
              <a:buNone/>
            </a:pPr>
            <a:r>
              <a:rPr lang="en" sz="2640" b="1">
                <a:latin typeface="Times New Roman"/>
                <a:ea typeface="Times New Roman"/>
                <a:cs typeface="Times New Roman"/>
                <a:sym typeface="Times New Roman"/>
              </a:rPr>
              <a:t>Assembly Language Program to Subtract Two Numbers</a:t>
            </a:r>
            <a:endParaRPr sz="2160">
              <a:latin typeface="Times New Roman"/>
              <a:ea typeface="Times New Roman"/>
              <a:cs typeface="Times New Roman"/>
              <a:sym typeface="Times New Roman"/>
            </a:endParaRPr>
          </a:p>
          <a:p>
            <a:pPr marL="0" lvl="0" indent="0" algn="l" rtl="0">
              <a:lnSpc>
                <a:spcPct val="115000"/>
              </a:lnSpc>
              <a:spcBef>
                <a:spcPts val="1200"/>
              </a:spcBef>
              <a:spcAft>
                <a:spcPts val="1200"/>
              </a:spcAft>
              <a:buClr>
                <a:schemeClr val="dk1"/>
              </a:buClr>
              <a:buSzPts val="990"/>
              <a:buFont typeface="Arial"/>
              <a:buNone/>
            </a:pPr>
            <a:endParaRPr sz="3600" b="1">
              <a:latin typeface="Times New Roman"/>
              <a:ea typeface="Times New Roman"/>
              <a:cs typeface="Times New Roman"/>
              <a:sym typeface="Times New Roman"/>
            </a:endParaRPr>
          </a:p>
        </p:txBody>
      </p:sp>
      <p:graphicFrame>
        <p:nvGraphicFramePr>
          <p:cNvPr id="2" name="Table 1">
            <a:extLst>
              <a:ext uri="{FF2B5EF4-FFF2-40B4-BE49-F238E27FC236}">
                <a16:creationId xmlns:a16="http://schemas.microsoft.com/office/drawing/2014/main" id="{14F6C371-F9D8-43EA-9C40-990759AC79B9}"/>
              </a:ext>
            </a:extLst>
          </p:cNvPr>
          <p:cNvGraphicFramePr>
            <a:graphicFrameLocks noGrp="1"/>
          </p:cNvGraphicFramePr>
          <p:nvPr>
            <p:extLst>
              <p:ext uri="{D42A27DB-BD31-4B8C-83A1-F6EECF244321}">
                <p14:modId xmlns:p14="http://schemas.microsoft.com/office/powerpoint/2010/main" val="1515737589"/>
              </p:ext>
            </p:extLst>
          </p:nvPr>
        </p:nvGraphicFramePr>
        <p:xfrm>
          <a:off x="311150" y="2650991"/>
          <a:ext cx="6835002" cy="2205312"/>
        </p:xfrm>
        <a:graphic>
          <a:graphicData uri="http://schemas.openxmlformats.org/drawingml/2006/table">
            <a:tbl>
              <a:tblPr/>
              <a:tblGrid>
                <a:gridCol w="2278334">
                  <a:extLst>
                    <a:ext uri="{9D8B030D-6E8A-4147-A177-3AD203B41FA5}">
                      <a16:colId xmlns:a16="http://schemas.microsoft.com/office/drawing/2014/main" val="3678367901"/>
                    </a:ext>
                  </a:extLst>
                </a:gridCol>
                <a:gridCol w="2278334">
                  <a:extLst>
                    <a:ext uri="{9D8B030D-6E8A-4147-A177-3AD203B41FA5}">
                      <a16:colId xmlns:a16="http://schemas.microsoft.com/office/drawing/2014/main" val="2994935282"/>
                    </a:ext>
                  </a:extLst>
                </a:gridCol>
                <a:gridCol w="2278334">
                  <a:extLst>
                    <a:ext uri="{9D8B030D-6E8A-4147-A177-3AD203B41FA5}">
                      <a16:colId xmlns:a16="http://schemas.microsoft.com/office/drawing/2014/main" val="3921714338"/>
                    </a:ext>
                  </a:extLst>
                </a:gridCol>
              </a:tblGrid>
              <a:tr h="551328">
                <a:tc>
                  <a:txBody>
                    <a:bodyPr/>
                    <a:lstStyle/>
                    <a:p>
                      <a:r>
                        <a:rPr lang="en-IN" sz="1400"/>
                        <a:t>Operation</a:t>
                      </a:r>
                    </a:p>
                  </a:txBody>
                  <a:tcPr anchor="ctr">
                    <a:lnL>
                      <a:noFill/>
                    </a:lnL>
                    <a:lnR>
                      <a:noFill/>
                    </a:lnR>
                    <a:lnT>
                      <a:noFill/>
                    </a:lnT>
                    <a:lnB>
                      <a:noFill/>
                    </a:lnB>
                  </a:tcPr>
                </a:tc>
                <a:tc>
                  <a:txBody>
                    <a:bodyPr/>
                    <a:lstStyle/>
                    <a:p>
                      <a:r>
                        <a:rPr lang="en-IN" sz="1400"/>
                        <a:t>Binary</a:t>
                      </a:r>
                    </a:p>
                  </a:txBody>
                  <a:tcPr anchor="ctr">
                    <a:lnL>
                      <a:noFill/>
                    </a:lnL>
                    <a:lnR>
                      <a:noFill/>
                    </a:lnR>
                    <a:lnT>
                      <a:noFill/>
                    </a:lnT>
                    <a:lnB>
                      <a:noFill/>
                    </a:lnB>
                  </a:tcPr>
                </a:tc>
                <a:tc>
                  <a:txBody>
                    <a:bodyPr/>
                    <a:lstStyle/>
                    <a:p>
                      <a:r>
                        <a:rPr lang="en-IN" sz="1400"/>
                        <a:t>Meaning</a:t>
                      </a:r>
                    </a:p>
                  </a:txBody>
                  <a:tcPr anchor="ctr">
                    <a:lnL>
                      <a:noFill/>
                    </a:lnL>
                    <a:lnR>
                      <a:noFill/>
                    </a:lnR>
                    <a:lnT>
                      <a:noFill/>
                    </a:lnT>
                    <a:lnB>
                      <a:noFill/>
                    </a:lnB>
                  </a:tcPr>
                </a:tc>
                <a:extLst>
                  <a:ext uri="{0D108BD9-81ED-4DB2-BD59-A6C34878D82A}">
                    <a16:rowId xmlns:a16="http://schemas.microsoft.com/office/drawing/2014/main" val="171127063"/>
                  </a:ext>
                </a:extLst>
              </a:tr>
              <a:tr h="551328">
                <a:tc>
                  <a:txBody>
                    <a:bodyPr/>
                    <a:lstStyle/>
                    <a:p>
                      <a:r>
                        <a:rPr lang="en-IN" sz="1400"/>
                        <a:t>Initial (SUB)</a:t>
                      </a:r>
                    </a:p>
                  </a:txBody>
                  <a:tcPr anchor="ctr">
                    <a:lnL>
                      <a:noFill/>
                    </a:lnL>
                    <a:lnR>
                      <a:noFill/>
                    </a:lnR>
                    <a:lnT>
                      <a:noFill/>
                    </a:lnT>
                    <a:lnB>
                      <a:noFill/>
                    </a:lnB>
                  </a:tcPr>
                </a:tc>
                <a:tc>
                  <a:txBody>
                    <a:bodyPr/>
                    <a:lstStyle/>
                    <a:p>
                      <a:r>
                        <a:rPr lang="en-IN" sz="1400" dirty="0"/>
                        <a:t>11101001</a:t>
                      </a:r>
                    </a:p>
                  </a:txBody>
                  <a:tcPr anchor="ctr">
                    <a:lnL>
                      <a:noFill/>
                    </a:lnL>
                    <a:lnR>
                      <a:noFill/>
                    </a:lnR>
                    <a:lnT>
                      <a:noFill/>
                    </a:lnT>
                    <a:lnB>
                      <a:noFill/>
                    </a:lnB>
                  </a:tcPr>
                </a:tc>
                <a:tc>
                  <a:txBody>
                    <a:bodyPr/>
                    <a:lstStyle/>
                    <a:p>
                      <a:r>
                        <a:rPr lang="en-IN" sz="1400" dirty="0"/>
                        <a:t>-23</a:t>
                      </a:r>
                    </a:p>
                  </a:txBody>
                  <a:tcPr anchor="ctr">
                    <a:lnL>
                      <a:noFill/>
                    </a:lnL>
                    <a:lnR>
                      <a:noFill/>
                    </a:lnR>
                    <a:lnT>
                      <a:noFill/>
                    </a:lnT>
                    <a:lnB>
                      <a:noFill/>
                    </a:lnB>
                  </a:tcPr>
                </a:tc>
                <a:extLst>
                  <a:ext uri="{0D108BD9-81ED-4DB2-BD59-A6C34878D82A}">
                    <a16:rowId xmlns:a16="http://schemas.microsoft.com/office/drawing/2014/main" val="1538964867"/>
                  </a:ext>
                </a:extLst>
              </a:tr>
              <a:tr h="551328">
                <a:tc>
                  <a:txBody>
                    <a:bodyPr/>
                    <a:lstStyle/>
                    <a:p>
                      <a:r>
                        <a:rPr lang="en-IN" sz="1400"/>
                        <a:t>After CMA</a:t>
                      </a:r>
                    </a:p>
                  </a:txBody>
                  <a:tcPr anchor="ctr">
                    <a:lnL>
                      <a:noFill/>
                    </a:lnL>
                    <a:lnR>
                      <a:noFill/>
                    </a:lnR>
                    <a:lnT>
                      <a:noFill/>
                    </a:lnT>
                    <a:lnB>
                      <a:noFill/>
                    </a:lnB>
                  </a:tcPr>
                </a:tc>
                <a:tc>
                  <a:txBody>
                    <a:bodyPr/>
                    <a:lstStyle/>
                    <a:p>
                      <a:r>
                        <a:rPr lang="en-IN" sz="1400"/>
                        <a:t>00010110</a:t>
                      </a:r>
                    </a:p>
                  </a:txBody>
                  <a:tcPr anchor="ctr">
                    <a:lnL>
                      <a:noFill/>
                    </a:lnL>
                    <a:lnR>
                      <a:noFill/>
                    </a:lnR>
                    <a:lnT>
                      <a:noFill/>
                    </a:lnT>
                    <a:lnB>
                      <a:noFill/>
                    </a:lnB>
                  </a:tcPr>
                </a:tc>
                <a:tc>
                  <a:txBody>
                    <a:bodyPr/>
                    <a:lstStyle/>
                    <a:p>
                      <a:r>
                        <a:rPr lang="en-IN" sz="1400"/>
                        <a:t>1’s complement</a:t>
                      </a:r>
                    </a:p>
                  </a:txBody>
                  <a:tcPr anchor="ctr">
                    <a:lnL>
                      <a:noFill/>
                    </a:lnL>
                    <a:lnR>
                      <a:noFill/>
                    </a:lnR>
                    <a:lnT>
                      <a:noFill/>
                    </a:lnT>
                    <a:lnB>
                      <a:noFill/>
                    </a:lnB>
                  </a:tcPr>
                </a:tc>
                <a:extLst>
                  <a:ext uri="{0D108BD9-81ED-4DB2-BD59-A6C34878D82A}">
                    <a16:rowId xmlns:a16="http://schemas.microsoft.com/office/drawing/2014/main" val="3494376605"/>
                  </a:ext>
                </a:extLst>
              </a:tr>
              <a:tr h="551328">
                <a:tc>
                  <a:txBody>
                    <a:bodyPr/>
                    <a:lstStyle/>
                    <a:p>
                      <a:r>
                        <a:rPr lang="en-IN" sz="1400"/>
                        <a:t>After INC</a:t>
                      </a:r>
                    </a:p>
                  </a:txBody>
                  <a:tcPr anchor="ctr">
                    <a:lnL>
                      <a:noFill/>
                    </a:lnL>
                    <a:lnR>
                      <a:noFill/>
                    </a:lnR>
                    <a:lnT>
                      <a:noFill/>
                    </a:lnT>
                    <a:lnB>
                      <a:noFill/>
                    </a:lnB>
                  </a:tcPr>
                </a:tc>
                <a:tc>
                  <a:txBody>
                    <a:bodyPr/>
                    <a:lstStyle/>
                    <a:p>
                      <a:r>
                        <a:rPr lang="en-IN" sz="1400"/>
                        <a:t>00010111</a:t>
                      </a:r>
                    </a:p>
                  </a:txBody>
                  <a:tcPr anchor="ctr">
                    <a:lnL>
                      <a:noFill/>
                    </a:lnL>
                    <a:lnR>
                      <a:noFill/>
                    </a:lnR>
                    <a:lnT>
                      <a:noFill/>
                    </a:lnT>
                    <a:lnB>
                      <a:noFill/>
                    </a:lnB>
                  </a:tcPr>
                </a:tc>
                <a:tc>
                  <a:txBody>
                    <a:bodyPr/>
                    <a:lstStyle/>
                    <a:p>
                      <a:r>
                        <a:rPr lang="en-IN" sz="1400" dirty="0"/>
                        <a:t>+23</a:t>
                      </a:r>
                    </a:p>
                  </a:txBody>
                  <a:tcPr anchor="ctr">
                    <a:lnL>
                      <a:noFill/>
                    </a:lnL>
                    <a:lnR>
                      <a:noFill/>
                    </a:lnR>
                    <a:lnT>
                      <a:noFill/>
                    </a:lnT>
                    <a:lnB>
                      <a:noFill/>
                    </a:lnB>
                  </a:tcPr>
                </a:tc>
                <a:extLst>
                  <a:ext uri="{0D108BD9-81ED-4DB2-BD59-A6C34878D82A}">
                    <a16:rowId xmlns:a16="http://schemas.microsoft.com/office/drawing/2014/main" val="170528289"/>
                  </a:ext>
                </a:extLst>
              </a:tr>
            </a:tbl>
          </a:graphicData>
        </a:graphic>
      </p:graphicFrame>
      <p:sp>
        <p:nvSpPr>
          <p:cNvPr id="3" name="TextBox 2">
            <a:extLst>
              <a:ext uri="{FF2B5EF4-FFF2-40B4-BE49-F238E27FC236}">
                <a16:creationId xmlns:a16="http://schemas.microsoft.com/office/drawing/2014/main" id="{4B6FA0B4-2B5C-4BC6-AA9B-7527E911DD9F}"/>
              </a:ext>
            </a:extLst>
          </p:cNvPr>
          <p:cNvSpPr txBox="1"/>
          <p:nvPr/>
        </p:nvSpPr>
        <p:spPr>
          <a:xfrm>
            <a:off x="311151" y="829876"/>
            <a:ext cx="5459558" cy="1384995"/>
          </a:xfrm>
          <a:prstGeom prst="rect">
            <a:avLst/>
          </a:prstGeom>
          <a:noFill/>
        </p:spPr>
        <p:txBody>
          <a:bodyPr wrap="square" rtlCol="0">
            <a:spAutoFit/>
          </a:bodyPr>
          <a:lstStyle/>
          <a:p>
            <a:r>
              <a:rPr lang="en-US" dirty="0"/>
              <a:t>Here, To store </a:t>
            </a:r>
            <a:r>
              <a:rPr lang="en-US" b="1" dirty="0"/>
              <a:t>-23</a:t>
            </a:r>
            <a:r>
              <a:rPr lang="en-US" dirty="0"/>
              <a:t>, we take 2’s complement of </a:t>
            </a:r>
            <a:r>
              <a:rPr lang="en-US" b="1" dirty="0"/>
              <a:t>+23</a:t>
            </a:r>
            <a:r>
              <a:rPr lang="en-US" dirty="0"/>
              <a:t>(</a:t>
            </a:r>
            <a:r>
              <a:rPr lang="en-IN" dirty="0"/>
              <a:t>00010111 )</a:t>
            </a:r>
            <a:r>
              <a:rPr lang="en-US" dirty="0"/>
              <a:t>:</a:t>
            </a:r>
          </a:p>
          <a:p>
            <a:endParaRPr lang="en-US" dirty="0"/>
          </a:p>
          <a:p>
            <a:r>
              <a:rPr lang="en-IN" dirty="0"/>
              <a:t>Step A: 1’s complement    00010111 → 11101000</a:t>
            </a:r>
          </a:p>
          <a:p>
            <a:r>
              <a:rPr lang="en-IN" dirty="0"/>
              <a:t>Step B: Add 1     11101000 + 1 = 11101001</a:t>
            </a:r>
          </a:p>
          <a:p>
            <a:endParaRPr lang="en-IN" dirty="0"/>
          </a:p>
          <a:p>
            <a:r>
              <a:rPr lang="en-IN" dirty="0"/>
              <a:t>So, </a:t>
            </a:r>
            <a:r>
              <a:rPr lang="en-IN" b="1" dirty="0"/>
              <a:t>-23 = 11101001</a:t>
            </a:r>
            <a:endParaRPr lang="en-IN" dirty="0"/>
          </a:p>
        </p:txBody>
      </p:sp>
    </p:spTree>
    <p:extLst>
      <p:ext uri="{BB962C8B-B14F-4D97-AF65-F5344CB8AC3E}">
        <p14:creationId xmlns:p14="http://schemas.microsoft.com/office/powerpoint/2010/main" val="9976717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5"/>
          <p:cNvSpPr txBox="1">
            <a:spLocks noGrp="1"/>
          </p:cNvSpPr>
          <p:nvPr>
            <p:ph type="title"/>
          </p:nvPr>
        </p:nvSpPr>
        <p:spPr>
          <a:xfrm>
            <a:off x="311700" y="-104383"/>
            <a:ext cx="8520600" cy="57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990"/>
              <a:buFont typeface="Arial"/>
              <a:buNone/>
            </a:pPr>
            <a:r>
              <a:rPr lang="en-US" sz="2640" b="1" dirty="0">
                <a:latin typeface="Times New Roman"/>
                <a:ea typeface="Times New Roman"/>
                <a:cs typeface="Times New Roman"/>
                <a:sym typeface="Times New Roman"/>
              </a:rPr>
              <a:t>Translation to Binary</a:t>
            </a:r>
            <a:endParaRPr sz="2160" dirty="0">
              <a:latin typeface="Times New Roman"/>
              <a:ea typeface="Times New Roman"/>
              <a:cs typeface="Times New Roman"/>
              <a:sym typeface="Times New Roman"/>
            </a:endParaRPr>
          </a:p>
          <a:p>
            <a:pPr marL="0" lvl="0" indent="0" algn="l" rtl="0">
              <a:lnSpc>
                <a:spcPct val="115000"/>
              </a:lnSpc>
              <a:spcBef>
                <a:spcPts val="1200"/>
              </a:spcBef>
              <a:spcAft>
                <a:spcPts val="1200"/>
              </a:spcAft>
              <a:buClr>
                <a:schemeClr val="dk1"/>
              </a:buClr>
              <a:buSzPts val="990"/>
              <a:buFont typeface="Arial"/>
              <a:buNone/>
            </a:pPr>
            <a:endParaRPr sz="3600" b="1" dirty="0">
              <a:latin typeface="Times New Roman"/>
              <a:ea typeface="Times New Roman"/>
              <a:cs typeface="Times New Roman"/>
              <a:sym typeface="Times New Roman"/>
            </a:endParaRPr>
          </a:p>
        </p:txBody>
      </p:sp>
      <p:sp>
        <p:nvSpPr>
          <p:cNvPr id="136" name="Google Shape;136;p25"/>
          <p:cNvSpPr txBox="1"/>
          <p:nvPr/>
        </p:nvSpPr>
        <p:spPr>
          <a:xfrm>
            <a:off x="17550" y="509455"/>
            <a:ext cx="5665800" cy="2745949"/>
          </a:xfrm>
          <a:prstGeom prst="rect">
            <a:avLst/>
          </a:prstGeom>
          <a:noFill/>
          <a:ln>
            <a:noFill/>
          </a:ln>
        </p:spPr>
        <p:txBody>
          <a:bodyPr spcFirstLastPara="1" wrap="square" lIns="91425" tIns="91425" rIns="91425" bIns="91425" anchor="t" anchorCtr="0">
            <a:noAutofit/>
          </a:bodyPr>
          <a:lstStyle/>
          <a:p>
            <a:pPr marL="457200" lvl="0" indent="-342900" algn="just" rtl="0">
              <a:spcBef>
                <a:spcPts val="0"/>
              </a:spcBef>
              <a:spcAft>
                <a:spcPts val="0"/>
              </a:spcAft>
              <a:buClr>
                <a:schemeClr val="dk1"/>
              </a:buClr>
              <a:buSzPts val="1800"/>
              <a:buFont typeface="Times New Roman"/>
              <a:buChar char="●"/>
            </a:pPr>
            <a:r>
              <a:rPr lang="en" sz="1800" dirty="0">
                <a:solidFill>
                  <a:schemeClr val="dk1"/>
                </a:solidFill>
                <a:latin typeface="Times New Roman"/>
                <a:ea typeface="Times New Roman"/>
                <a:cs typeface="Times New Roman"/>
                <a:sym typeface="Times New Roman"/>
              </a:rPr>
              <a:t>The translation of the symbolic program into binary is done by a special program called an </a:t>
            </a:r>
            <a:r>
              <a:rPr lang="en" sz="1800" b="1" dirty="0">
                <a:solidFill>
                  <a:schemeClr val="dk1"/>
                </a:solidFill>
                <a:latin typeface="Times New Roman"/>
                <a:ea typeface="Times New Roman"/>
                <a:cs typeface="Times New Roman"/>
                <a:sym typeface="Times New Roman"/>
              </a:rPr>
              <a:t>assembler</a:t>
            </a:r>
            <a:r>
              <a:rPr lang="en" sz="1800" dirty="0">
                <a:solidFill>
                  <a:schemeClr val="dk1"/>
                </a:solidFill>
                <a:latin typeface="Times New Roman"/>
                <a:ea typeface="Times New Roman"/>
                <a:cs typeface="Times New Roman"/>
                <a:sym typeface="Times New Roman"/>
              </a:rPr>
              <a:t>.</a:t>
            </a:r>
          </a:p>
          <a:p>
            <a:pPr marL="457200" lvl="0" indent="-342900" algn="just" rtl="0">
              <a:spcBef>
                <a:spcPts val="0"/>
              </a:spcBef>
              <a:spcAft>
                <a:spcPts val="0"/>
              </a:spcAft>
              <a:buClr>
                <a:schemeClr val="dk1"/>
              </a:buClr>
              <a:buSzPts val="1800"/>
              <a:buFont typeface="Times New Roman"/>
              <a:buChar char="●"/>
            </a:pPr>
            <a:r>
              <a:rPr lang="en" sz="1800" dirty="0">
                <a:solidFill>
                  <a:schemeClr val="dk1"/>
                </a:solidFill>
                <a:latin typeface="Times New Roman"/>
                <a:ea typeface="Times New Roman"/>
                <a:cs typeface="Times New Roman"/>
                <a:sym typeface="Times New Roman"/>
              </a:rPr>
              <a:t>We scan the entire symbolic program twice.</a:t>
            </a:r>
          </a:p>
          <a:p>
            <a:pPr marL="457200" lvl="0" indent="-342900" algn="just" rtl="0">
              <a:spcBef>
                <a:spcPts val="0"/>
              </a:spcBef>
              <a:spcAft>
                <a:spcPts val="0"/>
              </a:spcAft>
              <a:buClr>
                <a:schemeClr val="dk1"/>
              </a:buClr>
              <a:buSzPts val="1800"/>
              <a:buFont typeface="Times New Roman"/>
              <a:buChar char="●"/>
            </a:pPr>
            <a:r>
              <a:rPr lang="en" sz="1800" dirty="0">
                <a:solidFill>
                  <a:schemeClr val="dk1"/>
                </a:solidFill>
                <a:latin typeface="Times New Roman"/>
                <a:ea typeface="Times New Roman"/>
                <a:cs typeface="Times New Roman"/>
                <a:sym typeface="Times New Roman"/>
              </a:rPr>
              <a:t>No translation is done during first scan. We assign a memory location to each machine instruction and operand.</a:t>
            </a:r>
          </a:p>
          <a:p>
            <a:pPr marL="457200" lvl="0" indent="-342900" algn="just" rtl="0">
              <a:spcBef>
                <a:spcPts val="0"/>
              </a:spcBef>
              <a:spcAft>
                <a:spcPts val="0"/>
              </a:spcAft>
              <a:buClr>
                <a:schemeClr val="dk1"/>
              </a:buClr>
              <a:buSzPts val="1800"/>
              <a:buFont typeface="Times New Roman"/>
              <a:buChar char="●"/>
            </a:pPr>
            <a:r>
              <a:rPr lang="en" sz="1800" dirty="0">
                <a:solidFill>
                  <a:schemeClr val="dk1"/>
                </a:solidFill>
                <a:latin typeface="Times New Roman"/>
                <a:ea typeface="Times New Roman"/>
                <a:cs typeface="Times New Roman"/>
                <a:sym typeface="Times New Roman"/>
              </a:rPr>
              <a:t>At the end of first scan, we associate with each label its location number and form a table that defines the HEX value of each symbolic address.</a:t>
            </a:r>
          </a:p>
          <a:p>
            <a:pPr marL="457200" lvl="0" indent="-342900" algn="just" rtl="0">
              <a:spcBef>
                <a:spcPts val="0"/>
              </a:spcBef>
              <a:spcAft>
                <a:spcPts val="0"/>
              </a:spcAft>
              <a:buClr>
                <a:schemeClr val="dk1"/>
              </a:buClr>
              <a:buSzPts val="1800"/>
              <a:buFont typeface="Times New Roman"/>
              <a:buChar char="●"/>
            </a:pPr>
            <a:endParaRPr sz="1800" dirty="0">
              <a:solidFill>
                <a:schemeClr val="dk1"/>
              </a:solidFill>
              <a:latin typeface="Times New Roman"/>
              <a:ea typeface="Times New Roman"/>
              <a:cs typeface="Times New Roman"/>
              <a:sym typeface="Times New Roman"/>
            </a:endParaRPr>
          </a:p>
        </p:txBody>
      </p:sp>
      <p:pic>
        <p:nvPicPr>
          <p:cNvPr id="137" name="Google Shape;137;p25"/>
          <p:cNvPicPr preferRelativeResize="0"/>
          <p:nvPr/>
        </p:nvPicPr>
        <p:blipFill rotWithShape="1">
          <a:blip r:embed="rId3">
            <a:alphaModFix/>
          </a:blip>
          <a:srcRect l="17528" t="36757" r="44992" b="8339"/>
          <a:stretch/>
        </p:blipFill>
        <p:spPr>
          <a:xfrm>
            <a:off x="5683350" y="790175"/>
            <a:ext cx="3371349" cy="2745949"/>
          </a:xfrm>
          <a:prstGeom prst="rect">
            <a:avLst/>
          </a:prstGeom>
          <a:noFill/>
          <a:ln>
            <a:noFill/>
          </a:ln>
        </p:spPr>
      </p:pic>
      <p:sp>
        <p:nvSpPr>
          <p:cNvPr id="138" name="Google Shape;138;p25"/>
          <p:cNvSpPr txBox="1"/>
          <p:nvPr/>
        </p:nvSpPr>
        <p:spPr>
          <a:xfrm>
            <a:off x="267900" y="3316058"/>
            <a:ext cx="5491800" cy="44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dirty="0">
                <a:solidFill>
                  <a:schemeClr val="dk1"/>
                </a:solidFill>
                <a:latin typeface="Times New Roman"/>
                <a:ea typeface="Times New Roman"/>
                <a:cs typeface="Times New Roman"/>
                <a:sym typeface="Times New Roman"/>
              </a:rPr>
              <a:t>Address Symbol Table: </a:t>
            </a:r>
            <a:endParaRPr sz="1800" b="1" dirty="0">
              <a:solidFill>
                <a:schemeClr val="dk1"/>
              </a:solidFill>
              <a:latin typeface="Times New Roman"/>
              <a:ea typeface="Times New Roman"/>
              <a:cs typeface="Times New Roman"/>
              <a:sym typeface="Times New Roman"/>
            </a:endParaRPr>
          </a:p>
        </p:txBody>
      </p:sp>
      <p:pic>
        <p:nvPicPr>
          <p:cNvPr id="139" name="Google Shape;139;p25"/>
          <p:cNvPicPr preferRelativeResize="0"/>
          <p:nvPr/>
        </p:nvPicPr>
        <p:blipFill rotWithShape="1">
          <a:blip r:embed="rId4">
            <a:alphaModFix/>
          </a:blip>
          <a:srcRect l="17288" t="48436" r="45650" b="30980"/>
          <a:stretch/>
        </p:blipFill>
        <p:spPr>
          <a:xfrm>
            <a:off x="461675" y="3797381"/>
            <a:ext cx="3837975" cy="1285901"/>
          </a:xfrm>
          <a:prstGeom prst="rect">
            <a:avLst/>
          </a:prstGeom>
          <a:noFill/>
          <a:ln>
            <a:noFill/>
          </a:ln>
        </p:spPr>
      </p:pic>
      <p:cxnSp>
        <p:nvCxnSpPr>
          <p:cNvPr id="3" name="Straight Arrow Connector 2">
            <a:extLst>
              <a:ext uri="{FF2B5EF4-FFF2-40B4-BE49-F238E27FC236}">
                <a16:creationId xmlns:a16="http://schemas.microsoft.com/office/drawing/2014/main" id="{2395B4CF-CB51-4512-85BC-53898BA14B42}"/>
              </a:ext>
            </a:extLst>
          </p:cNvPr>
          <p:cNvCxnSpPr>
            <a:cxnSpLocks/>
          </p:cNvCxnSpPr>
          <p:nvPr/>
        </p:nvCxnSpPr>
        <p:spPr>
          <a:xfrm flipV="1">
            <a:off x="6406726" y="3065931"/>
            <a:ext cx="324488" cy="12217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BC204EB-AECF-46E3-B4EB-975CAC1983C6}"/>
              </a:ext>
            </a:extLst>
          </p:cNvPr>
          <p:cNvSpPr txBox="1"/>
          <p:nvPr/>
        </p:nvSpPr>
        <p:spPr>
          <a:xfrm>
            <a:off x="5563241" y="4230381"/>
            <a:ext cx="2512678" cy="307777"/>
          </a:xfrm>
          <a:prstGeom prst="rect">
            <a:avLst/>
          </a:prstGeom>
          <a:noFill/>
        </p:spPr>
        <p:txBody>
          <a:bodyPr wrap="square" rtlCol="0">
            <a:spAutoFit/>
          </a:bodyPr>
          <a:lstStyle>
            <a:defPPr marR="0" lvl="0" algn="l" rtl="0">
              <a:lnSpc>
                <a:spcPct val="100000"/>
              </a:lnSpc>
              <a:spcBef>
                <a:spcPts val="0"/>
              </a:spcBef>
              <a:spcAft>
                <a:spcPts val="0"/>
              </a:spcAft>
            </a:defPPr>
            <a:lvl1pPr>
              <a:defRPr>
                <a:solidFill>
                  <a:schemeClr val="accent1">
                    <a:lumMod val="50000"/>
                  </a:schemeClr>
                </a:solidFill>
              </a:defRPr>
            </a:lvl1pPr>
          </a:lstStyle>
          <a:p>
            <a:r>
              <a:rPr lang="en-US" dirty="0"/>
              <a:t>Hex equivalent of -23</a:t>
            </a:r>
            <a:endParaRPr lang="en-IN" dirty="0"/>
          </a:p>
        </p:txBody>
      </p:sp>
      <p:cxnSp>
        <p:nvCxnSpPr>
          <p:cNvPr id="10" name="Straight Arrow Connector 9">
            <a:extLst>
              <a:ext uri="{FF2B5EF4-FFF2-40B4-BE49-F238E27FC236}">
                <a16:creationId xmlns:a16="http://schemas.microsoft.com/office/drawing/2014/main" id="{12458DC2-9A2A-4C81-8DAE-C4942B2ECA79}"/>
              </a:ext>
            </a:extLst>
          </p:cNvPr>
          <p:cNvCxnSpPr>
            <a:cxnSpLocks/>
          </p:cNvCxnSpPr>
          <p:nvPr/>
        </p:nvCxnSpPr>
        <p:spPr>
          <a:xfrm flipV="1">
            <a:off x="5832182" y="2857182"/>
            <a:ext cx="890068" cy="10693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51C256F8-3BF5-4DBA-8776-190D5B7939EC}"/>
              </a:ext>
            </a:extLst>
          </p:cNvPr>
          <p:cNvSpPr txBox="1"/>
          <p:nvPr/>
        </p:nvSpPr>
        <p:spPr>
          <a:xfrm>
            <a:off x="4701348" y="3884548"/>
            <a:ext cx="2512678" cy="307777"/>
          </a:xfrm>
          <a:prstGeom prst="rect">
            <a:avLst/>
          </a:prstGeom>
          <a:noFill/>
        </p:spPr>
        <p:txBody>
          <a:bodyPr wrap="square" rtlCol="0">
            <a:spAutoFit/>
          </a:bodyPr>
          <a:lstStyle/>
          <a:p>
            <a:r>
              <a:rPr lang="en-US" dirty="0">
                <a:solidFill>
                  <a:schemeClr val="accent1">
                    <a:lumMod val="50000"/>
                  </a:schemeClr>
                </a:solidFill>
              </a:rPr>
              <a:t>Hex equivalent of 83</a:t>
            </a:r>
            <a:endParaRPr lang="en-IN" dirty="0">
              <a:solidFill>
                <a:schemeClr val="accent1">
                  <a:lumMod val="50000"/>
                </a:schemeClr>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6" name="Google Shape;136;p25"/>
          <p:cNvSpPr txBox="1"/>
          <p:nvPr/>
        </p:nvSpPr>
        <p:spPr>
          <a:xfrm>
            <a:off x="17550" y="601663"/>
            <a:ext cx="5665800" cy="3363346"/>
          </a:xfrm>
          <a:prstGeom prst="rect">
            <a:avLst/>
          </a:prstGeom>
          <a:noFill/>
          <a:ln>
            <a:noFill/>
          </a:ln>
        </p:spPr>
        <p:txBody>
          <a:bodyPr spcFirstLastPara="1" wrap="square" lIns="91425" tIns="91425" rIns="91425" bIns="91425" anchor="t" anchorCtr="0">
            <a:noAutofit/>
          </a:bodyPr>
          <a:lstStyle/>
          <a:p>
            <a:pPr marL="457200" lvl="0" indent="-342900" algn="just" rtl="0">
              <a:spcBef>
                <a:spcPts val="0"/>
              </a:spcBef>
              <a:spcAft>
                <a:spcPts val="0"/>
              </a:spcAft>
              <a:buClr>
                <a:schemeClr val="dk1"/>
              </a:buClr>
              <a:buSzPts val="1800"/>
              <a:buFont typeface="Times New Roman"/>
              <a:buChar char="●"/>
            </a:pPr>
            <a:r>
              <a:rPr lang="en" sz="1800" dirty="0">
                <a:solidFill>
                  <a:schemeClr val="dk1"/>
                </a:solidFill>
                <a:latin typeface="Times New Roman"/>
                <a:ea typeface="Times New Roman"/>
                <a:cs typeface="Times New Roman"/>
                <a:sym typeface="Times New Roman"/>
              </a:rPr>
              <a:t>During the second phase, we refer to the address symbol table to determine the address value of a memory reference instruction.</a:t>
            </a:r>
          </a:p>
          <a:p>
            <a:pPr marL="457200" lvl="0" indent="-342900" algn="just" rtl="0">
              <a:spcBef>
                <a:spcPts val="0"/>
              </a:spcBef>
              <a:spcAft>
                <a:spcPts val="0"/>
              </a:spcAft>
              <a:buClr>
                <a:schemeClr val="dk1"/>
              </a:buClr>
              <a:buSzPts val="1800"/>
              <a:buFont typeface="Times New Roman"/>
              <a:buChar char="●"/>
            </a:pPr>
            <a:r>
              <a:rPr lang="en" sz="1800" dirty="0">
                <a:solidFill>
                  <a:schemeClr val="dk1"/>
                </a:solidFill>
                <a:latin typeface="Times New Roman"/>
                <a:ea typeface="Times New Roman"/>
                <a:cs typeface="Times New Roman"/>
                <a:sym typeface="Times New Roman"/>
              </a:rPr>
              <a:t>Example: LDA SUB is translated during the second scan by getting the HEX value of LDA and the HEX value of SUB from address symbol table.</a:t>
            </a:r>
          </a:p>
          <a:p>
            <a:pPr marL="457200" lvl="0" indent="-342900" algn="just" rtl="0">
              <a:spcBef>
                <a:spcPts val="0"/>
              </a:spcBef>
              <a:spcAft>
                <a:spcPts val="0"/>
              </a:spcAft>
              <a:buClr>
                <a:schemeClr val="dk1"/>
              </a:buClr>
              <a:buSzPts val="1800"/>
              <a:buFont typeface="Times New Roman"/>
              <a:buChar char="●"/>
            </a:pPr>
            <a:r>
              <a:rPr lang="en" sz="1800" dirty="0">
                <a:solidFill>
                  <a:schemeClr val="dk1"/>
                </a:solidFill>
                <a:latin typeface="Times New Roman"/>
                <a:ea typeface="Times New Roman"/>
                <a:cs typeface="Times New Roman"/>
                <a:sym typeface="Times New Roman"/>
              </a:rPr>
              <a:t>We then assemble the two parts into a four digit HEX instruction.</a:t>
            </a:r>
          </a:p>
          <a:p>
            <a:pPr marL="457200" lvl="0" indent="-342900" algn="just" rtl="0">
              <a:spcBef>
                <a:spcPts val="0"/>
              </a:spcBef>
              <a:spcAft>
                <a:spcPts val="0"/>
              </a:spcAft>
              <a:buClr>
                <a:schemeClr val="dk1"/>
              </a:buClr>
              <a:buSzPts val="1800"/>
              <a:buFont typeface="Times New Roman"/>
              <a:buChar char="●"/>
            </a:pPr>
            <a:endParaRPr sz="1800" dirty="0">
              <a:solidFill>
                <a:schemeClr val="dk1"/>
              </a:solidFill>
              <a:latin typeface="Times New Roman"/>
              <a:ea typeface="Times New Roman"/>
              <a:cs typeface="Times New Roman"/>
              <a:sym typeface="Times New Roman"/>
            </a:endParaRPr>
          </a:p>
        </p:txBody>
      </p:sp>
      <p:pic>
        <p:nvPicPr>
          <p:cNvPr id="137" name="Google Shape;137;p25"/>
          <p:cNvPicPr preferRelativeResize="0"/>
          <p:nvPr/>
        </p:nvPicPr>
        <p:blipFill rotWithShape="1">
          <a:blip r:embed="rId3">
            <a:alphaModFix/>
          </a:blip>
          <a:srcRect l="17528" t="36757" r="44992" b="8339"/>
          <a:stretch/>
        </p:blipFill>
        <p:spPr>
          <a:xfrm>
            <a:off x="5683350" y="790175"/>
            <a:ext cx="3371349" cy="2745949"/>
          </a:xfrm>
          <a:prstGeom prst="rect">
            <a:avLst/>
          </a:prstGeom>
          <a:noFill/>
          <a:ln>
            <a:noFill/>
          </a:ln>
        </p:spPr>
      </p:pic>
      <p:sp>
        <p:nvSpPr>
          <p:cNvPr id="138" name="Google Shape;138;p25"/>
          <p:cNvSpPr txBox="1"/>
          <p:nvPr/>
        </p:nvSpPr>
        <p:spPr>
          <a:xfrm>
            <a:off x="267900" y="3346794"/>
            <a:ext cx="5491800" cy="44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dirty="0">
                <a:solidFill>
                  <a:schemeClr val="dk1"/>
                </a:solidFill>
                <a:latin typeface="Times New Roman"/>
                <a:ea typeface="Times New Roman"/>
                <a:cs typeface="Times New Roman"/>
                <a:sym typeface="Times New Roman"/>
              </a:rPr>
              <a:t>Address Symbol Table: </a:t>
            </a:r>
            <a:endParaRPr sz="1800" b="1" dirty="0">
              <a:solidFill>
                <a:schemeClr val="dk1"/>
              </a:solidFill>
              <a:latin typeface="Times New Roman"/>
              <a:ea typeface="Times New Roman"/>
              <a:cs typeface="Times New Roman"/>
              <a:sym typeface="Times New Roman"/>
            </a:endParaRPr>
          </a:p>
        </p:txBody>
      </p:sp>
      <p:pic>
        <p:nvPicPr>
          <p:cNvPr id="139" name="Google Shape;139;p25"/>
          <p:cNvPicPr preferRelativeResize="0"/>
          <p:nvPr/>
        </p:nvPicPr>
        <p:blipFill rotWithShape="1">
          <a:blip r:embed="rId4">
            <a:alphaModFix/>
          </a:blip>
          <a:srcRect l="17288" t="48436" r="45650" b="30980"/>
          <a:stretch/>
        </p:blipFill>
        <p:spPr>
          <a:xfrm>
            <a:off x="461675" y="3828117"/>
            <a:ext cx="3837975" cy="1285901"/>
          </a:xfrm>
          <a:prstGeom prst="rect">
            <a:avLst/>
          </a:prstGeom>
          <a:noFill/>
          <a:ln>
            <a:noFill/>
          </a:ln>
        </p:spPr>
      </p:pic>
      <p:cxnSp>
        <p:nvCxnSpPr>
          <p:cNvPr id="3" name="Straight Arrow Connector 2">
            <a:extLst>
              <a:ext uri="{FF2B5EF4-FFF2-40B4-BE49-F238E27FC236}">
                <a16:creationId xmlns:a16="http://schemas.microsoft.com/office/drawing/2014/main" id="{2395B4CF-CB51-4512-85BC-53898BA14B42}"/>
              </a:ext>
            </a:extLst>
          </p:cNvPr>
          <p:cNvCxnSpPr>
            <a:cxnSpLocks/>
          </p:cNvCxnSpPr>
          <p:nvPr/>
        </p:nvCxnSpPr>
        <p:spPr>
          <a:xfrm flipV="1">
            <a:off x="6406726" y="3065931"/>
            <a:ext cx="324488" cy="12217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BC204EB-AECF-46E3-B4EB-975CAC1983C6}"/>
              </a:ext>
            </a:extLst>
          </p:cNvPr>
          <p:cNvSpPr txBox="1"/>
          <p:nvPr/>
        </p:nvSpPr>
        <p:spPr>
          <a:xfrm>
            <a:off x="5563241" y="4230381"/>
            <a:ext cx="2512678" cy="307777"/>
          </a:xfrm>
          <a:prstGeom prst="rect">
            <a:avLst/>
          </a:prstGeom>
          <a:noFill/>
        </p:spPr>
        <p:txBody>
          <a:bodyPr wrap="square" rtlCol="0">
            <a:spAutoFit/>
          </a:bodyPr>
          <a:lstStyle/>
          <a:p>
            <a:r>
              <a:rPr lang="en-US" dirty="0"/>
              <a:t>Hex equivalent of -23</a:t>
            </a:r>
            <a:endParaRPr lang="en-IN" dirty="0"/>
          </a:p>
        </p:txBody>
      </p:sp>
      <p:cxnSp>
        <p:nvCxnSpPr>
          <p:cNvPr id="10" name="Straight Arrow Connector 9">
            <a:extLst>
              <a:ext uri="{FF2B5EF4-FFF2-40B4-BE49-F238E27FC236}">
                <a16:creationId xmlns:a16="http://schemas.microsoft.com/office/drawing/2014/main" id="{12458DC2-9A2A-4C81-8DAE-C4942B2ECA79}"/>
              </a:ext>
            </a:extLst>
          </p:cNvPr>
          <p:cNvCxnSpPr>
            <a:cxnSpLocks/>
          </p:cNvCxnSpPr>
          <p:nvPr/>
        </p:nvCxnSpPr>
        <p:spPr>
          <a:xfrm flipV="1">
            <a:off x="5832182" y="2857182"/>
            <a:ext cx="890068" cy="10693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51C256F8-3BF5-4DBA-8776-190D5B7939EC}"/>
              </a:ext>
            </a:extLst>
          </p:cNvPr>
          <p:cNvSpPr txBox="1"/>
          <p:nvPr/>
        </p:nvSpPr>
        <p:spPr>
          <a:xfrm>
            <a:off x="4701348" y="3884548"/>
            <a:ext cx="2512678" cy="307777"/>
          </a:xfrm>
          <a:prstGeom prst="rect">
            <a:avLst/>
          </a:prstGeom>
          <a:noFill/>
        </p:spPr>
        <p:txBody>
          <a:bodyPr wrap="square" rtlCol="0">
            <a:spAutoFit/>
          </a:bodyPr>
          <a:lstStyle/>
          <a:p>
            <a:r>
              <a:rPr lang="en-US" dirty="0"/>
              <a:t>Hex equivalent of 83</a:t>
            </a:r>
            <a:endParaRPr lang="en-IN" dirty="0"/>
          </a:p>
        </p:txBody>
      </p:sp>
      <p:sp>
        <p:nvSpPr>
          <p:cNvPr id="13" name="Google Shape;135;p25">
            <a:extLst>
              <a:ext uri="{FF2B5EF4-FFF2-40B4-BE49-F238E27FC236}">
                <a16:creationId xmlns:a16="http://schemas.microsoft.com/office/drawing/2014/main" id="{DA44F340-C840-41AA-9BC5-7CD521FB6EFB}"/>
              </a:ext>
            </a:extLst>
          </p:cNvPr>
          <p:cNvSpPr txBox="1">
            <a:spLocks noGrp="1"/>
          </p:cNvSpPr>
          <p:nvPr>
            <p:ph type="title"/>
          </p:nvPr>
        </p:nvSpPr>
        <p:spPr>
          <a:xfrm>
            <a:off x="311700" y="-73647"/>
            <a:ext cx="8520600" cy="57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990"/>
              <a:buFont typeface="Arial"/>
              <a:buNone/>
            </a:pPr>
            <a:r>
              <a:rPr lang="en-US" sz="2640" b="1" dirty="0">
                <a:latin typeface="Times New Roman"/>
                <a:ea typeface="Times New Roman"/>
                <a:cs typeface="Times New Roman"/>
                <a:sym typeface="Times New Roman"/>
              </a:rPr>
              <a:t>Translation to Binary</a:t>
            </a:r>
            <a:endParaRPr sz="2160" dirty="0">
              <a:latin typeface="Times New Roman"/>
              <a:ea typeface="Times New Roman"/>
              <a:cs typeface="Times New Roman"/>
              <a:sym typeface="Times New Roman"/>
            </a:endParaRPr>
          </a:p>
          <a:p>
            <a:pPr marL="0" lvl="0" indent="0" algn="l" rtl="0">
              <a:lnSpc>
                <a:spcPct val="115000"/>
              </a:lnSpc>
              <a:spcBef>
                <a:spcPts val="1200"/>
              </a:spcBef>
              <a:spcAft>
                <a:spcPts val="1200"/>
              </a:spcAft>
              <a:buClr>
                <a:schemeClr val="dk1"/>
              </a:buClr>
              <a:buSzPts val="990"/>
              <a:buFont typeface="Arial"/>
              <a:buNone/>
            </a:pPr>
            <a:endParaRPr sz="3600" b="1" dirty="0">
              <a:latin typeface="Times New Roman"/>
              <a:ea typeface="Times New Roman"/>
              <a:cs typeface="Times New Roman"/>
              <a:sym typeface="Times New Roman"/>
            </a:endParaRPr>
          </a:p>
        </p:txBody>
      </p:sp>
    </p:spTree>
    <p:extLst>
      <p:ext uri="{BB962C8B-B14F-4D97-AF65-F5344CB8AC3E}">
        <p14:creationId xmlns:p14="http://schemas.microsoft.com/office/powerpoint/2010/main" val="40791497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6"/>
          <p:cNvSpPr txBox="1">
            <a:spLocks noGrp="1"/>
          </p:cNvSpPr>
          <p:nvPr>
            <p:ph type="subTitle" idx="1"/>
          </p:nvPr>
        </p:nvSpPr>
        <p:spPr>
          <a:xfrm>
            <a:off x="311700" y="2834125"/>
            <a:ext cx="8520600" cy="15594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4600" b="1">
                <a:solidFill>
                  <a:schemeClr val="dk1"/>
                </a:solidFill>
                <a:latin typeface="Times New Roman"/>
                <a:ea typeface="Times New Roman"/>
                <a:cs typeface="Times New Roman"/>
                <a:sym typeface="Times New Roman"/>
              </a:rPr>
              <a:t>First Pass of Assembler</a:t>
            </a:r>
            <a:endParaRPr sz="4600" b="1">
              <a:solidFill>
                <a:schemeClr val="dk1"/>
              </a:solidFill>
              <a:latin typeface="Times New Roman"/>
              <a:ea typeface="Times New Roman"/>
              <a:cs typeface="Times New Roman"/>
              <a:sym typeface="Times New Roman"/>
            </a:endParaRPr>
          </a:p>
          <a:p>
            <a:pPr marL="0" lvl="0" indent="0" algn="ctr" rtl="0">
              <a:spcBef>
                <a:spcPts val="1200"/>
              </a:spcBef>
              <a:spcAft>
                <a:spcPts val="0"/>
              </a:spcAft>
              <a:buNone/>
            </a:pPr>
            <a:endParaRPr sz="3400"/>
          </a:p>
        </p:txBody>
      </p:sp>
    </p:spTree>
    <p:extLst>
      <p:ext uri="{BB962C8B-B14F-4D97-AF65-F5344CB8AC3E}">
        <p14:creationId xmlns:p14="http://schemas.microsoft.com/office/powerpoint/2010/main" val="31930854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7"/>
          <p:cNvSpPr txBox="1">
            <a:spLocks noGrp="1"/>
          </p:cNvSpPr>
          <p:nvPr>
            <p:ph type="title"/>
          </p:nvPr>
        </p:nvSpPr>
        <p:spPr>
          <a:xfrm>
            <a:off x="83100" y="-196591"/>
            <a:ext cx="8520600" cy="57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990"/>
              <a:buFont typeface="Arial"/>
              <a:buNone/>
            </a:pPr>
            <a:r>
              <a:rPr lang="en" sz="2640" b="1" dirty="0">
                <a:latin typeface="Times New Roman"/>
                <a:ea typeface="Times New Roman"/>
                <a:cs typeface="Times New Roman"/>
                <a:sym typeface="Times New Roman"/>
              </a:rPr>
              <a:t>First Pass of Assembler</a:t>
            </a:r>
            <a:endParaRPr sz="2160" dirty="0">
              <a:latin typeface="Times New Roman"/>
              <a:ea typeface="Times New Roman"/>
              <a:cs typeface="Times New Roman"/>
              <a:sym typeface="Times New Roman"/>
            </a:endParaRPr>
          </a:p>
          <a:p>
            <a:pPr marL="0" lvl="0" indent="0" algn="l" rtl="0">
              <a:lnSpc>
                <a:spcPct val="115000"/>
              </a:lnSpc>
              <a:spcBef>
                <a:spcPts val="1200"/>
              </a:spcBef>
              <a:spcAft>
                <a:spcPts val="1200"/>
              </a:spcAft>
              <a:buClr>
                <a:schemeClr val="dk1"/>
              </a:buClr>
              <a:buSzPts val="990"/>
              <a:buFont typeface="Arial"/>
              <a:buNone/>
            </a:pPr>
            <a:endParaRPr sz="3600" b="1" dirty="0">
              <a:latin typeface="Times New Roman"/>
              <a:ea typeface="Times New Roman"/>
              <a:cs typeface="Times New Roman"/>
              <a:sym typeface="Times New Roman"/>
            </a:endParaRPr>
          </a:p>
        </p:txBody>
      </p:sp>
      <p:sp>
        <p:nvSpPr>
          <p:cNvPr id="150" name="Google Shape;150;p27"/>
          <p:cNvSpPr txBox="1"/>
          <p:nvPr/>
        </p:nvSpPr>
        <p:spPr>
          <a:xfrm>
            <a:off x="-184825" y="322729"/>
            <a:ext cx="4634425" cy="4818937"/>
          </a:xfrm>
          <a:prstGeom prst="rect">
            <a:avLst/>
          </a:prstGeom>
          <a:noFill/>
          <a:ln>
            <a:noFill/>
          </a:ln>
        </p:spPr>
        <p:txBody>
          <a:bodyPr spcFirstLastPara="1" wrap="square" lIns="91425" tIns="91425" rIns="91425" bIns="91425" anchor="t" anchorCtr="0">
            <a:noAutofit/>
          </a:bodyPr>
          <a:lstStyle/>
          <a:p>
            <a:pPr marL="457200" lvl="0" indent="-342900" algn="just" rtl="0">
              <a:spcBef>
                <a:spcPts val="0"/>
              </a:spcBef>
              <a:spcAft>
                <a:spcPts val="0"/>
              </a:spcAft>
              <a:buClr>
                <a:schemeClr val="dk1"/>
              </a:buClr>
              <a:buSzPts val="1800"/>
              <a:buFont typeface="Times New Roman"/>
              <a:buChar char="●"/>
            </a:pPr>
            <a:r>
              <a:rPr lang="en" sz="1800" dirty="0">
                <a:solidFill>
                  <a:schemeClr val="dk1"/>
                </a:solidFill>
                <a:latin typeface="Times New Roman"/>
                <a:ea typeface="Times New Roman"/>
                <a:cs typeface="Times New Roman"/>
                <a:sym typeface="Times New Roman"/>
              </a:rPr>
              <a:t>A two-pass assembler scans the entire symbolic </a:t>
            </a:r>
            <a:r>
              <a:rPr lang="en" sz="1800" b="1" dirty="0">
                <a:solidFill>
                  <a:schemeClr val="dk1"/>
                </a:solidFill>
                <a:latin typeface="Times New Roman"/>
                <a:ea typeface="Times New Roman"/>
                <a:cs typeface="Times New Roman"/>
                <a:sym typeface="Times New Roman"/>
              </a:rPr>
              <a:t>program twice.  </a:t>
            </a:r>
            <a:endParaRPr sz="1800" b="1" dirty="0">
              <a:solidFill>
                <a:schemeClr val="dk1"/>
              </a:solidFill>
              <a:latin typeface="Times New Roman"/>
              <a:ea typeface="Times New Roman"/>
              <a:cs typeface="Times New Roman"/>
              <a:sym typeface="Times New Roman"/>
            </a:endParaRPr>
          </a:p>
          <a:p>
            <a:pPr marL="457200" lvl="0" indent="-342900" algn="just" rtl="0">
              <a:spcBef>
                <a:spcPts val="0"/>
              </a:spcBef>
              <a:spcAft>
                <a:spcPts val="0"/>
              </a:spcAft>
              <a:buClr>
                <a:schemeClr val="dk1"/>
              </a:buClr>
              <a:buSzPts val="1800"/>
              <a:buFont typeface="Times New Roman"/>
              <a:buChar char="●"/>
            </a:pPr>
            <a:r>
              <a:rPr lang="en" sz="1800" dirty="0">
                <a:solidFill>
                  <a:schemeClr val="dk1"/>
                </a:solidFill>
                <a:latin typeface="Times New Roman"/>
                <a:ea typeface="Times New Roman"/>
                <a:cs typeface="Times New Roman"/>
                <a:sym typeface="Times New Roman"/>
              </a:rPr>
              <a:t>During the first pass, it </a:t>
            </a:r>
            <a:r>
              <a:rPr lang="en" sz="1800" b="1" dirty="0">
                <a:solidFill>
                  <a:schemeClr val="dk1"/>
                </a:solidFill>
                <a:latin typeface="Times New Roman"/>
                <a:ea typeface="Times New Roman"/>
                <a:cs typeface="Times New Roman"/>
                <a:sym typeface="Times New Roman"/>
              </a:rPr>
              <a:t>generates a table </a:t>
            </a:r>
            <a:r>
              <a:rPr lang="en" sz="1800" dirty="0">
                <a:solidFill>
                  <a:schemeClr val="dk1"/>
                </a:solidFill>
                <a:latin typeface="Times New Roman"/>
                <a:ea typeface="Times New Roman"/>
                <a:cs typeface="Times New Roman"/>
                <a:sym typeface="Times New Roman"/>
              </a:rPr>
              <a:t>that correlates all user-defined </a:t>
            </a:r>
            <a:r>
              <a:rPr lang="en" sz="1800" b="1" dirty="0">
                <a:solidFill>
                  <a:schemeClr val="dk1"/>
                </a:solidFill>
                <a:latin typeface="Times New Roman"/>
                <a:ea typeface="Times New Roman"/>
                <a:cs typeface="Times New Roman"/>
                <a:sym typeface="Times New Roman"/>
              </a:rPr>
              <a:t>address symbols with their binary equivalent value and with its location. </a:t>
            </a:r>
            <a:r>
              <a:rPr lang="en" sz="1800" dirty="0">
                <a:solidFill>
                  <a:schemeClr val="dk1"/>
                </a:solidFill>
                <a:latin typeface="Times New Roman"/>
                <a:ea typeface="Times New Roman"/>
                <a:cs typeface="Times New Roman"/>
                <a:sym typeface="Times New Roman"/>
              </a:rPr>
              <a:t>The binary translation is done during the second pass.  </a:t>
            </a:r>
            <a:endParaRPr sz="1800" dirty="0">
              <a:solidFill>
                <a:schemeClr val="dk1"/>
              </a:solidFill>
              <a:latin typeface="Times New Roman"/>
              <a:ea typeface="Times New Roman"/>
              <a:cs typeface="Times New Roman"/>
              <a:sym typeface="Times New Roman"/>
            </a:endParaRPr>
          </a:p>
          <a:p>
            <a:pPr marL="457200" lvl="0" indent="-342900" algn="just" rtl="0">
              <a:spcBef>
                <a:spcPts val="0"/>
              </a:spcBef>
              <a:spcAft>
                <a:spcPts val="0"/>
              </a:spcAft>
              <a:buClr>
                <a:schemeClr val="dk1"/>
              </a:buClr>
              <a:buSzPts val="1800"/>
              <a:buFont typeface="Times New Roman"/>
              <a:buChar char="●"/>
            </a:pPr>
            <a:r>
              <a:rPr lang="en" sz="1800" dirty="0">
                <a:solidFill>
                  <a:schemeClr val="dk1"/>
                </a:solidFill>
                <a:latin typeface="Times New Roman"/>
                <a:ea typeface="Times New Roman"/>
                <a:cs typeface="Times New Roman"/>
                <a:sym typeface="Times New Roman"/>
              </a:rPr>
              <a:t>To keep track of the location of instructions, the assembler uses a memory </a:t>
            </a:r>
            <a:r>
              <a:rPr lang="en" sz="1800" b="1" dirty="0">
                <a:solidFill>
                  <a:schemeClr val="dk1"/>
                </a:solidFill>
                <a:latin typeface="Times New Roman"/>
                <a:ea typeface="Times New Roman"/>
                <a:cs typeface="Times New Roman"/>
                <a:sym typeface="Times New Roman"/>
              </a:rPr>
              <a:t>location counter (LC)</a:t>
            </a:r>
            <a:r>
              <a:rPr lang="en" sz="1800" dirty="0">
                <a:solidFill>
                  <a:schemeClr val="dk1"/>
                </a:solidFill>
                <a:latin typeface="Times New Roman"/>
                <a:ea typeface="Times New Roman"/>
                <a:cs typeface="Times New Roman"/>
                <a:sym typeface="Times New Roman"/>
              </a:rPr>
              <a:t> word called a location counter. (</a:t>
            </a:r>
            <a:r>
              <a:rPr lang="en" sz="1800" b="1" dirty="0">
                <a:solidFill>
                  <a:schemeClr val="dk1"/>
                </a:solidFill>
                <a:latin typeface="Times New Roman"/>
                <a:ea typeface="Times New Roman"/>
                <a:cs typeface="Times New Roman"/>
                <a:sym typeface="Times New Roman"/>
              </a:rPr>
              <a:t>Which instruction is currently being translated to binary</a:t>
            </a:r>
            <a:r>
              <a:rPr lang="en" sz="1800" dirty="0">
                <a:solidFill>
                  <a:schemeClr val="dk1"/>
                </a:solidFill>
                <a:latin typeface="Times New Roman"/>
                <a:ea typeface="Times New Roman"/>
                <a:cs typeface="Times New Roman"/>
                <a:sym typeface="Times New Roman"/>
              </a:rPr>
              <a:t>)</a:t>
            </a:r>
            <a:endParaRPr sz="1800" dirty="0">
              <a:solidFill>
                <a:schemeClr val="dk1"/>
              </a:solidFill>
              <a:latin typeface="Times New Roman"/>
              <a:ea typeface="Times New Roman"/>
              <a:cs typeface="Times New Roman"/>
              <a:sym typeface="Times New Roman"/>
            </a:endParaRPr>
          </a:p>
          <a:p>
            <a:pPr marL="457200" lvl="0" indent="-342900" algn="just" rtl="0">
              <a:spcBef>
                <a:spcPts val="0"/>
              </a:spcBef>
              <a:spcAft>
                <a:spcPts val="0"/>
              </a:spcAft>
              <a:buClr>
                <a:schemeClr val="dk1"/>
              </a:buClr>
              <a:buSzPts val="1800"/>
              <a:buFont typeface="Times New Roman"/>
              <a:buChar char="●"/>
            </a:pPr>
            <a:r>
              <a:rPr lang="en" sz="1800" dirty="0">
                <a:solidFill>
                  <a:schemeClr val="dk1"/>
                </a:solidFill>
                <a:latin typeface="Times New Roman"/>
                <a:ea typeface="Times New Roman"/>
                <a:cs typeface="Times New Roman"/>
                <a:sym typeface="Times New Roman"/>
              </a:rPr>
              <a:t>The content of LC stores the value of the memory location assigned to the instruction or operand presently being processed.  </a:t>
            </a:r>
            <a:endParaRPr sz="18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sz="1800" dirty="0">
              <a:solidFill>
                <a:schemeClr val="dk1"/>
              </a:solidFill>
              <a:latin typeface="Times New Roman"/>
              <a:ea typeface="Times New Roman"/>
              <a:cs typeface="Times New Roman"/>
              <a:sym typeface="Times New Roman"/>
            </a:endParaRPr>
          </a:p>
        </p:txBody>
      </p:sp>
      <p:pic>
        <p:nvPicPr>
          <p:cNvPr id="151" name="Google Shape;151;p27"/>
          <p:cNvPicPr preferRelativeResize="0"/>
          <p:nvPr/>
        </p:nvPicPr>
        <p:blipFill rotWithShape="1">
          <a:blip r:embed="rId3">
            <a:alphaModFix/>
          </a:blip>
          <a:srcRect l="52881" t="14304" r="10058" b="15608"/>
          <a:stretch/>
        </p:blipFill>
        <p:spPr>
          <a:xfrm>
            <a:off x="4537002" y="0"/>
            <a:ext cx="4634425" cy="51435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8"/>
          <p:cNvSpPr txBox="1"/>
          <p:nvPr/>
        </p:nvSpPr>
        <p:spPr>
          <a:xfrm>
            <a:off x="17550" y="54175"/>
            <a:ext cx="4581000" cy="4767000"/>
          </a:xfrm>
          <a:prstGeom prst="rect">
            <a:avLst/>
          </a:prstGeom>
          <a:noFill/>
          <a:ln>
            <a:noFill/>
          </a:ln>
        </p:spPr>
        <p:txBody>
          <a:bodyPr spcFirstLastPara="1" wrap="square" lIns="91425" tIns="91425" rIns="91425" bIns="91425" anchor="t" anchorCtr="0">
            <a:noAutofit/>
          </a:bodyPr>
          <a:lstStyle/>
          <a:p>
            <a:pPr marL="457200" lvl="0" indent="-342900" algn="just" rtl="0">
              <a:spcBef>
                <a:spcPts val="0"/>
              </a:spcBef>
              <a:spcAft>
                <a:spcPts val="0"/>
              </a:spcAft>
              <a:buClr>
                <a:schemeClr val="dk1"/>
              </a:buClr>
              <a:buSzPts val="1800"/>
              <a:buFont typeface="Times New Roman"/>
              <a:buChar char="●"/>
            </a:pPr>
            <a:r>
              <a:rPr lang="en" sz="1800" b="1" dirty="0">
                <a:solidFill>
                  <a:schemeClr val="dk1"/>
                </a:solidFill>
                <a:latin typeface="Times New Roman"/>
                <a:ea typeface="Times New Roman"/>
                <a:cs typeface="Times New Roman"/>
                <a:sym typeface="Times New Roman"/>
              </a:rPr>
              <a:t>The ORG pseudo instruction initializes the location counter to the value of the first location</a:t>
            </a:r>
            <a:r>
              <a:rPr lang="en" sz="1800" dirty="0">
                <a:solidFill>
                  <a:schemeClr val="dk1"/>
                </a:solidFill>
                <a:latin typeface="Times New Roman"/>
                <a:ea typeface="Times New Roman"/>
                <a:cs typeface="Times New Roman"/>
                <a:sym typeface="Times New Roman"/>
              </a:rPr>
              <a:t>. Since instructions are stored in sequential locations, the content of LC is incremented by 1 after processing each line of code. In case if ORG is missing, the assembler sets the location counter to 0 initially. </a:t>
            </a:r>
            <a:endParaRPr sz="1800" dirty="0">
              <a:solidFill>
                <a:schemeClr val="dk1"/>
              </a:solidFill>
              <a:latin typeface="Times New Roman"/>
              <a:ea typeface="Times New Roman"/>
              <a:cs typeface="Times New Roman"/>
              <a:sym typeface="Times New Roman"/>
            </a:endParaRPr>
          </a:p>
          <a:p>
            <a:pPr marL="457200" lvl="0" indent="-342900" algn="just" rtl="0">
              <a:spcBef>
                <a:spcPts val="0"/>
              </a:spcBef>
              <a:spcAft>
                <a:spcPts val="0"/>
              </a:spcAft>
              <a:buClr>
                <a:schemeClr val="dk1"/>
              </a:buClr>
              <a:buSzPts val="1800"/>
              <a:buFont typeface="Times New Roman"/>
              <a:buChar char="●"/>
            </a:pPr>
            <a:r>
              <a:rPr lang="en" sz="1800" dirty="0">
                <a:solidFill>
                  <a:schemeClr val="dk1"/>
                </a:solidFill>
                <a:latin typeface="Times New Roman"/>
                <a:ea typeface="Times New Roman"/>
                <a:cs typeface="Times New Roman"/>
                <a:sym typeface="Times New Roman"/>
              </a:rPr>
              <a:t>LC is initially set to 0. A line of symbolic code is analyzed to determine if it has a label (</a:t>
            </a:r>
            <a:r>
              <a:rPr lang="en" sz="1800" b="1" dirty="0">
                <a:solidFill>
                  <a:schemeClr val="dk1"/>
                </a:solidFill>
                <a:latin typeface="Times New Roman"/>
                <a:ea typeface="Times New Roman"/>
                <a:cs typeface="Times New Roman"/>
                <a:sym typeface="Times New Roman"/>
              </a:rPr>
              <a:t>by the presence of a comma</a:t>
            </a:r>
            <a:r>
              <a:rPr lang="en" sz="1800" dirty="0">
                <a:solidFill>
                  <a:schemeClr val="dk1"/>
                </a:solidFill>
                <a:latin typeface="Times New Roman"/>
                <a:ea typeface="Times New Roman"/>
                <a:cs typeface="Times New Roman"/>
                <a:sym typeface="Times New Roman"/>
              </a:rPr>
              <a:t>).  </a:t>
            </a:r>
            <a:endParaRPr sz="1800" dirty="0">
              <a:solidFill>
                <a:schemeClr val="dk1"/>
              </a:solidFill>
              <a:latin typeface="Times New Roman"/>
              <a:ea typeface="Times New Roman"/>
              <a:cs typeface="Times New Roman"/>
              <a:sym typeface="Times New Roman"/>
            </a:endParaRPr>
          </a:p>
          <a:p>
            <a:pPr marL="457200" lvl="0" indent="-342900" algn="just" rtl="0">
              <a:spcBef>
                <a:spcPts val="0"/>
              </a:spcBef>
              <a:spcAft>
                <a:spcPts val="0"/>
              </a:spcAft>
              <a:buClr>
                <a:schemeClr val="dk1"/>
              </a:buClr>
              <a:buSzPts val="1800"/>
              <a:buFont typeface="Times New Roman"/>
              <a:buChar char="●"/>
            </a:pPr>
            <a:r>
              <a:rPr lang="en" sz="1800" dirty="0">
                <a:solidFill>
                  <a:schemeClr val="dk1"/>
                </a:solidFill>
                <a:latin typeface="Times New Roman"/>
                <a:ea typeface="Times New Roman"/>
                <a:cs typeface="Times New Roman"/>
                <a:sym typeface="Times New Roman"/>
              </a:rPr>
              <a:t>If the line of code has no label, the assembler checks the symbol in the instruction field.  </a:t>
            </a:r>
            <a:endParaRPr sz="1800" dirty="0">
              <a:solidFill>
                <a:schemeClr val="dk1"/>
              </a:solidFill>
              <a:latin typeface="Times New Roman"/>
              <a:ea typeface="Times New Roman"/>
              <a:cs typeface="Times New Roman"/>
              <a:sym typeface="Times New Roman"/>
            </a:endParaRPr>
          </a:p>
          <a:p>
            <a:pPr marL="457200" lvl="0" indent="-342900" algn="just" rtl="0">
              <a:spcBef>
                <a:spcPts val="0"/>
              </a:spcBef>
              <a:spcAft>
                <a:spcPts val="0"/>
              </a:spcAft>
              <a:buClr>
                <a:schemeClr val="dk1"/>
              </a:buClr>
              <a:buSzPts val="1800"/>
              <a:buFont typeface="Times New Roman"/>
              <a:buChar char="●"/>
            </a:pPr>
            <a:r>
              <a:rPr lang="en" sz="1800" dirty="0">
                <a:solidFill>
                  <a:schemeClr val="dk1"/>
                </a:solidFill>
                <a:latin typeface="Times New Roman"/>
                <a:ea typeface="Times New Roman"/>
                <a:cs typeface="Times New Roman"/>
                <a:sym typeface="Times New Roman"/>
              </a:rPr>
              <a:t>If it contains an ORG pseudo instruction, the assembler sets LC to the number that follows ORG and goes back to process the next line.  </a:t>
            </a:r>
            <a:endParaRPr sz="1800" dirty="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None/>
            </a:pPr>
            <a:endParaRPr sz="1800" dirty="0">
              <a:solidFill>
                <a:schemeClr val="dk1"/>
              </a:solidFill>
              <a:latin typeface="Times New Roman"/>
              <a:ea typeface="Times New Roman"/>
              <a:cs typeface="Times New Roman"/>
              <a:sym typeface="Times New Roman"/>
            </a:endParaRPr>
          </a:p>
        </p:txBody>
      </p:sp>
      <p:pic>
        <p:nvPicPr>
          <p:cNvPr id="157" name="Google Shape;157;p28"/>
          <p:cNvPicPr preferRelativeResize="0"/>
          <p:nvPr/>
        </p:nvPicPr>
        <p:blipFill rotWithShape="1">
          <a:blip r:embed="rId3">
            <a:alphaModFix/>
          </a:blip>
          <a:srcRect l="52881" t="14304" r="10058" b="15608"/>
          <a:stretch/>
        </p:blipFill>
        <p:spPr>
          <a:xfrm>
            <a:off x="4674750" y="0"/>
            <a:ext cx="4473626" cy="51435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9"/>
          <p:cNvSpPr txBox="1"/>
          <p:nvPr/>
        </p:nvSpPr>
        <p:spPr>
          <a:xfrm>
            <a:off x="93750" y="282775"/>
            <a:ext cx="4460400" cy="4472400"/>
          </a:xfrm>
          <a:prstGeom prst="rect">
            <a:avLst/>
          </a:prstGeom>
          <a:noFill/>
          <a:ln>
            <a:noFill/>
          </a:ln>
        </p:spPr>
        <p:txBody>
          <a:bodyPr spcFirstLastPara="1" wrap="square" lIns="91425" tIns="91425" rIns="91425" bIns="91425" anchor="t" anchorCtr="0">
            <a:noAutofit/>
          </a:bodyPr>
          <a:lstStyle/>
          <a:p>
            <a:pPr marL="457200" lvl="0" indent="-342900" algn="just" rtl="0">
              <a:spcBef>
                <a:spcPts val="0"/>
              </a:spcBef>
              <a:spcAft>
                <a:spcPts val="0"/>
              </a:spcAft>
              <a:buClr>
                <a:schemeClr val="dk1"/>
              </a:buClr>
              <a:buSzPts val="1800"/>
              <a:buFont typeface="Times New Roman"/>
              <a:buChar char="●"/>
            </a:pPr>
            <a:r>
              <a:rPr lang="en" sz="1800" dirty="0">
                <a:solidFill>
                  <a:schemeClr val="dk1"/>
                </a:solidFill>
                <a:latin typeface="Times New Roman"/>
                <a:ea typeface="Times New Roman"/>
                <a:cs typeface="Times New Roman"/>
                <a:sym typeface="Times New Roman"/>
              </a:rPr>
              <a:t>If </a:t>
            </a:r>
            <a:r>
              <a:rPr lang="en" sz="1800" b="1" dirty="0">
                <a:solidFill>
                  <a:schemeClr val="dk1"/>
                </a:solidFill>
                <a:latin typeface="Times New Roman"/>
                <a:ea typeface="Times New Roman"/>
                <a:cs typeface="Times New Roman"/>
                <a:sym typeface="Times New Roman"/>
              </a:rPr>
              <a:t>the line has an END pseudo instruction, the assembler terminates the first pass and goes to the second pass. </a:t>
            </a:r>
            <a:r>
              <a:rPr lang="en" sz="1800" dirty="0">
                <a:solidFill>
                  <a:schemeClr val="dk1"/>
                </a:solidFill>
                <a:latin typeface="Times New Roman"/>
                <a:ea typeface="Times New Roman"/>
                <a:cs typeface="Times New Roman"/>
                <a:sym typeface="Times New Roman"/>
              </a:rPr>
              <a:t>(Note that a line with ORG or END should not have a label.) </a:t>
            </a:r>
            <a:endParaRPr sz="1800" dirty="0">
              <a:solidFill>
                <a:schemeClr val="dk1"/>
              </a:solidFill>
              <a:latin typeface="Times New Roman"/>
              <a:ea typeface="Times New Roman"/>
              <a:cs typeface="Times New Roman"/>
              <a:sym typeface="Times New Roman"/>
            </a:endParaRPr>
          </a:p>
          <a:p>
            <a:pPr marL="457200" lvl="0" indent="-342900" algn="just" rtl="0">
              <a:spcBef>
                <a:spcPts val="0"/>
              </a:spcBef>
              <a:spcAft>
                <a:spcPts val="0"/>
              </a:spcAft>
              <a:buClr>
                <a:schemeClr val="dk1"/>
              </a:buClr>
              <a:buSzPts val="1800"/>
              <a:buFont typeface="Times New Roman"/>
              <a:buChar char="●"/>
            </a:pPr>
            <a:r>
              <a:rPr lang="en" sz="1800" dirty="0">
                <a:solidFill>
                  <a:schemeClr val="dk1"/>
                </a:solidFill>
                <a:latin typeface="Times New Roman"/>
                <a:ea typeface="Times New Roman"/>
                <a:cs typeface="Times New Roman"/>
                <a:sym typeface="Times New Roman"/>
              </a:rPr>
              <a:t>If the line of code contains a label, it is stored in the address symbol table together with its binary equivalent number specified by the content of LC.  </a:t>
            </a:r>
            <a:endParaRPr sz="1800" dirty="0">
              <a:solidFill>
                <a:schemeClr val="dk1"/>
              </a:solidFill>
              <a:latin typeface="Times New Roman"/>
              <a:ea typeface="Times New Roman"/>
              <a:cs typeface="Times New Roman"/>
              <a:sym typeface="Times New Roman"/>
            </a:endParaRPr>
          </a:p>
          <a:p>
            <a:pPr marL="457200" lvl="0" indent="-342900" algn="just" rtl="0">
              <a:spcBef>
                <a:spcPts val="0"/>
              </a:spcBef>
              <a:spcAft>
                <a:spcPts val="0"/>
              </a:spcAft>
              <a:buClr>
                <a:schemeClr val="dk1"/>
              </a:buClr>
              <a:buSzPts val="1800"/>
              <a:buFont typeface="Times New Roman"/>
              <a:buChar char="●"/>
            </a:pPr>
            <a:r>
              <a:rPr lang="en" sz="1800" b="1" dirty="0">
                <a:solidFill>
                  <a:schemeClr val="dk1"/>
                </a:solidFill>
                <a:latin typeface="Times New Roman"/>
                <a:ea typeface="Times New Roman"/>
                <a:cs typeface="Times New Roman"/>
                <a:sym typeface="Times New Roman"/>
              </a:rPr>
              <a:t>Nothing is stored in the table if no label is encountered.  </a:t>
            </a:r>
            <a:endParaRPr sz="1800" b="1" dirty="0">
              <a:solidFill>
                <a:schemeClr val="dk1"/>
              </a:solidFill>
              <a:latin typeface="Times New Roman"/>
              <a:ea typeface="Times New Roman"/>
              <a:cs typeface="Times New Roman"/>
              <a:sym typeface="Times New Roman"/>
            </a:endParaRPr>
          </a:p>
          <a:p>
            <a:pPr marL="457200" lvl="0" indent="-342900" algn="just" rtl="0">
              <a:spcBef>
                <a:spcPts val="0"/>
              </a:spcBef>
              <a:spcAft>
                <a:spcPts val="0"/>
              </a:spcAft>
              <a:buClr>
                <a:schemeClr val="dk1"/>
              </a:buClr>
              <a:buSzPts val="1800"/>
              <a:buFont typeface="Times New Roman"/>
              <a:buChar char="●"/>
            </a:pPr>
            <a:r>
              <a:rPr lang="en" sz="1800" dirty="0">
                <a:solidFill>
                  <a:schemeClr val="dk1"/>
                </a:solidFill>
                <a:latin typeface="Times New Roman"/>
                <a:ea typeface="Times New Roman"/>
                <a:cs typeface="Times New Roman"/>
                <a:sym typeface="Times New Roman"/>
              </a:rPr>
              <a:t>LC is then incremented by 1 and a new line of code is processed. </a:t>
            </a:r>
            <a:endParaRPr sz="1800" dirty="0">
              <a:solidFill>
                <a:schemeClr val="dk1"/>
              </a:solidFill>
              <a:latin typeface="Times New Roman"/>
              <a:ea typeface="Times New Roman"/>
              <a:cs typeface="Times New Roman"/>
              <a:sym typeface="Times New Roman"/>
            </a:endParaRPr>
          </a:p>
        </p:txBody>
      </p:sp>
      <p:pic>
        <p:nvPicPr>
          <p:cNvPr id="163" name="Google Shape;163;p29"/>
          <p:cNvPicPr preferRelativeResize="0"/>
          <p:nvPr/>
        </p:nvPicPr>
        <p:blipFill rotWithShape="1">
          <a:blip r:embed="rId3">
            <a:alphaModFix/>
          </a:blip>
          <a:srcRect l="52881" t="14304" r="10058" b="15608"/>
          <a:stretch/>
        </p:blipFill>
        <p:spPr>
          <a:xfrm>
            <a:off x="4688075" y="0"/>
            <a:ext cx="4460301" cy="51435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pic>
        <p:nvPicPr>
          <p:cNvPr id="5" name="Google Shape;163;p29">
            <a:extLst>
              <a:ext uri="{FF2B5EF4-FFF2-40B4-BE49-F238E27FC236}">
                <a16:creationId xmlns:a16="http://schemas.microsoft.com/office/drawing/2014/main" id="{3FE8910E-344D-4DCC-8F92-D6A396A44601}"/>
              </a:ext>
            </a:extLst>
          </p:cNvPr>
          <p:cNvPicPr preferRelativeResize="0"/>
          <p:nvPr/>
        </p:nvPicPr>
        <p:blipFill rotWithShape="1">
          <a:blip r:embed="rId3">
            <a:alphaModFix/>
          </a:blip>
          <a:srcRect l="52881" t="14304" r="10058" b="15608"/>
          <a:stretch/>
        </p:blipFill>
        <p:spPr>
          <a:xfrm>
            <a:off x="4813512" y="0"/>
            <a:ext cx="4330487" cy="5143500"/>
          </a:xfrm>
          <a:prstGeom prst="rect">
            <a:avLst/>
          </a:prstGeom>
          <a:noFill/>
          <a:ln>
            <a:noFill/>
          </a:ln>
        </p:spPr>
      </p:pic>
      <p:pic>
        <p:nvPicPr>
          <p:cNvPr id="6" name="Google Shape;137;p25">
            <a:extLst>
              <a:ext uri="{FF2B5EF4-FFF2-40B4-BE49-F238E27FC236}">
                <a16:creationId xmlns:a16="http://schemas.microsoft.com/office/drawing/2014/main" id="{53A204E0-3994-43AA-9E74-860A579D4578}"/>
              </a:ext>
            </a:extLst>
          </p:cNvPr>
          <p:cNvPicPr preferRelativeResize="0"/>
          <p:nvPr/>
        </p:nvPicPr>
        <p:blipFill rotWithShape="1">
          <a:blip r:embed="rId4">
            <a:alphaModFix/>
          </a:blip>
          <a:srcRect l="17528" t="36757" r="44992" b="8339"/>
          <a:stretch/>
        </p:blipFill>
        <p:spPr>
          <a:xfrm>
            <a:off x="0" y="118142"/>
            <a:ext cx="3273397" cy="2507395"/>
          </a:xfrm>
          <a:prstGeom prst="rect">
            <a:avLst/>
          </a:prstGeom>
          <a:noFill/>
          <a:ln>
            <a:noFill/>
          </a:ln>
        </p:spPr>
      </p:pic>
      <p:sp>
        <p:nvSpPr>
          <p:cNvPr id="2" name="TextBox 1">
            <a:extLst>
              <a:ext uri="{FF2B5EF4-FFF2-40B4-BE49-F238E27FC236}">
                <a16:creationId xmlns:a16="http://schemas.microsoft.com/office/drawing/2014/main" id="{1892FB53-5660-477B-9ED2-C68DEADFB514}"/>
              </a:ext>
            </a:extLst>
          </p:cNvPr>
          <p:cNvSpPr txBox="1"/>
          <p:nvPr/>
        </p:nvSpPr>
        <p:spPr>
          <a:xfrm>
            <a:off x="253573" y="2391605"/>
            <a:ext cx="760719" cy="230832"/>
          </a:xfrm>
          <a:prstGeom prst="rect">
            <a:avLst/>
          </a:prstGeom>
          <a:noFill/>
        </p:spPr>
        <p:txBody>
          <a:bodyPr wrap="square" rtlCol="0">
            <a:spAutoFit/>
          </a:bodyPr>
          <a:lstStyle/>
          <a:p>
            <a:r>
              <a:rPr lang="en-US" sz="900" b="1" dirty="0"/>
              <a:t>109</a:t>
            </a:r>
            <a:endParaRPr lang="en-IN" sz="900" b="1" dirty="0"/>
          </a:p>
        </p:txBody>
      </p:sp>
      <p:graphicFrame>
        <p:nvGraphicFramePr>
          <p:cNvPr id="3" name="Table 3">
            <a:extLst>
              <a:ext uri="{FF2B5EF4-FFF2-40B4-BE49-F238E27FC236}">
                <a16:creationId xmlns:a16="http://schemas.microsoft.com/office/drawing/2014/main" id="{CABE1D0B-97F4-4EFE-92AF-59C7C4138491}"/>
              </a:ext>
            </a:extLst>
          </p:cNvPr>
          <p:cNvGraphicFramePr>
            <a:graphicFrameLocks noGrp="1"/>
          </p:cNvGraphicFramePr>
          <p:nvPr>
            <p:extLst>
              <p:ext uri="{D42A27DB-BD31-4B8C-83A1-F6EECF244321}">
                <p14:modId xmlns:p14="http://schemas.microsoft.com/office/powerpoint/2010/main" val="3619509848"/>
              </p:ext>
            </p:extLst>
          </p:nvPr>
        </p:nvGraphicFramePr>
        <p:xfrm>
          <a:off x="81161" y="3151492"/>
          <a:ext cx="4471362" cy="1630680"/>
        </p:xfrm>
        <a:graphic>
          <a:graphicData uri="http://schemas.openxmlformats.org/drawingml/2006/table">
            <a:tbl>
              <a:tblPr firstRow="1" bandRow="1">
                <a:tableStyleId>{5940675A-B579-460E-94D1-54222C63F5DA}</a:tableStyleId>
              </a:tblPr>
              <a:tblGrid>
                <a:gridCol w="910347">
                  <a:extLst>
                    <a:ext uri="{9D8B030D-6E8A-4147-A177-3AD203B41FA5}">
                      <a16:colId xmlns:a16="http://schemas.microsoft.com/office/drawing/2014/main" val="2797861021"/>
                    </a:ext>
                  </a:extLst>
                </a:gridCol>
                <a:gridCol w="1075765">
                  <a:extLst>
                    <a:ext uri="{9D8B030D-6E8A-4147-A177-3AD203B41FA5}">
                      <a16:colId xmlns:a16="http://schemas.microsoft.com/office/drawing/2014/main" val="982122674"/>
                    </a:ext>
                  </a:extLst>
                </a:gridCol>
                <a:gridCol w="2485250">
                  <a:extLst>
                    <a:ext uri="{9D8B030D-6E8A-4147-A177-3AD203B41FA5}">
                      <a16:colId xmlns:a16="http://schemas.microsoft.com/office/drawing/2014/main" val="1603109730"/>
                    </a:ext>
                  </a:extLst>
                </a:gridCol>
              </a:tblGrid>
              <a:tr h="370840">
                <a:tc>
                  <a:txBody>
                    <a:bodyPr/>
                    <a:lstStyle/>
                    <a:p>
                      <a:r>
                        <a:rPr lang="en-US" b="1" dirty="0"/>
                        <a:t>Symbol</a:t>
                      </a:r>
                      <a:endParaRPr lang="en-IN" b="1" dirty="0"/>
                    </a:p>
                  </a:txBody>
                  <a:tcPr/>
                </a:tc>
                <a:tc>
                  <a:txBody>
                    <a:bodyPr/>
                    <a:lstStyle/>
                    <a:p>
                      <a:r>
                        <a:rPr lang="en-US" b="1" dirty="0"/>
                        <a:t>HEX Address</a:t>
                      </a:r>
                      <a:endParaRPr lang="en-IN" b="1" dirty="0"/>
                    </a:p>
                  </a:txBody>
                  <a:tcPr/>
                </a:tc>
                <a:tc>
                  <a:txBody>
                    <a:bodyPr/>
                    <a:lstStyle/>
                    <a:p>
                      <a:r>
                        <a:rPr lang="en-US" b="1" dirty="0"/>
                        <a:t>Binary Equivalent</a:t>
                      </a:r>
                      <a:endParaRPr lang="en-IN" b="1" dirty="0"/>
                    </a:p>
                  </a:txBody>
                  <a:tcPr/>
                </a:tc>
                <a:extLst>
                  <a:ext uri="{0D108BD9-81ED-4DB2-BD59-A6C34878D82A}">
                    <a16:rowId xmlns:a16="http://schemas.microsoft.com/office/drawing/2014/main" val="4245227719"/>
                  </a:ext>
                </a:extLst>
              </a:tr>
              <a:tr h="370840">
                <a:tc>
                  <a:txBody>
                    <a:bodyPr/>
                    <a:lstStyle/>
                    <a:p>
                      <a:r>
                        <a:rPr lang="en-US" dirty="0"/>
                        <a:t>MIN</a:t>
                      </a:r>
                      <a:endParaRPr lang="en-IN" dirty="0"/>
                    </a:p>
                  </a:txBody>
                  <a:tcPr/>
                </a:tc>
                <a:tc>
                  <a:txBody>
                    <a:bodyPr/>
                    <a:lstStyle/>
                    <a:p>
                      <a:r>
                        <a:rPr lang="en-US" dirty="0"/>
                        <a:t>106</a:t>
                      </a:r>
                      <a:endParaRPr lang="en-IN" dirty="0"/>
                    </a:p>
                  </a:txBody>
                  <a:tcPr/>
                </a:tc>
                <a:tc>
                  <a:txBody>
                    <a:bodyPr/>
                    <a:lstStyle/>
                    <a:p>
                      <a:r>
                        <a:rPr lang="en-US" dirty="0"/>
                        <a:t>0000 0001 0000 0110</a:t>
                      </a:r>
                      <a:endParaRPr lang="en-IN" dirty="0"/>
                    </a:p>
                  </a:txBody>
                  <a:tcPr/>
                </a:tc>
                <a:extLst>
                  <a:ext uri="{0D108BD9-81ED-4DB2-BD59-A6C34878D82A}">
                    <a16:rowId xmlns:a16="http://schemas.microsoft.com/office/drawing/2014/main" val="4166515358"/>
                  </a:ext>
                </a:extLst>
              </a:tr>
              <a:tr h="370840">
                <a:tc>
                  <a:txBody>
                    <a:bodyPr/>
                    <a:lstStyle/>
                    <a:p>
                      <a:r>
                        <a:rPr lang="en-US" dirty="0"/>
                        <a:t>SUB</a:t>
                      </a:r>
                      <a:endParaRPr lang="en-IN" dirty="0"/>
                    </a:p>
                  </a:txBody>
                  <a:tcPr/>
                </a:tc>
                <a:tc>
                  <a:txBody>
                    <a:bodyPr/>
                    <a:lstStyle/>
                    <a:p>
                      <a:r>
                        <a:rPr lang="en-US" dirty="0"/>
                        <a:t>107</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0000 0001 0000 0111</a:t>
                      </a:r>
                      <a:endParaRPr lang="en-IN" dirty="0"/>
                    </a:p>
                  </a:txBody>
                  <a:tcPr/>
                </a:tc>
                <a:extLst>
                  <a:ext uri="{0D108BD9-81ED-4DB2-BD59-A6C34878D82A}">
                    <a16:rowId xmlns:a16="http://schemas.microsoft.com/office/drawing/2014/main" val="749100482"/>
                  </a:ext>
                </a:extLst>
              </a:tr>
              <a:tr h="370840">
                <a:tc>
                  <a:txBody>
                    <a:bodyPr/>
                    <a:lstStyle/>
                    <a:p>
                      <a:r>
                        <a:rPr lang="en-US" dirty="0"/>
                        <a:t>DIF</a:t>
                      </a:r>
                      <a:endParaRPr lang="en-IN" dirty="0"/>
                    </a:p>
                  </a:txBody>
                  <a:tcPr/>
                </a:tc>
                <a:tc>
                  <a:txBody>
                    <a:bodyPr/>
                    <a:lstStyle/>
                    <a:p>
                      <a:r>
                        <a:rPr lang="en-US" dirty="0"/>
                        <a:t>108</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0000 0001 0000 1000</a:t>
                      </a:r>
                      <a:endParaRPr lang="en-IN" dirty="0"/>
                    </a:p>
                  </a:txBody>
                  <a:tcPr/>
                </a:tc>
                <a:extLst>
                  <a:ext uri="{0D108BD9-81ED-4DB2-BD59-A6C34878D82A}">
                    <a16:rowId xmlns:a16="http://schemas.microsoft.com/office/drawing/2014/main" val="2738922187"/>
                  </a:ext>
                </a:extLst>
              </a:tr>
            </a:tbl>
          </a:graphicData>
        </a:graphic>
      </p:graphicFrame>
      <p:sp>
        <p:nvSpPr>
          <p:cNvPr id="4" name="TextBox 3">
            <a:extLst>
              <a:ext uri="{FF2B5EF4-FFF2-40B4-BE49-F238E27FC236}">
                <a16:creationId xmlns:a16="http://schemas.microsoft.com/office/drawing/2014/main" id="{4F758646-50AA-4574-AB38-9B8E79D51E39}"/>
              </a:ext>
            </a:extLst>
          </p:cNvPr>
          <p:cNvSpPr txBox="1"/>
          <p:nvPr/>
        </p:nvSpPr>
        <p:spPr>
          <a:xfrm>
            <a:off x="583987" y="2804672"/>
            <a:ext cx="3442447" cy="369332"/>
          </a:xfrm>
          <a:prstGeom prst="rect">
            <a:avLst/>
          </a:prstGeom>
          <a:noFill/>
        </p:spPr>
        <p:txBody>
          <a:bodyPr wrap="square" rtlCol="0">
            <a:spAutoFit/>
          </a:bodyPr>
          <a:lstStyle/>
          <a:p>
            <a:r>
              <a:rPr lang="en-US" sz="1800" b="1" dirty="0">
                <a:latin typeface="Times New Roman" panose="02020603050405020304" pitchFamily="18" charset="0"/>
                <a:cs typeface="Times New Roman" panose="02020603050405020304" pitchFamily="18" charset="0"/>
              </a:rPr>
              <a:t>Address Symbol Table</a:t>
            </a:r>
            <a:endParaRPr lang="en-IN" sz="18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18F5FEC9-E4C8-48CB-A144-C0665369261D}"/>
              </a:ext>
            </a:extLst>
          </p:cNvPr>
          <p:cNvSpPr txBox="1"/>
          <p:nvPr/>
        </p:nvSpPr>
        <p:spPr>
          <a:xfrm>
            <a:off x="929768" y="495158"/>
            <a:ext cx="607039" cy="2076592"/>
          </a:xfrm>
          <a:prstGeom prst="rect">
            <a:avLst/>
          </a:prstGeom>
          <a:solidFill>
            <a:schemeClr val="bg1"/>
          </a:solidFill>
          <a:ln>
            <a:solidFill>
              <a:schemeClr val="bg1"/>
            </a:solidFill>
          </a:ln>
        </p:spPr>
        <p:txBody>
          <a:bodyPr wrap="square" rtlCol="0">
            <a:spAutoFit/>
          </a:bodyPr>
          <a:lstStyle/>
          <a:p>
            <a:endParaRPr lang="en-IN" dirty="0"/>
          </a:p>
        </p:txBody>
      </p:sp>
    </p:spTree>
    <p:extLst>
      <p:ext uri="{BB962C8B-B14F-4D97-AF65-F5344CB8AC3E}">
        <p14:creationId xmlns:p14="http://schemas.microsoft.com/office/powerpoint/2010/main" val="19085712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30"/>
          <p:cNvSpPr txBox="1">
            <a:spLocks noGrp="1"/>
          </p:cNvSpPr>
          <p:nvPr>
            <p:ph type="subTitle" idx="1"/>
          </p:nvPr>
        </p:nvSpPr>
        <p:spPr>
          <a:xfrm>
            <a:off x="311700" y="2834125"/>
            <a:ext cx="8520600" cy="15594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4600" b="1">
                <a:solidFill>
                  <a:schemeClr val="dk1"/>
                </a:solidFill>
                <a:latin typeface="Times New Roman"/>
                <a:ea typeface="Times New Roman"/>
                <a:cs typeface="Times New Roman"/>
                <a:sym typeface="Times New Roman"/>
              </a:rPr>
              <a:t>Second Pass of Assembler</a:t>
            </a:r>
            <a:endParaRPr sz="4600" b="1">
              <a:solidFill>
                <a:schemeClr val="dk1"/>
              </a:solidFill>
              <a:latin typeface="Times New Roman"/>
              <a:ea typeface="Times New Roman"/>
              <a:cs typeface="Times New Roman"/>
              <a:sym typeface="Times New Roman"/>
            </a:endParaRPr>
          </a:p>
          <a:p>
            <a:pPr marL="0" lvl="0" indent="0" algn="ctr" rtl="0">
              <a:spcBef>
                <a:spcPts val="1200"/>
              </a:spcBef>
              <a:spcAft>
                <a:spcPts val="0"/>
              </a:spcAft>
              <a:buNone/>
            </a:pPr>
            <a:endParaRPr sz="3400"/>
          </a:p>
        </p:txBody>
      </p:sp>
    </p:spTree>
    <p:extLst>
      <p:ext uri="{BB962C8B-B14F-4D97-AF65-F5344CB8AC3E}">
        <p14:creationId xmlns:p14="http://schemas.microsoft.com/office/powerpoint/2010/main" val="19117302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31"/>
          <p:cNvSpPr txBox="1">
            <a:spLocks noGrp="1"/>
          </p:cNvSpPr>
          <p:nvPr>
            <p:ph type="title"/>
          </p:nvPr>
        </p:nvSpPr>
        <p:spPr>
          <a:xfrm>
            <a:off x="83100" y="-88375"/>
            <a:ext cx="8520600" cy="57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990"/>
              <a:buFont typeface="Arial"/>
              <a:buNone/>
            </a:pPr>
            <a:r>
              <a:rPr lang="en" sz="2640" b="1">
                <a:latin typeface="Times New Roman"/>
                <a:ea typeface="Times New Roman"/>
                <a:cs typeface="Times New Roman"/>
                <a:sym typeface="Times New Roman"/>
              </a:rPr>
              <a:t>Second Pass of Assembler</a:t>
            </a:r>
            <a:endParaRPr sz="2160">
              <a:latin typeface="Times New Roman"/>
              <a:ea typeface="Times New Roman"/>
              <a:cs typeface="Times New Roman"/>
              <a:sym typeface="Times New Roman"/>
            </a:endParaRPr>
          </a:p>
          <a:p>
            <a:pPr marL="0" lvl="0" indent="0" algn="l" rtl="0">
              <a:lnSpc>
                <a:spcPct val="115000"/>
              </a:lnSpc>
              <a:spcBef>
                <a:spcPts val="1200"/>
              </a:spcBef>
              <a:spcAft>
                <a:spcPts val="1200"/>
              </a:spcAft>
              <a:buClr>
                <a:schemeClr val="dk1"/>
              </a:buClr>
              <a:buSzPts val="990"/>
              <a:buFont typeface="Arial"/>
              <a:buNone/>
            </a:pPr>
            <a:endParaRPr sz="3600" b="1">
              <a:latin typeface="Times New Roman"/>
              <a:ea typeface="Times New Roman"/>
              <a:cs typeface="Times New Roman"/>
              <a:sym typeface="Times New Roman"/>
            </a:endParaRPr>
          </a:p>
        </p:txBody>
      </p:sp>
      <p:sp>
        <p:nvSpPr>
          <p:cNvPr id="174" name="Google Shape;174;p31"/>
          <p:cNvSpPr txBox="1"/>
          <p:nvPr/>
        </p:nvSpPr>
        <p:spPr>
          <a:xfrm>
            <a:off x="17550" y="435175"/>
            <a:ext cx="4138800" cy="4551900"/>
          </a:xfrm>
          <a:prstGeom prst="rect">
            <a:avLst/>
          </a:prstGeom>
          <a:noFill/>
          <a:ln>
            <a:noFill/>
          </a:ln>
        </p:spPr>
        <p:txBody>
          <a:bodyPr spcFirstLastPara="1" wrap="square" lIns="91425" tIns="91425" rIns="91425" bIns="91425" anchor="t" anchorCtr="0">
            <a:noAutofit/>
          </a:bodyPr>
          <a:lstStyle/>
          <a:p>
            <a:pPr marL="457200" lvl="0" indent="-342900" algn="just" rtl="0">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Machine instructions are translated to binary during the second pass of assembler.  </a:t>
            </a:r>
            <a:endParaRPr sz="1800">
              <a:solidFill>
                <a:schemeClr val="dk1"/>
              </a:solidFill>
              <a:latin typeface="Times New Roman"/>
              <a:ea typeface="Times New Roman"/>
              <a:cs typeface="Times New Roman"/>
              <a:sym typeface="Times New Roman"/>
            </a:endParaRPr>
          </a:p>
          <a:p>
            <a:pPr marL="457200" lvl="0" indent="-342900" algn="just" rtl="0">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LC is initially set to 0. Lines of code are then analyzed one at a time. Labels are neglected during the second pass, so the assembler goes immediately to the instruction field and proceeds to check the first symbol encountered.  </a:t>
            </a:r>
            <a:endParaRPr sz="1800">
              <a:solidFill>
                <a:schemeClr val="dk1"/>
              </a:solidFill>
              <a:latin typeface="Times New Roman"/>
              <a:ea typeface="Times New Roman"/>
              <a:cs typeface="Times New Roman"/>
              <a:sym typeface="Times New Roman"/>
            </a:endParaRPr>
          </a:p>
          <a:p>
            <a:pPr marL="457200" lvl="0" indent="-342900" algn="just" rtl="0">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It first checks the pseudo instruction table. A match with ORG sends the assembler to a subroutine that sets LC to an initial value.  </a:t>
            </a:r>
            <a:endParaRPr sz="1800">
              <a:solidFill>
                <a:schemeClr val="dk1"/>
              </a:solidFill>
              <a:latin typeface="Times New Roman"/>
              <a:ea typeface="Times New Roman"/>
              <a:cs typeface="Times New Roman"/>
              <a:sym typeface="Times New Roman"/>
            </a:endParaRPr>
          </a:p>
          <a:p>
            <a:pPr marL="457200" lvl="0" indent="-342900" algn="just" rtl="0">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A match with END terminates the translation process.</a:t>
            </a:r>
            <a:endParaRPr sz="1800">
              <a:solidFill>
                <a:schemeClr val="dk1"/>
              </a:solidFill>
              <a:latin typeface="Times New Roman"/>
              <a:ea typeface="Times New Roman"/>
              <a:cs typeface="Times New Roman"/>
              <a:sym typeface="Times New Roman"/>
            </a:endParaRPr>
          </a:p>
        </p:txBody>
      </p:sp>
      <p:pic>
        <p:nvPicPr>
          <p:cNvPr id="175" name="Google Shape;175;p31"/>
          <p:cNvPicPr preferRelativeResize="0"/>
          <p:nvPr/>
        </p:nvPicPr>
        <p:blipFill rotWithShape="1">
          <a:blip r:embed="rId3">
            <a:alphaModFix/>
          </a:blip>
          <a:srcRect l="50683" t="16905" r="10790" b="5969"/>
          <a:stretch/>
        </p:blipFill>
        <p:spPr>
          <a:xfrm>
            <a:off x="4232550" y="0"/>
            <a:ext cx="4911450" cy="51435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32"/>
          <p:cNvSpPr txBox="1"/>
          <p:nvPr/>
        </p:nvSpPr>
        <p:spPr>
          <a:xfrm>
            <a:off x="-160725" y="-22025"/>
            <a:ext cx="4240800" cy="5085300"/>
          </a:xfrm>
          <a:prstGeom prst="rect">
            <a:avLst/>
          </a:prstGeom>
          <a:noFill/>
          <a:ln>
            <a:noFill/>
          </a:ln>
        </p:spPr>
        <p:txBody>
          <a:bodyPr spcFirstLastPara="1" wrap="square" lIns="91425" tIns="91425" rIns="91425" bIns="91425" anchor="t" anchorCtr="0">
            <a:noAutofit/>
          </a:bodyPr>
          <a:lstStyle/>
          <a:p>
            <a:pPr marL="457200" lvl="0" indent="-342900" algn="just" rtl="0">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If END is not matched, there will be operand pseudo instruction like HEX and DEC causes a conversion of the operand into binary. This operand is placed in the memory location specified by the content of LC. The location counter is then incremented by 1 and the assembler continues to analyze the next line of code.  </a:t>
            </a:r>
            <a:endParaRPr sz="1800">
              <a:solidFill>
                <a:schemeClr val="dk1"/>
              </a:solidFill>
              <a:latin typeface="Times New Roman"/>
              <a:ea typeface="Times New Roman"/>
              <a:cs typeface="Times New Roman"/>
              <a:sym typeface="Times New Roman"/>
            </a:endParaRPr>
          </a:p>
          <a:p>
            <a:pPr marL="457200" lvl="0" indent="-342900" algn="just" rtl="0">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But if the symbol encountered is not a pseudo instruction, the assembler refers to the MRI table corresponds to memory reference instruction.  </a:t>
            </a:r>
            <a:endParaRPr sz="1800">
              <a:solidFill>
                <a:schemeClr val="dk1"/>
              </a:solidFill>
              <a:latin typeface="Times New Roman"/>
              <a:ea typeface="Times New Roman"/>
              <a:cs typeface="Times New Roman"/>
              <a:sym typeface="Times New Roman"/>
            </a:endParaRPr>
          </a:p>
          <a:p>
            <a:pPr marL="457200" lvl="0" indent="-342900" algn="just" rtl="0">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If the symbol is not found in this table, the assembler refers to the non-MRI table. A symbol found in the non-MRI table corresponds to a register reference or input-output instruction.  </a:t>
            </a:r>
            <a:endParaRPr sz="180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pic>
        <p:nvPicPr>
          <p:cNvPr id="181" name="Google Shape;181;p32"/>
          <p:cNvPicPr preferRelativeResize="0"/>
          <p:nvPr/>
        </p:nvPicPr>
        <p:blipFill rotWithShape="1">
          <a:blip r:embed="rId3">
            <a:alphaModFix/>
          </a:blip>
          <a:srcRect l="50683" t="16905" r="10790" b="5969"/>
          <a:stretch/>
        </p:blipFill>
        <p:spPr>
          <a:xfrm>
            <a:off x="4232550" y="0"/>
            <a:ext cx="4911450" cy="51435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33"/>
          <p:cNvSpPr txBox="1"/>
          <p:nvPr/>
        </p:nvSpPr>
        <p:spPr>
          <a:xfrm>
            <a:off x="-120550" y="-22025"/>
            <a:ext cx="4353000" cy="5143500"/>
          </a:xfrm>
          <a:prstGeom prst="rect">
            <a:avLst/>
          </a:prstGeom>
          <a:noFill/>
          <a:ln>
            <a:noFill/>
          </a:ln>
        </p:spPr>
        <p:txBody>
          <a:bodyPr spcFirstLastPara="1" wrap="square" lIns="91425" tIns="91425" rIns="91425" bIns="91425" anchor="t" anchorCtr="0">
            <a:noAutofit/>
          </a:bodyPr>
          <a:lstStyle/>
          <a:p>
            <a:pPr marL="457200" lvl="0" indent="-342900" algn="just" rtl="0">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The assembler stores the 16-bit instruction code into the memory word specified by LC. The location counter is incremented and a new line analyzed.  </a:t>
            </a:r>
            <a:endParaRPr sz="1800">
              <a:solidFill>
                <a:schemeClr val="dk1"/>
              </a:solidFill>
              <a:latin typeface="Times New Roman"/>
              <a:ea typeface="Times New Roman"/>
              <a:cs typeface="Times New Roman"/>
              <a:sym typeface="Times New Roman"/>
            </a:endParaRPr>
          </a:p>
          <a:p>
            <a:pPr marL="457200" lvl="0" indent="-342900" algn="just" rtl="0">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When a symbol is found in the MRI table, the assembler extracts its equivalent 3-bit code and inserts it in bits 2 through 4 of a word.</a:t>
            </a:r>
            <a:endParaRPr sz="1800">
              <a:solidFill>
                <a:schemeClr val="dk1"/>
              </a:solidFill>
              <a:latin typeface="Times New Roman"/>
              <a:ea typeface="Times New Roman"/>
              <a:cs typeface="Times New Roman"/>
              <a:sym typeface="Times New Roman"/>
            </a:endParaRPr>
          </a:p>
          <a:p>
            <a:pPr marL="457200" lvl="0" indent="-342900" algn="just" rtl="0">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A memory reference instruction is specified by two or three symbols. The second symbol is a symbolic address and the third, which may or may not be present, is the letter I. The symbolic address is converted to binary by searching the address symbol table. The first bit of the instruction is set to 0 or 1, depending on whether the letter I is absent or present.  </a:t>
            </a:r>
            <a:endParaRPr sz="180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None/>
            </a:pPr>
            <a:endParaRPr sz="180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pic>
        <p:nvPicPr>
          <p:cNvPr id="187" name="Google Shape;187;p33"/>
          <p:cNvPicPr preferRelativeResize="0"/>
          <p:nvPr/>
        </p:nvPicPr>
        <p:blipFill rotWithShape="1">
          <a:blip r:embed="rId3">
            <a:alphaModFix/>
          </a:blip>
          <a:srcRect l="50683" t="16905" r="10790" b="5969"/>
          <a:stretch/>
        </p:blipFill>
        <p:spPr>
          <a:xfrm>
            <a:off x="4232550" y="0"/>
            <a:ext cx="4911450" cy="51435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34"/>
          <p:cNvSpPr txBox="1"/>
          <p:nvPr/>
        </p:nvSpPr>
        <p:spPr>
          <a:xfrm>
            <a:off x="-58650" y="54175"/>
            <a:ext cx="4138800" cy="4632000"/>
          </a:xfrm>
          <a:prstGeom prst="rect">
            <a:avLst/>
          </a:prstGeom>
          <a:noFill/>
          <a:ln>
            <a:noFill/>
          </a:ln>
        </p:spPr>
        <p:txBody>
          <a:bodyPr spcFirstLastPara="1" wrap="square" lIns="91425" tIns="91425" rIns="91425" bIns="91425" anchor="t" anchorCtr="0">
            <a:noAutofit/>
          </a:bodyPr>
          <a:lstStyle/>
          <a:p>
            <a:pPr marL="457200" lvl="0" indent="-342900" algn="just" rtl="0">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The three parts of the binary instruction code are assembled and then stored in the memory location specified by the content of LC.</a:t>
            </a:r>
            <a:endParaRPr sz="1800">
              <a:solidFill>
                <a:schemeClr val="dk1"/>
              </a:solidFill>
              <a:latin typeface="Times New Roman"/>
              <a:ea typeface="Times New Roman"/>
              <a:cs typeface="Times New Roman"/>
              <a:sym typeface="Times New Roman"/>
            </a:endParaRPr>
          </a:p>
          <a:p>
            <a:pPr marL="457200" lvl="0" indent="-342900" algn="just" rtl="0">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The location counter is incremented and the assembler continues to process the next line.  </a:t>
            </a:r>
            <a:endParaRPr sz="1800">
              <a:solidFill>
                <a:schemeClr val="dk1"/>
              </a:solidFill>
              <a:latin typeface="Times New Roman"/>
              <a:ea typeface="Times New Roman"/>
              <a:cs typeface="Times New Roman"/>
              <a:sym typeface="Times New Roman"/>
            </a:endParaRPr>
          </a:p>
          <a:p>
            <a:pPr marL="457200" lvl="0" indent="-342900" algn="just" rtl="0">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One important task of an assembler is to check for possible errors in the symbolic program. This is called error diagnostics. It is an invalid machine code symbol which is detected if it is not the MRI and non-MRI tables. </a:t>
            </a:r>
            <a:endParaRPr sz="180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None/>
            </a:pPr>
            <a:endParaRPr sz="180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pic>
        <p:nvPicPr>
          <p:cNvPr id="193" name="Google Shape;193;p34"/>
          <p:cNvPicPr preferRelativeResize="0"/>
          <p:nvPr/>
        </p:nvPicPr>
        <p:blipFill rotWithShape="1">
          <a:blip r:embed="rId3">
            <a:alphaModFix/>
          </a:blip>
          <a:srcRect l="50683" t="16905" r="10790" b="5969"/>
          <a:stretch/>
        </p:blipFill>
        <p:spPr>
          <a:xfrm>
            <a:off x="4232550" y="0"/>
            <a:ext cx="4911450" cy="51435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graphicFrame>
        <p:nvGraphicFramePr>
          <p:cNvPr id="6" name="Table 3">
            <a:extLst>
              <a:ext uri="{FF2B5EF4-FFF2-40B4-BE49-F238E27FC236}">
                <a16:creationId xmlns:a16="http://schemas.microsoft.com/office/drawing/2014/main" id="{F9ABB143-8C5C-4863-BED5-54CBCF06B72A}"/>
              </a:ext>
            </a:extLst>
          </p:cNvPr>
          <p:cNvGraphicFramePr>
            <a:graphicFrameLocks noGrp="1"/>
          </p:cNvGraphicFramePr>
          <p:nvPr>
            <p:extLst>
              <p:ext uri="{D42A27DB-BD31-4B8C-83A1-F6EECF244321}">
                <p14:modId xmlns:p14="http://schemas.microsoft.com/office/powerpoint/2010/main" val="3724523573"/>
              </p:ext>
            </p:extLst>
          </p:nvPr>
        </p:nvGraphicFramePr>
        <p:xfrm>
          <a:off x="136631" y="3425413"/>
          <a:ext cx="3722436" cy="1630680"/>
        </p:xfrm>
        <a:graphic>
          <a:graphicData uri="http://schemas.openxmlformats.org/drawingml/2006/table">
            <a:tbl>
              <a:tblPr firstRow="1" bandRow="1">
                <a:tableStyleId>{5940675A-B579-460E-94D1-54222C63F5DA}</a:tableStyleId>
              </a:tblPr>
              <a:tblGrid>
                <a:gridCol w="757869">
                  <a:extLst>
                    <a:ext uri="{9D8B030D-6E8A-4147-A177-3AD203B41FA5}">
                      <a16:colId xmlns:a16="http://schemas.microsoft.com/office/drawing/2014/main" val="2797861021"/>
                    </a:ext>
                  </a:extLst>
                </a:gridCol>
                <a:gridCol w="895581">
                  <a:extLst>
                    <a:ext uri="{9D8B030D-6E8A-4147-A177-3AD203B41FA5}">
                      <a16:colId xmlns:a16="http://schemas.microsoft.com/office/drawing/2014/main" val="982122674"/>
                    </a:ext>
                  </a:extLst>
                </a:gridCol>
                <a:gridCol w="2068986">
                  <a:extLst>
                    <a:ext uri="{9D8B030D-6E8A-4147-A177-3AD203B41FA5}">
                      <a16:colId xmlns:a16="http://schemas.microsoft.com/office/drawing/2014/main" val="1603109730"/>
                    </a:ext>
                  </a:extLst>
                </a:gridCol>
              </a:tblGrid>
              <a:tr h="370840">
                <a:tc>
                  <a:txBody>
                    <a:bodyPr/>
                    <a:lstStyle/>
                    <a:p>
                      <a:r>
                        <a:rPr lang="en-US" b="1" dirty="0"/>
                        <a:t>Symbol</a:t>
                      </a:r>
                      <a:endParaRPr lang="en-IN" b="1" dirty="0"/>
                    </a:p>
                  </a:txBody>
                  <a:tcPr/>
                </a:tc>
                <a:tc>
                  <a:txBody>
                    <a:bodyPr/>
                    <a:lstStyle/>
                    <a:p>
                      <a:r>
                        <a:rPr lang="en-US" b="1" dirty="0"/>
                        <a:t>HEX Address</a:t>
                      </a:r>
                      <a:endParaRPr lang="en-IN" b="1" dirty="0"/>
                    </a:p>
                  </a:txBody>
                  <a:tcPr/>
                </a:tc>
                <a:tc>
                  <a:txBody>
                    <a:bodyPr/>
                    <a:lstStyle/>
                    <a:p>
                      <a:r>
                        <a:rPr lang="en-US" b="1" dirty="0"/>
                        <a:t>Binary Equivalent</a:t>
                      </a:r>
                      <a:endParaRPr lang="en-IN" b="1" dirty="0"/>
                    </a:p>
                  </a:txBody>
                  <a:tcPr/>
                </a:tc>
                <a:extLst>
                  <a:ext uri="{0D108BD9-81ED-4DB2-BD59-A6C34878D82A}">
                    <a16:rowId xmlns:a16="http://schemas.microsoft.com/office/drawing/2014/main" val="4245227719"/>
                  </a:ext>
                </a:extLst>
              </a:tr>
              <a:tr h="370840">
                <a:tc>
                  <a:txBody>
                    <a:bodyPr/>
                    <a:lstStyle/>
                    <a:p>
                      <a:r>
                        <a:rPr lang="en-US" dirty="0"/>
                        <a:t>MIN</a:t>
                      </a:r>
                      <a:endParaRPr lang="en-IN" dirty="0"/>
                    </a:p>
                  </a:txBody>
                  <a:tcPr/>
                </a:tc>
                <a:tc>
                  <a:txBody>
                    <a:bodyPr/>
                    <a:lstStyle/>
                    <a:p>
                      <a:r>
                        <a:rPr lang="en-US" dirty="0"/>
                        <a:t>106</a:t>
                      </a:r>
                      <a:endParaRPr lang="en-IN" dirty="0"/>
                    </a:p>
                  </a:txBody>
                  <a:tcPr/>
                </a:tc>
                <a:tc>
                  <a:txBody>
                    <a:bodyPr/>
                    <a:lstStyle/>
                    <a:p>
                      <a:r>
                        <a:rPr lang="en-US" dirty="0"/>
                        <a:t>0000 0001 0000 0110</a:t>
                      </a:r>
                      <a:endParaRPr lang="en-IN" dirty="0"/>
                    </a:p>
                  </a:txBody>
                  <a:tcPr/>
                </a:tc>
                <a:extLst>
                  <a:ext uri="{0D108BD9-81ED-4DB2-BD59-A6C34878D82A}">
                    <a16:rowId xmlns:a16="http://schemas.microsoft.com/office/drawing/2014/main" val="4166515358"/>
                  </a:ext>
                </a:extLst>
              </a:tr>
              <a:tr h="370840">
                <a:tc>
                  <a:txBody>
                    <a:bodyPr/>
                    <a:lstStyle/>
                    <a:p>
                      <a:r>
                        <a:rPr lang="en-US" dirty="0"/>
                        <a:t>SUB</a:t>
                      </a:r>
                      <a:endParaRPr lang="en-IN" dirty="0"/>
                    </a:p>
                  </a:txBody>
                  <a:tcPr/>
                </a:tc>
                <a:tc>
                  <a:txBody>
                    <a:bodyPr/>
                    <a:lstStyle/>
                    <a:p>
                      <a:r>
                        <a:rPr lang="en-US" dirty="0"/>
                        <a:t>107</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0000 0001 0000 0111</a:t>
                      </a:r>
                      <a:endParaRPr lang="en-IN" dirty="0"/>
                    </a:p>
                  </a:txBody>
                  <a:tcPr/>
                </a:tc>
                <a:extLst>
                  <a:ext uri="{0D108BD9-81ED-4DB2-BD59-A6C34878D82A}">
                    <a16:rowId xmlns:a16="http://schemas.microsoft.com/office/drawing/2014/main" val="749100482"/>
                  </a:ext>
                </a:extLst>
              </a:tr>
              <a:tr h="370840">
                <a:tc>
                  <a:txBody>
                    <a:bodyPr/>
                    <a:lstStyle/>
                    <a:p>
                      <a:r>
                        <a:rPr lang="en-US" dirty="0"/>
                        <a:t>DIF</a:t>
                      </a:r>
                      <a:endParaRPr lang="en-IN" dirty="0"/>
                    </a:p>
                  </a:txBody>
                  <a:tcPr/>
                </a:tc>
                <a:tc>
                  <a:txBody>
                    <a:bodyPr/>
                    <a:lstStyle/>
                    <a:p>
                      <a:r>
                        <a:rPr lang="en-US" dirty="0"/>
                        <a:t>108</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0000 0001 0000 1000</a:t>
                      </a:r>
                      <a:endParaRPr lang="en-IN" dirty="0"/>
                    </a:p>
                  </a:txBody>
                  <a:tcPr/>
                </a:tc>
                <a:extLst>
                  <a:ext uri="{0D108BD9-81ED-4DB2-BD59-A6C34878D82A}">
                    <a16:rowId xmlns:a16="http://schemas.microsoft.com/office/drawing/2014/main" val="2738922187"/>
                  </a:ext>
                </a:extLst>
              </a:tr>
            </a:tbl>
          </a:graphicData>
        </a:graphic>
      </p:graphicFrame>
      <p:sp>
        <p:nvSpPr>
          <p:cNvPr id="7" name="TextBox 6">
            <a:extLst>
              <a:ext uri="{FF2B5EF4-FFF2-40B4-BE49-F238E27FC236}">
                <a16:creationId xmlns:a16="http://schemas.microsoft.com/office/drawing/2014/main" id="{4D8440B1-F533-4134-8FA5-EF8B42E8CC25}"/>
              </a:ext>
            </a:extLst>
          </p:cNvPr>
          <p:cNvSpPr txBox="1"/>
          <p:nvPr/>
        </p:nvSpPr>
        <p:spPr>
          <a:xfrm>
            <a:off x="484094" y="3056081"/>
            <a:ext cx="3442447" cy="369332"/>
          </a:xfrm>
          <a:prstGeom prst="rect">
            <a:avLst/>
          </a:prstGeom>
          <a:noFill/>
        </p:spPr>
        <p:txBody>
          <a:bodyPr wrap="square" rtlCol="0">
            <a:spAutoFit/>
          </a:bodyPr>
          <a:lstStyle/>
          <a:p>
            <a:r>
              <a:rPr lang="en-US" sz="1800" b="1" dirty="0">
                <a:latin typeface="Times New Roman" panose="02020603050405020304" pitchFamily="18" charset="0"/>
                <a:cs typeface="Times New Roman" panose="02020603050405020304" pitchFamily="18" charset="0"/>
              </a:rPr>
              <a:t>Address Symbol Table</a:t>
            </a:r>
            <a:endParaRPr lang="en-IN" sz="1800" b="1" dirty="0">
              <a:latin typeface="Times New Roman" panose="02020603050405020304" pitchFamily="18" charset="0"/>
              <a:cs typeface="Times New Roman" panose="02020603050405020304" pitchFamily="18" charset="0"/>
            </a:endParaRPr>
          </a:p>
        </p:txBody>
      </p:sp>
      <p:pic>
        <p:nvPicPr>
          <p:cNvPr id="8" name="Google Shape;137;p25">
            <a:extLst>
              <a:ext uri="{FF2B5EF4-FFF2-40B4-BE49-F238E27FC236}">
                <a16:creationId xmlns:a16="http://schemas.microsoft.com/office/drawing/2014/main" id="{ABF71926-479C-42C6-8189-35149E6E087B}"/>
              </a:ext>
            </a:extLst>
          </p:cNvPr>
          <p:cNvPicPr preferRelativeResize="0"/>
          <p:nvPr/>
        </p:nvPicPr>
        <p:blipFill rotWithShape="1">
          <a:blip r:embed="rId3">
            <a:alphaModFix/>
          </a:blip>
          <a:srcRect l="17528" t="36757" r="44992" b="8339"/>
          <a:stretch/>
        </p:blipFill>
        <p:spPr>
          <a:xfrm>
            <a:off x="253573" y="364020"/>
            <a:ext cx="3273397" cy="2507395"/>
          </a:xfrm>
          <a:prstGeom prst="rect">
            <a:avLst/>
          </a:prstGeom>
          <a:noFill/>
          <a:ln>
            <a:noFill/>
          </a:ln>
        </p:spPr>
      </p:pic>
      <p:sp>
        <p:nvSpPr>
          <p:cNvPr id="2" name="TextBox 1">
            <a:extLst>
              <a:ext uri="{FF2B5EF4-FFF2-40B4-BE49-F238E27FC236}">
                <a16:creationId xmlns:a16="http://schemas.microsoft.com/office/drawing/2014/main" id="{B44738E1-319F-4A60-9B4E-289DB9C4D158}"/>
              </a:ext>
            </a:extLst>
          </p:cNvPr>
          <p:cNvSpPr txBox="1"/>
          <p:nvPr/>
        </p:nvSpPr>
        <p:spPr>
          <a:xfrm>
            <a:off x="1206393" y="637775"/>
            <a:ext cx="614723" cy="2228370"/>
          </a:xfrm>
          <a:prstGeom prst="rect">
            <a:avLst/>
          </a:prstGeom>
          <a:solidFill>
            <a:schemeClr val="bg1"/>
          </a:solidFill>
          <a:ln>
            <a:solidFill>
              <a:schemeClr val="bg1"/>
            </a:solidFill>
          </a:ln>
        </p:spPr>
        <p:txBody>
          <a:bodyPr wrap="square" rtlCol="0">
            <a:spAutoFit/>
          </a:bodyPr>
          <a:lstStyle/>
          <a:p>
            <a:endParaRPr lang="en-IN" dirty="0"/>
          </a:p>
        </p:txBody>
      </p:sp>
      <p:pic>
        <p:nvPicPr>
          <p:cNvPr id="1026" name="Picture 2">
            <a:extLst>
              <a:ext uri="{FF2B5EF4-FFF2-40B4-BE49-F238E27FC236}">
                <a16:creationId xmlns:a16="http://schemas.microsoft.com/office/drawing/2014/main" id="{D8D1FB23-412C-4880-8637-2FFB0745501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26541" y="99893"/>
            <a:ext cx="5217459" cy="50436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83974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7F9D251F-C17D-4FBF-8353-4E8472559E86}"/>
              </a:ext>
            </a:extLst>
          </p:cNvPr>
          <p:cNvGraphicFramePr>
            <a:graphicFrameLocks noGrp="1"/>
          </p:cNvGraphicFramePr>
          <p:nvPr/>
        </p:nvGraphicFramePr>
        <p:xfrm>
          <a:off x="222837" y="144669"/>
          <a:ext cx="8560012" cy="4731218"/>
        </p:xfrm>
        <a:graphic>
          <a:graphicData uri="http://schemas.openxmlformats.org/drawingml/2006/table">
            <a:tbl>
              <a:tblPr firstRow="1" bandRow="1">
                <a:tableStyleId>{073A0DAA-6AF3-43AB-8588-CEC1D06C72B9}</a:tableStyleId>
              </a:tblPr>
              <a:tblGrid>
                <a:gridCol w="1158817">
                  <a:extLst>
                    <a:ext uri="{9D8B030D-6E8A-4147-A177-3AD203B41FA5}">
                      <a16:colId xmlns:a16="http://schemas.microsoft.com/office/drawing/2014/main" val="2151941651"/>
                    </a:ext>
                  </a:extLst>
                </a:gridCol>
                <a:gridCol w="836446">
                  <a:extLst>
                    <a:ext uri="{9D8B030D-6E8A-4147-A177-3AD203B41FA5}">
                      <a16:colId xmlns:a16="http://schemas.microsoft.com/office/drawing/2014/main" val="1449015554"/>
                    </a:ext>
                  </a:extLst>
                </a:gridCol>
                <a:gridCol w="977145">
                  <a:extLst>
                    <a:ext uri="{9D8B030D-6E8A-4147-A177-3AD203B41FA5}">
                      <a16:colId xmlns:a16="http://schemas.microsoft.com/office/drawing/2014/main" val="1577246026"/>
                    </a:ext>
                  </a:extLst>
                </a:gridCol>
                <a:gridCol w="1031812">
                  <a:extLst>
                    <a:ext uri="{9D8B030D-6E8A-4147-A177-3AD203B41FA5}">
                      <a16:colId xmlns:a16="http://schemas.microsoft.com/office/drawing/2014/main" val="1799989861"/>
                    </a:ext>
                  </a:extLst>
                </a:gridCol>
                <a:gridCol w="1035808">
                  <a:extLst>
                    <a:ext uri="{9D8B030D-6E8A-4147-A177-3AD203B41FA5}">
                      <a16:colId xmlns:a16="http://schemas.microsoft.com/office/drawing/2014/main" val="4029393062"/>
                    </a:ext>
                  </a:extLst>
                </a:gridCol>
                <a:gridCol w="1759992">
                  <a:extLst>
                    <a:ext uri="{9D8B030D-6E8A-4147-A177-3AD203B41FA5}">
                      <a16:colId xmlns:a16="http://schemas.microsoft.com/office/drawing/2014/main" val="2700583704"/>
                    </a:ext>
                  </a:extLst>
                </a:gridCol>
                <a:gridCol w="1759992">
                  <a:extLst>
                    <a:ext uri="{9D8B030D-6E8A-4147-A177-3AD203B41FA5}">
                      <a16:colId xmlns:a16="http://schemas.microsoft.com/office/drawing/2014/main" val="2039753198"/>
                    </a:ext>
                  </a:extLst>
                </a:gridCol>
              </a:tblGrid>
              <a:tr h="637775">
                <a:tc>
                  <a:txBody>
                    <a:bodyPr/>
                    <a:lstStyle/>
                    <a:p>
                      <a:pPr algn="ctr"/>
                      <a:r>
                        <a:rPr lang="en-US" sz="1400" dirty="0"/>
                        <a:t>Location Counter</a:t>
                      </a:r>
                      <a:endParaRPr lang="en-IN" sz="1400" dirty="0">
                        <a:latin typeface="Times New Roman" panose="02020603050405020304" pitchFamily="18" charset="0"/>
                        <a:cs typeface="Times New Roman" panose="02020603050405020304" pitchFamily="18" charset="0"/>
                      </a:endParaRPr>
                    </a:p>
                  </a:txBody>
                  <a:tcPr/>
                </a:tc>
                <a:tc gridSpan="4">
                  <a:txBody>
                    <a:bodyPr/>
                    <a:lstStyle/>
                    <a:p>
                      <a:pPr algn="ctr"/>
                      <a:r>
                        <a:rPr lang="en-US" sz="1800" dirty="0"/>
                        <a:t>Binary Equivalent</a:t>
                      </a:r>
                      <a:endParaRPr lang="en-IN" sz="1800" dirty="0">
                        <a:latin typeface="Times New Roman" panose="02020603050405020304" pitchFamily="18" charset="0"/>
                        <a:cs typeface="Times New Roman" panose="02020603050405020304" pitchFamily="18" charset="0"/>
                      </a:endParaRPr>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a:txBody>
                    <a:bodyPr/>
                    <a:lstStyle/>
                    <a:p>
                      <a:pPr marR="0" algn="ctr" rtl="0">
                        <a:lnSpc>
                          <a:spcPct val="100000"/>
                        </a:lnSpc>
                        <a:spcBef>
                          <a:spcPts val="0"/>
                        </a:spcBef>
                        <a:spcAft>
                          <a:spcPts val="0"/>
                        </a:spcAft>
                        <a:buClr>
                          <a:srgbClr val="000000"/>
                        </a:buClr>
                        <a:buFont typeface="Arial"/>
                      </a:pPr>
                      <a:r>
                        <a:rPr lang="en-US" sz="1200" b="1" u="none" strike="noStrike" cap="none" dirty="0">
                          <a:solidFill>
                            <a:schemeClr val="lt1"/>
                          </a:solidFill>
                          <a:sym typeface="Arial"/>
                        </a:rPr>
                        <a:t>HEX Equivalent</a:t>
                      </a:r>
                      <a:endParaRPr lang="en-IN" sz="1200" b="1" i="0" u="none" strike="noStrike" cap="none" dirty="0">
                        <a:solidFill>
                          <a:schemeClr val="lt1"/>
                        </a:solidFill>
                        <a:latin typeface="Times New Roman" panose="02020603050405020304" pitchFamily="18" charset="0"/>
                        <a:ea typeface="+mn-ea"/>
                        <a:cs typeface="Times New Roman" panose="02020603050405020304" pitchFamily="18" charset="0"/>
                        <a:sym typeface="Arial"/>
                      </a:endParaRPr>
                    </a:p>
                  </a:txBody>
                  <a:tcPr/>
                </a:tc>
                <a:tc>
                  <a:txBody>
                    <a:bodyPr/>
                    <a:lstStyle/>
                    <a:p>
                      <a:pPr marR="0" algn="ctr" rtl="0">
                        <a:lnSpc>
                          <a:spcPct val="100000"/>
                        </a:lnSpc>
                        <a:spcBef>
                          <a:spcPts val="0"/>
                        </a:spcBef>
                        <a:spcAft>
                          <a:spcPts val="0"/>
                        </a:spcAft>
                        <a:buClr>
                          <a:srgbClr val="000000"/>
                        </a:buClr>
                        <a:buFont typeface="Arial"/>
                      </a:pPr>
                      <a:r>
                        <a:rPr lang="en-US" sz="1200" b="1" u="none" strike="noStrike" cap="none" dirty="0">
                          <a:solidFill>
                            <a:schemeClr val="lt1"/>
                          </a:solidFill>
                          <a:sym typeface="Arial"/>
                        </a:rPr>
                        <a:t>HEX Code</a:t>
                      </a:r>
                      <a:endParaRPr lang="en-IN" sz="1200" b="1" i="0" u="none" strike="noStrike" cap="none" dirty="0">
                        <a:solidFill>
                          <a:schemeClr val="lt1"/>
                        </a:solidFill>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732019430"/>
                  </a:ext>
                </a:extLst>
              </a:tr>
              <a:tr h="454827">
                <a:tc>
                  <a:txBody>
                    <a:bodyPr/>
                    <a:lstStyle/>
                    <a:p>
                      <a:pPr algn="ctr"/>
                      <a:r>
                        <a:rPr lang="en-US" dirty="0"/>
                        <a:t>100</a:t>
                      </a:r>
                      <a:endParaRPr lang="en-IN" dirty="0"/>
                    </a:p>
                  </a:txBody>
                  <a:tcPr/>
                </a:tc>
                <a:tc>
                  <a:txBody>
                    <a:bodyPr/>
                    <a:lstStyle/>
                    <a:p>
                      <a:pPr algn="ctr"/>
                      <a:r>
                        <a:rPr lang="en-US" dirty="0"/>
                        <a:t>0010</a:t>
                      </a:r>
                      <a:endParaRPr lang="en-IN" dirty="0"/>
                    </a:p>
                  </a:txBody>
                  <a:tcPr/>
                </a:tc>
                <a:tc>
                  <a:txBody>
                    <a:bodyPr/>
                    <a:lstStyle/>
                    <a:p>
                      <a:pPr algn="ctr"/>
                      <a:r>
                        <a:rPr lang="en-US" dirty="0"/>
                        <a:t>0001</a:t>
                      </a:r>
                      <a:endParaRPr lang="en-IN" dirty="0"/>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0000</a:t>
                      </a:r>
                      <a:endParaRPr lang="en-IN" dirty="0"/>
                    </a:p>
                  </a:txBody>
                  <a:tcPr/>
                </a:tc>
                <a:tc>
                  <a:txBody>
                    <a:bodyPr/>
                    <a:lstStyle/>
                    <a:p>
                      <a:pPr algn="ctr"/>
                      <a:r>
                        <a:rPr lang="en-US" dirty="0"/>
                        <a:t>0111</a:t>
                      </a:r>
                      <a:endParaRPr lang="en-IN" dirty="0"/>
                    </a:p>
                  </a:txBody>
                  <a:tcPr/>
                </a:tc>
                <a:tc>
                  <a:txBody>
                    <a:bodyPr/>
                    <a:lstStyle/>
                    <a:p>
                      <a:pPr algn="ctr"/>
                      <a:r>
                        <a:rPr lang="en-US" dirty="0"/>
                        <a:t>2107</a:t>
                      </a:r>
                      <a:endParaRPr lang="en-IN" dirty="0"/>
                    </a:p>
                  </a:txBody>
                  <a:tcPr/>
                </a:tc>
                <a:tc>
                  <a:txBody>
                    <a:bodyPr/>
                    <a:lstStyle/>
                    <a:p>
                      <a:pPr algn="ctr"/>
                      <a:r>
                        <a:rPr lang="en-US" dirty="0"/>
                        <a:t>LDA SUB</a:t>
                      </a:r>
                      <a:endParaRPr lang="en-IN" dirty="0"/>
                    </a:p>
                  </a:txBody>
                  <a:tcPr/>
                </a:tc>
                <a:extLst>
                  <a:ext uri="{0D108BD9-81ED-4DB2-BD59-A6C34878D82A}">
                    <a16:rowId xmlns:a16="http://schemas.microsoft.com/office/drawing/2014/main" val="4081874903"/>
                  </a:ext>
                </a:extLst>
              </a:tr>
              <a:tr h="454827">
                <a:tc>
                  <a:txBody>
                    <a:bodyPr/>
                    <a:lstStyle/>
                    <a:p>
                      <a:pPr algn="ctr"/>
                      <a:r>
                        <a:rPr lang="en-US" dirty="0"/>
                        <a:t>101</a:t>
                      </a:r>
                      <a:endParaRPr lang="en-IN" dirty="0"/>
                    </a:p>
                  </a:txBody>
                  <a:tcPr/>
                </a:tc>
                <a:tc>
                  <a:txBody>
                    <a:bodyPr/>
                    <a:lstStyle/>
                    <a:p>
                      <a:pPr algn="ctr"/>
                      <a:r>
                        <a:rPr lang="en-US" dirty="0"/>
                        <a:t>0111</a:t>
                      </a:r>
                      <a:endParaRPr lang="en-IN" dirty="0"/>
                    </a:p>
                  </a:txBody>
                  <a:tcPr/>
                </a:tc>
                <a:tc>
                  <a:txBody>
                    <a:bodyPr/>
                    <a:lstStyle/>
                    <a:p>
                      <a:pPr algn="ctr"/>
                      <a:r>
                        <a:rPr lang="en-US" dirty="0"/>
                        <a:t>0010</a:t>
                      </a:r>
                      <a:endParaRPr lang="en-IN" dirty="0"/>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0000</a:t>
                      </a:r>
                      <a:endParaRPr lang="en-IN" dirty="0"/>
                    </a:p>
                  </a:txBody>
                  <a:tcPr/>
                </a:tc>
                <a:tc>
                  <a:txBody>
                    <a:bodyPr/>
                    <a:lstStyle/>
                    <a:p>
                      <a:pPr algn="ctr"/>
                      <a:r>
                        <a:rPr lang="en-US" dirty="0"/>
                        <a:t>0000</a:t>
                      </a:r>
                      <a:endParaRPr lang="en-IN" dirty="0"/>
                    </a:p>
                  </a:txBody>
                  <a:tcPr/>
                </a:tc>
                <a:tc>
                  <a:txBody>
                    <a:bodyPr/>
                    <a:lstStyle/>
                    <a:p>
                      <a:pPr algn="ctr"/>
                      <a:r>
                        <a:rPr lang="en-US" dirty="0"/>
                        <a:t>7200</a:t>
                      </a:r>
                      <a:endParaRPr lang="en-IN" dirty="0"/>
                    </a:p>
                  </a:txBody>
                  <a:tcPr/>
                </a:tc>
                <a:tc>
                  <a:txBody>
                    <a:bodyPr/>
                    <a:lstStyle/>
                    <a:p>
                      <a:pPr algn="ctr"/>
                      <a:r>
                        <a:rPr lang="en-US" dirty="0"/>
                        <a:t>CMA</a:t>
                      </a:r>
                      <a:endParaRPr lang="en-IN" dirty="0"/>
                    </a:p>
                  </a:txBody>
                  <a:tcPr/>
                </a:tc>
                <a:extLst>
                  <a:ext uri="{0D108BD9-81ED-4DB2-BD59-A6C34878D82A}">
                    <a16:rowId xmlns:a16="http://schemas.microsoft.com/office/drawing/2014/main" val="480988350"/>
                  </a:ext>
                </a:extLst>
              </a:tr>
              <a:tr h="454827">
                <a:tc>
                  <a:txBody>
                    <a:bodyPr/>
                    <a:lstStyle/>
                    <a:p>
                      <a:pPr algn="ctr"/>
                      <a:r>
                        <a:rPr lang="en-US" dirty="0"/>
                        <a:t>102</a:t>
                      </a:r>
                      <a:endParaRPr lang="en-IN" dirty="0"/>
                    </a:p>
                  </a:txBody>
                  <a:tcPr/>
                </a:tc>
                <a:tc>
                  <a:txBody>
                    <a:bodyPr/>
                    <a:lstStyle/>
                    <a:p>
                      <a:pPr algn="ctr"/>
                      <a:r>
                        <a:rPr lang="en-US" dirty="0"/>
                        <a:t>0111</a:t>
                      </a:r>
                      <a:endParaRPr lang="en-IN" dirty="0"/>
                    </a:p>
                  </a:txBody>
                  <a:tcPr/>
                </a:tc>
                <a:tc>
                  <a:txBody>
                    <a:bodyPr/>
                    <a:lstStyle/>
                    <a:p>
                      <a:pPr algn="ctr"/>
                      <a:r>
                        <a:rPr lang="en-US" dirty="0"/>
                        <a:t>0000</a:t>
                      </a:r>
                      <a:endParaRPr lang="en-IN" dirty="0"/>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0010</a:t>
                      </a:r>
                      <a:endParaRPr lang="en-IN" dirty="0"/>
                    </a:p>
                  </a:txBody>
                  <a:tcPr/>
                </a:tc>
                <a:tc>
                  <a:txBody>
                    <a:bodyPr/>
                    <a:lstStyle/>
                    <a:p>
                      <a:pPr algn="ctr"/>
                      <a:r>
                        <a:rPr lang="en-US" dirty="0"/>
                        <a:t>0000</a:t>
                      </a:r>
                      <a:endParaRPr lang="en-IN" dirty="0"/>
                    </a:p>
                  </a:txBody>
                  <a:tcPr/>
                </a:tc>
                <a:tc>
                  <a:txBody>
                    <a:bodyPr/>
                    <a:lstStyle/>
                    <a:p>
                      <a:pPr algn="ctr"/>
                      <a:r>
                        <a:rPr lang="en-US" dirty="0"/>
                        <a:t>7020</a:t>
                      </a:r>
                      <a:endParaRPr lang="en-IN" dirty="0"/>
                    </a:p>
                  </a:txBody>
                  <a:tcPr/>
                </a:tc>
                <a:tc>
                  <a:txBody>
                    <a:bodyPr/>
                    <a:lstStyle/>
                    <a:p>
                      <a:pPr algn="ctr"/>
                      <a:r>
                        <a:rPr lang="en-US" dirty="0"/>
                        <a:t>INC </a:t>
                      </a:r>
                      <a:endParaRPr lang="en-IN" dirty="0"/>
                    </a:p>
                  </a:txBody>
                  <a:tcPr/>
                </a:tc>
                <a:extLst>
                  <a:ext uri="{0D108BD9-81ED-4DB2-BD59-A6C34878D82A}">
                    <a16:rowId xmlns:a16="http://schemas.microsoft.com/office/drawing/2014/main" val="3053255876"/>
                  </a:ext>
                </a:extLst>
              </a:tr>
              <a:tr h="454827">
                <a:tc>
                  <a:txBody>
                    <a:bodyPr/>
                    <a:lstStyle/>
                    <a:p>
                      <a:pPr algn="ctr"/>
                      <a:r>
                        <a:rPr lang="en-US" dirty="0"/>
                        <a:t>103</a:t>
                      </a:r>
                      <a:endParaRPr lang="en-IN" dirty="0"/>
                    </a:p>
                  </a:txBody>
                  <a:tcPr/>
                </a:tc>
                <a:tc>
                  <a:txBody>
                    <a:bodyPr/>
                    <a:lstStyle/>
                    <a:p>
                      <a:pPr algn="ctr"/>
                      <a:r>
                        <a:rPr lang="en-US" dirty="0"/>
                        <a:t>0001</a:t>
                      </a:r>
                      <a:endParaRPr lang="en-IN" dirty="0"/>
                    </a:p>
                  </a:txBody>
                  <a:tcPr/>
                </a:tc>
                <a:tc>
                  <a:txBody>
                    <a:bodyPr/>
                    <a:lstStyle/>
                    <a:p>
                      <a:pPr algn="ctr"/>
                      <a:r>
                        <a:rPr lang="en-US" dirty="0"/>
                        <a:t>0001</a:t>
                      </a:r>
                      <a:endParaRPr lang="en-IN" dirty="0"/>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0000</a:t>
                      </a:r>
                      <a:endParaRPr lang="en-IN" dirty="0"/>
                    </a:p>
                  </a:txBody>
                  <a:tcPr/>
                </a:tc>
                <a:tc>
                  <a:txBody>
                    <a:bodyPr/>
                    <a:lstStyle/>
                    <a:p>
                      <a:pPr algn="ctr"/>
                      <a:r>
                        <a:rPr lang="en-US" dirty="0"/>
                        <a:t>0110</a:t>
                      </a:r>
                      <a:endParaRPr lang="en-IN" dirty="0"/>
                    </a:p>
                  </a:txBody>
                  <a:tcPr/>
                </a:tc>
                <a:tc>
                  <a:txBody>
                    <a:bodyPr/>
                    <a:lstStyle/>
                    <a:p>
                      <a:pPr algn="ctr"/>
                      <a:r>
                        <a:rPr lang="en-US" dirty="0"/>
                        <a:t>1106</a:t>
                      </a:r>
                      <a:endParaRPr lang="en-IN" dirty="0"/>
                    </a:p>
                  </a:txBody>
                  <a:tcPr/>
                </a:tc>
                <a:tc>
                  <a:txBody>
                    <a:bodyPr/>
                    <a:lstStyle/>
                    <a:p>
                      <a:pPr algn="ctr"/>
                      <a:r>
                        <a:rPr lang="en-US" dirty="0"/>
                        <a:t>ADD MIN </a:t>
                      </a:r>
                      <a:endParaRPr lang="en-IN" dirty="0"/>
                    </a:p>
                  </a:txBody>
                  <a:tcPr/>
                </a:tc>
                <a:extLst>
                  <a:ext uri="{0D108BD9-81ED-4DB2-BD59-A6C34878D82A}">
                    <a16:rowId xmlns:a16="http://schemas.microsoft.com/office/drawing/2014/main" val="4114422632"/>
                  </a:ext>
                </a:extLst>
              </a:tr>
              <a:tr h="454827">
                <a:tc>
                  <a:txBody>
                    <a:bodyPr/>
                    <a:lstStyle/>
                    <a:p>
                      <a:pPr algn="ctr"/>
                      <a:r>
                        <a:rPr lang="en-US" dirty="0"/>
                        <a:t>104</a:t>
                      </a:r>
                      <a:endParaRPr lang="en-IN" dirty="0"/>
                    </a:p>
                  </a:txBody>
                  <a:tcPr/>
                </a:tc>
                <a:tc>
                  <a:txBody>
                    <a:bodyPr/>
                    <a:lstStyle/>
                    <a:p>
                      <a:pPr algn="ctr"/>
                      <a:r>
                        <a:rPr lang="en-US" dirty="0"/>
                        <a:t>0011</a:t>
                      </a:r>
                      <a:endParaRPr lang="en-IN" dirty="0"/>
                    </a:p>
                  </a:txBody>
                  <a:tcPr/>
                </a:tc>
                <a:tc>
                  <a:txBody>
                    <a:bodyPr/>
                    <a:lstStyle/>
                    <a:p>
                      <a:pPr algn="ctr"/>
                      <a:r>
                        <a:rPr lang="en-US" dirty="0"/>
                        <a:t>0001</a:t>
                      </a:r>
                      <a:endParaRPr lang="en-IN" dirty="0"/>
                    </a:p>
                  </a:txBody>
                  <a:tcPr/>
                </a:tc>
                <a:tc>
                  <a:txBody>
                    <a:bodyPr/>
                    <a:lstStyle/>
                    <a:p>
                      <a:pPr algn="ctr"/>
                      <a:r>
                        <a:rPr lang="en-US" dirty="0"/>
                        <a:t>0000</a:t>
                      </a:r>
                      <a:endParaRPr lang="en-IN" dirty="0"/>
                    </a:p>
                  </a:txBody>
                  <a:tcPr/>
                </a:tc>
                <a:tc>
                  <a:txBody>
                    <a:bodyPr/>
                    <a:lstStyle/>
                    <a:p>
                      <a:pPr algn="ctr"/>
                      <a:r>
                        <a:rPr lang="en-US" dirty="0"/>
                        <a:t>1000</a:t>
                      </a:r>
                      <a:endParaRPr lang="en-IN" dirty="0"/>
                    </a:p>
                  </a:txBody>
                  <a:tcPr/>
                </a:tc>
                <a:tc>
                  <a:txBody>
                    <a:bodyPr/>
                    <a:lstStyle/>
                    <a:p>
                      <a:pPr algn="ctr"/>
                      <a:r>
                        <a:rPr lang="en-US" dirty="0"/>
                        <a:t>3108</a:t>
                      </a:r>
                      <a:endParaRPr lang="en-IN" dirty="0"/>
                    </a:p>
                  </a:txBody>
                  <a:tcPr/>
                </a:tc>
                <a:tc>
                  <a:txBody>
                    <a:bodyPr/>
                    <a:lstStyle/>
                    <a:p>
                      <a:pPr algn="ctr"/>
                      <a:r>
                        <a:rPr lang="en-US" dirty="0"/>
                        <a:t>STA DIF</a:t>
                      </a:r>
                      <a:endParaRPr lang="en-IN" dirty="0"/>
                    </a:p>
                  </a:txBody>
                  <a:tcPr/>
                </a:tc>
                <a:extLst>
                  <a:ext uri="{0D108BD9-81ED-4DB2-BD59-A6C34878D82A}">
                    <a16:rowId xmlns:a16="http://schemas.microsoft.com/office/drawing/2014/main" val="1070188482"/>
                  </a:ext>
                </a:extLst>
              </a:tr>
              <a:tr h="454827">
                <a:tc>
                  <a:txBody>
                    <a:bodyPr/>
                    <a:lstStyle/>
                    <a:p>
                      <a:pPr algn="ctr"/>
                      <a:r>
                        <a:rPr lang="en-US" dirty="0"/>
                        <a:t>105</a:t>
                      </a:r>
                      <a:endParaRPr lang="en-IN" dirty="0"/>
                    </a:p>
                  </a:txBody>
                  <a:tcPr/>
                </a:tc>
                <a:tc>
                  <a:txBody>
                    <a:bodyPr/>
                    <a:lstStyle/>
                    <a:p>
                      <a:pPr algn="ctr"/>
                      <a:r>
                        <a:rPr lang="en-US" dirty="0"/>
                        <a:t>0111</a:t>
                      </a:r>
                      <a:endParaRPr lang="en-IN" dirty="0"/>
                    </a:p>
                  </a:txBody>
                  <a:tcPr/>
                </a:tc>
                <a:tc>
                  <a:txBody>
                    <a:bodyPr/>
                    <a:lstStyle/>
                    <a:p>
                      <a:pPr algn="ctr"/>
                      <a:r>
                        <a:rPr lang="en-US" dirty="0"/>
                        <a:t>0000</a:t>
                      </a:r>
                      <a:endParaRPr lang="en-IN" dirty="0"/>
                    </a:p>
                  </a:txBody>
                  <a:tcPr/>
                </a:tc>
                <a:tc>
                  <a:txBody>
                    <a:bodyPr/>
                    <a:lstStyle/>
                    <a:p>
                      <a:pPr algn="ctr"/>
                      <a:r>
                        <a:rPr lang="en-US" dirty="0"/>
                        <a:t>0000</a:t>
                      </a:r>
                      <a:endParaRPr lang="en-IN" dirty="0"/>
                    </a:p>
                  </a:txBody>
                  <a:tcPr/>
                </a:tc>
                <a:tc>
                  <a:txBody>
                    <a:bodyPr/>
                    <a:lstStyle/>
                    <a:p>
                      <a:pPr algn="ctr"/>
                      <a:r>
                        <a:rPr lang="en-US" dirty="0"/>
                        <a:t>0001</a:t>
                      </a:r>
                      <a:endParaRPr lang="en-IN" dirty="0"/>
                    </a:p>
                  </a:txBody>
                  <a:tcPr/>
                </a:tc>
                <a:tc>
                  <a:txBody>
                    <a:bodyPr/>
                    <a:lstStyle/>
                    <a:p>
                      <a:pPr algn="ctr"/>
                      <a:r>
                        <a:rPr lang="en-US" dirty="0"/>
                        <a:t>7001</a:t>
                      </a:r>
                      <a:endParaRPr lang="en-IN" dirty="0"/>
                    </a:p>
                  </a:txBody>
                  <a:tcPr/>
                </a:tc>
                <a:tc>
                  <a:txBody>
                    <a:bodyPr/>
                    <a:lstStyle/>
                    <a:p>
                      <a:pPr algn="ctr"/>
                      <a:r>
                        <a:rPr lang="en-US" dirty="0"/>
                        <a:t>HLT</a:t>
                      </a:r>
                      <a:endParaRPr lang="en-IN" dirty="0"/>
                    </a:p>
                  </a:txBody>
                  <a:tcPr/>
                </a:tc>
                <a:extLst>
                  <a:ext uri="{0D108BD9-81ED-4DB2-BD59-A6C34878D82A}">
                    <a16:rowId xmlns:a16="http://schemas.microsoft.com/office/drawing/2014/main" val="1019330533"/>
                  </a:ext>
                </a:extLst>
              </a:tr>
              <a:tr h="454827">
                <a:tc>
                  <a:txBody>
                    <a:bodyPr/>
                    <a:lstStyle/>
                    <a:p>
                      <a:pPr algn="ctr"/>
                      <a:r>
                        <a:rPr lang="en-US" dirty="0"/>
                        <a:t>106</a:t>
                      </a:r>
                      <a:endParaRPr lang="en-IN" dirty="0"/>
                    </a:p>
                  </a:txBody>
                  <a:tcPr/>
                </a:tc>
                <a:tc>
                  <a:txBody>
                    <a:bodyPr/>
                    <a:lstStyle/>
                    <a:p>
                      <a:pPr algn="ctr"/>
                      <a:r>
                        <a:rPr lang="en-US" dirty="0"/>
                        <a:t>0000</a:t>
                      </a:r>
                      <a:endParaRPr lang="en-IN" dirty="0"/>
                    </a:p>
                  </a:txBody>
                  <a:tcPr/>
                </a:tc>
                <a:tc>
                  <a:txBody>
                    <a:bodyPr/>
                    <a:lstStyle/>
                    <a:p>
                      <a:pPr algn="ctr"/>
                      <a:r>
                        <a:rPr lang="en-US" dirty="0"/>
                        <a:t>0000</a:t>
                      </a:r>
                      <a:endParaRPr lang="en-IN" dirty="0"/>
                    </a:p>
                  </a:txBody>
                  <a:tcPr/>
                </a:tc>
                <a:tc>
                  <a:txBody>
                    <a:bodyPr/>
                    <a:lstStyle/>
                    <a:p>
                      <a:pPr algn="ctr"/>
                      <a:r>
                        <a:rPr lang="en-US" dirty="0"/>
                        <a:t>0101</a:t>
                      </a:r>
                      <a:endParaRPr lang="en-IN" dirty="0"/>
                    </a:p>
                  </a:txBody>
                  <a:tcPr/>
                </a:tc>
                <a:tc>
                  <a:txBody>
                    <a:bodyPr/>
                    <a:lstStyle/>
                    <a:p>
                      <a:pPr algn="ctr"/>
                      <a:r>
                        <a:rPr lang="en-US" dirty="0"/>
                        <a:t>0011</a:t>
                      </a:r>
                      <a:endParaRPr lang="en-IN" dirty="0"/>
                    </a:p>
                  </a:txBody>
                  <a:tcPr/>
                </a:tc>
                <a:tc>
                  <a:txBody>
                    <a:bodyPr/>
                    <a:lstStyle/>
                    <a:p>
                      <a:pPr algn="ctr"/>
                      <a:r>
                        <a:rPr lang="en-US" dirty="0"/>
                        <a:t>0053</a:t>
                      </a:r>
                      <a:endParaRPr lang="en-IN" dirty="0"/>
                    </a:p>
                  </a:txBody>
                  <a:tcPr/>
                </a:tc>
                <a:tc>
                  <a:txBody>
                    <a:bodyPr/>
                    <a:lstStyle/>
                    <a:p>
                      <a:pPr algn="ctr"/>
                      <a:r>
                        <a:rPr lang="en-US" dirty="0"/>
                        <a:t>DEC 83</a:t>
                      </a:r>
                      <a:endParaRPr lang="en-IN" dirty="0"/>
                    </a:p>
                  </a:txBody>
                  <a:tcPr/>
                </a:tc>
                <a:extLst>
                  <a:ext uri="{0D108BD9-81ED-4DB2-BD59-A6C34878D82A}">
                    <a16:rowId xmlns:a16="http://schemas.microsoft.com/office/drawing/2014/main" val="1102009299"/>
                  </a:ext>
                </a:extLst>
              </a:tr>
              <a:tr h="454827">
                <a:tc>
                  <a:txBody>
                    <a:bodyPr/>
                    <a:lstStyle/>
                    <a:p>
                      <a:pPr algn="ctr"/>
                      <a:r>
                        <a:rPr lang="en-US" dirty="0"/>
                        <a:t>107</a:t>
                      </a:r>
                      <a:endParaRPr lang="en-IN" dirty="0"/>
                    </a:p>
                  </a:txBody>
                  <a:tcPr/>
                </a:tc>
                <a:tc>
                  <a:txBody>
                    <a:bodyPr/>
                    <a:lstStyle/>
                    <a:p>
                      <a:pPr algn="ctr"/>
                      <a:r>
                        <a:rPr lang="en-US" dirty="0"/>
                        <a:t>1111</a:t>
                      </a:r>
                      <a:endParaRPr lang="en-IN" dirty="0"/>
                    </a:p>
                  </a:txBody>
                  <a:tcPr/>
                </a:tc>
                <a:tc>
                  <a:txBody>
                    <a:bodyPr/>
                    <a:lstStyle/>
                    <a:p>
                      <a:pPr algn="ctr"/>
                      <a:r>
                        <a:rPr lang="en-US" dirty="0"/>
                        <a:t>1111</a:t>
                      </a:r>
                      <a:endParaRPr lang="en-IN" dirty="0"/>
                    </a:p>
                  </a:txBody>
                  <a:tcPr/>
                </a:tc>
                <a:tc>
                  <a:txBody>
                    <a:bodyPr/>
                    <a:lstStyle/>
                    <a:p>
                      <a:pPr algn="ctr"/>
                      <a:r>
                        <a:rPr lang="en-US" dirty="0"/>
                        <a:t>1110</a:t>
                      </a:r>
                      <a:endParaRPr lang="en-IN" dirty="0"/>
                    </a:p>
                  </a:txBody>
                  <a:tcPr/>
                </a:tc>
                <a:tc>
                  <a:txBody>
                    <a:bodyPr/>
                    <a:lstStyle/>
                    <a:p>
                      <a:pPr algn="ctr"/>
                      <a:r>
                        <a:rPr lang="en-US" dirty="0"/>
                        <a:t>1001</a:t>
                      </a:r>
                      <a:endParaRPr lang="en-IN" dirty="0"/>
                    </a:p>
                  </a:txBody>
                  <a:tcPr/>
                </a:tc>
                <a:tc>
                  <a:txBody>
                    <a:bodyPr/>
                    <a:lstStyle/>
                    <a:p>
                      <a:pPr algn="ctr"/>
                      <a:r>
                        <a:rPr lang="en-US" dirty="0"/>
                        <a:t>FFE9</a:t>
                      </a:r>
                      <a:endParaRPr lang="en-IN" dirty="0"/>
                    </a:p>
                  </a:txBody>
                  <a:tcPr/>
                </a:tc>
                <a:tc>
                  <a:txBody>
                    <a:bodyPr/>
                    <a:lstStyle/>
                    <a:p>
                      <a:pPr algn="ctr"/>
                      <a:r>
                        <a:rPr lang="en-US" dirty="0"/>
                        <a:t>DEC -23</a:t>
                      </a:r>
                      <a:endParaRPr lang="en-IN" dirty="0"/>
                    </a:p>
                  </a:txBody>
                  <a:tcPr/>
                </a:tc>
                <a:extLst>
                  <a:ext uri="{0D108BD9-81ED-4DB2-BD59-A6C34878D82A}">
                    <a16:rowId xmlns:a16="http://schemas.microsoft.com/office/drawing/2014/main" val="3829975972"/>
                  </a:ext>
                </a:extLst>
              </a:tr>
              <a:tr h="454827">
                <a:tc>
                  <a:txBody>
                    <a:bodyPr/>
                    <a:lstStyle/>
                    <a:p>
                      <a:pPr algn="ctr"/>
                      <a:r>
                        <a:rPr lang="en-US" dirty="0"/>
                        <a:t>108</a:t>
                      </a:r>
                      <a:endParaRPr lang="en-IN" dirty="0"/>
                    </a:p>
                  </a:txBody>
                  <a:tcPr/>
                </a:tc>
                <a:tc>
                  <a:txBody>
                    <a:bodyPr/>
                    <a:lstStyle/>
                    <a:p>
                      <a:pPr algn="ctr"/>
                      <a:r>
                        <a:rPr lang="en-US" dirty="0"/>
                        <a:t>0000</a:t>
                      </a:r>
                      <a:endParaRPr lang="en-IN" dirty="0"/>
                    </a:p>
                  </a:txBody>
                  <a:tcPr/>
                </a:tc>
                <a:tc>
                  <a:txBody>
                    <a:bodyPr/>
                    <a:lstStyle/>
                    <a:p>
                      <a:pPr algn="ctr"/>
                      <a:r>
                        <a:rPr lang="en-US" dirty="0"/>
                        <a:t>0000</a:t>
                      </a:r>
                      <a:endParaRPr lang="en-IN" dirty="0"/>
                    </a:p>
                  </a:txBody>
                  <a:tcPr/>
                </a:tc>
                <a:tc>
                  <a:txBody>
                    <a:bodyPr/>
                    <a:lstStyle/>
                    <a:p>
                      <a:pPr algn="ctr"/>
                      <a:r>
                        <a:rPr lang="en-US" dirty="0"/>
                        <a:t>0000</a:t>
                      </a:r>
                      <a:endParaRPr lang="en-IN" dirty="0"/>
                    </a:p>
                  </a:txBody>
                  <a:tcPr/>
                </a:tc>
                <a:tc>
                  <a:txBody>
                    <a:bodyPr/>
                    <a:lstStyle/>
                    <a:p>
                      <a:pPr algn="ctr"/>
                      <a:r>
                        <a:rPr lang="en-US" dirty="0"/>
                        <a:t>0000</a:t>
                      </a:r>
                      <a:endParaRPr lang="en-IN" dirty="0"/>
                    </a:p>
                  </a:txBody>
                  <a:tcPr/>
                </a:tc>
                <a:tc>
                  <a:txBody>
                    <a:bodyPr/>
                    <a:lstStyle/>
                    <a:p>
                      <a:pPr algn="ctr"/>
                      <a:r>
                        <a:rPr lang="en-US" dirty="0"/>
                        <a:t>0000</a:t>
                      </a:r>
                      <a:endParaRPr lang="en-IN" dirty="0"/>
                    </a:p>
                  </a:txBody>
                  <a:tcPr/>
                </a:tc>
                <a:tc>
                  <a:txBody>
                    <a:bodyPr/>
                    <a:lstStyle/>
                    <a:p>
                      <a:pPr algn="ctr"/>
                      <a:r>
                        <a:rPr lang="en-US" dirty="0"/>
                        <a:t>HEX 0</a:t>
                      </a:r>
                      <a:endParaRPr lang="en-IN" dirty="0"/>
                    </a:p>
                  </a:txBody>
                  <a:tcPr/>
                </a:tc>
                <a:extLst>
                  <a:ext uri="{0D108BD9-81ED-4DB2-BD59-A6C34878D82A}">
                    <a16:rowId xmlns:a16="http://schemas.microsoft.com/office/drawing/2014/main" val="3509513894"/>
                  </a:ext>
                </a:extLst>
              </a:tr>
            </a:tbl>
          </a:graphicData>
        </a:graphic>
      </p:graphicFrame>
    </p:spTree>
    <p:extLst>
      <p:ext uri="{BB962C8B-B14F-4D97-AF65-F5344CB8AC3E}">
        <p14:creationId xmlns:p14="http://schemas.microsoft.com/office/powerpoint/2010/main" val="33705989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3" name="Picture 2">
            <a:extLst>
              <a:ext uri="{FF2B5EF4-FFF2-40B4-BE49-F238E27FC236}">
                <a16:creationId xmlns:a16="http://schemas.microsoft.com/office/drawing/2014/main" id="{D123CD09-E10C-4184-8702-077315463158}"/>
              </a:ext>
            </a:extLst>
          </p:cNvPr>
          <p:cNvPicPr>
            <a:picLocks noChangeAspect="1"/>
          </p:cNvPicPr>
          <p:nvPr/>
        </p:nvPicPr>
        <p:blipFill>
          <a:blip r:embed="rId3"/>
          <a:stretch>
            <a:fillRect/>
          </a:stretch>
        </p:blipFill>
        <p:spPr>
          <a:xfrm>
            <a:off x="3127403" y="0"/>
            <a:ext cx="5909021" cy="5143500"/>
          </a:xfrm>
          <a:prstGeom prst="rect">
            <a:avLst/>
          </a:prstGeom>
        </p:spPr>
      </p:pic>
      <p:sp>
        <p:nvSpPr>
          <p:cNvPr id="4" name="TextBox 3">
            <a:extLst>
              <a:ext uri="{FF2B5EF4-FFF2-40B4-BE49-F238E27FC236}">
                <a16:creationId xmlns:a16="http://schemas.microsoft.com/office/drawing/2014/main" id="{DE5B3A58-E4E4-43BF-BDEE-7422B6993313}"/>
              </a:ext>
            </a:extLst>
          </p:cNvPr>
          <p:cNvSpPr txBox="1"/>
          <p:nvPr/>
        </p:nvSpPr>
        <p:spPr>
          <a:xfrm>
            <a:off x="-291994" y="2048530"/>
            <a:ext cx="4030275" cy="523220"/>
          </a:xfrm>
          <a:prstGeom prst="rect">
            <a:avLst/>
          </a:prstGeom>
          <a:noFill/>
        </p:spPr>
        <p:txBody>
          <a:bodyPr wrap="square" rtlCol="0">
            <a:spAutoFit/>
          </a:bodyPr>
          <a:lstStyle/>
          <a:p>
            <a:pPr algn="ctr"/>
            <a:r>
              <a:rPr lang="en-US" sz="2800" b="1" dirty="0"/>
              <a:t>For reference only</a:t>
            </a:r>
            <a:endParaRPr lang="en-IN" sz="2800" b="1" dirty="0"/>
          </a:p>
        </p:txBody>
      </p:sp>
    </p:spTree>
    <p:extLst>
      <p:ext uri="{BB962C8B-B14F-4D97-AF65-F5344CB8AC3E}">
        <p14:creationId xmlns:p14="http://schemas.microsoft.com/office/powerpoint/2010/main" val="40297736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35"/>
          <p:cNvSpPr txBox="1">
            <a:spLocks noGrp="1"/>
          </p:cNvSpPr>
          <p:nvPr>
            <p:ph type="subTitle" idx="1"/>
          </p:nvPr>
        </p:nvSpPr>
        <p:spPr>
          <a:xfrm>
            <a:off x="311700" y="2834125"/>
            <a:ext cx="8520600" cy="15594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200"/>
              </a:spcAft>
              <a:buNone/>
            </a:pPr>
            <a:r>
              <a:rPr lang="en" sz="4600" b="1" dirty="0">
                <a:solidFill>
                  <a:schemeClr val="dk1"/>
                </a:solidFill>
                <a:latin typeface="Times New Roman"/>
                <a:ea typeface="Times New Roman"/>
                <a:cs typeface="Times New Roman"/>
                <a:sym typeface="Times New Roman"/>
              </a:rPr>
              <a:t>Program Loops</a:t>
            </a:r>
            <a:endParaRPr sz="3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36"/>
          <p:cNvSpPr txBox="1">
            <a:spLocks noGrp="1"/>
          </p:cNvSpPr>
          <p:nvPr>
            <p:ph type="title"/>
          </p:nvPr>
        </p:nvSpPr>
        <p:spPr>
          <a:xfrm>
            <a:off x="83100" y="-12175"/>
            <a:ext cx="8520600" cy="57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200"/>
              </a:spcAft>
              <a:buNone/>
            </a:pPr>
            <a:r>
              <a:rPr lang="en-IN" sz="2800" b="1" dirty="0">
                <a:solidFill>
                  <a:schemeClr val="dk1"/>
                </a:solidFill>
                <a:latin typeface="Times New Roman"/>
                <a:ea typeface="Times New Roman"/>
                <a:cs typeface="Times New Roman"/>
                <a:sym typeface="Times New Roman"/>
              </a:rPr>
              <a:t>Program Loops</a:t>
            </a:r>
            <a:br>
              <a:rPr lang="en-IN" sz="1800" dirty="0"/>
            </a:br>
            <a:endParaRPr sz="3600" b="1" dirty="0">
              <a:latin typeface="Times New Roman"/>
              <a:ea typeface="Times New Roman"/>
              <a:cs typeface="Times New Roman"/>
              <a:sym typeface="Times New Roman"/>
            </a:endParaRPr>
          </a:p>
        </p:txBody>
      </p:sp>
      <p:sp>
        <p:nvSpPr>
          <p:cNvPr id="204" name="Google Shape;204;p36"/>
          <p:cNvSpPr txBox="1"/>
          <p:nvPr/>
        </p:nvSpPr>
        <p:spPr>
          <a:xfrm>
            <a:off x="158550" y="511500"/>
            <a:ext cx="8826900" cy="4632000"/>
          </a:xfrm>
          <a:prstGeom prst="rect">
            <a:avLst/>
          </a:prstGeom>
          <a:noFill/>
          <a:ln>
            <a:noFill/>
          </a:ln>
        </p:spPr>
        <p:txBody>
          <a:bodyPr spcFirstLastPara="1" wrap="square" lIns="91425" tIns="91425" rIns="91425" bIns="91425" anchor="t" anchorCtr="0">
            <a:noAutofit/>
          </a:bodyPr>
          <a:lstStyle/>
          <a:p>
            <a:pPr marL="457200" indent="-342900" algn="just">
              <a:buClr>
                <a:schemeClr val="dk1"/>
              </a:buClr>
              <a:buSzPts val="1800"/>
              <a:buFont typeface="Times New Roman"/>
              <a:buChar char="●"/>
            </a:pPr>
            <a:r>
              <a:rPr lang="en-US" sz="1800" dirty="0">
                <a:solidFill>
                  <a:schemeClr val="dk1"/>
                </a:solidFill>
                <a:latin typeface="Times New Roman"/>
                <a:cs typeface="Times New Roman"/>
              </a:rPr>
              <a:t>A program loop is a sequence of instructions that are executed many times, each time with a different set of data.</a:t>
            </a:r>
          </a:p>
        </p:txBody>
      </p:sp>
      <p:pic>
        <p:nvPicPr>
          <p:cNvPr id="4" name="Picture 3">
            <a:extLst>
              <a:ext uri="{FF2B5EF4-FFF2-40B4-BE49-F238E27FC236}">
                <a16:creationId xmlns:a16="http://schemas.microsoft.com/office/drawing/2014/main" id="{7B50BA92-2AF8-499B-81BA-7E4F2AD80AA5}"/>
              </a:ext>
            </a:extLst>
          </p:cNvPr>
          <p:cNvPicPr>
            <a:picLocks noChangeAspect="1"/>
          </p:cNvPicPr>
          <p:nvPr/>
        </p:nvPicPr>
        <p:blipFill rotWithShape="1">
          <a:blip r:embed="rId3"/>
          <a:srcRect b="2745"/>
          <a:stretch/>
        </p:blipFill>
        <p:spPr>
          <a:xfrm>
            <a:off x="1390810" y="1175657"/>
            <a:ext cx="6498275" cy="3806478"/>
          </a:xfrm>
          <a:prstGeom prst="rect">
            <a:avLst/>
          </a:prstGeom>
        </p:spPr>
      </p:pic>
    </p:spTree>
    <p:extLst>
      <p:ext uri="{BB962C8B-B14F-4D97-AF65-F5344CB8AC3E}">
        <p14:creationId xmlns:p14="http://schemas.microsoft.com/office/powerpoint/2010/main" val="30253777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35"/>
          <p:cNvSpPr txBox="1">
            <a:spLocks noGrp="1"/>
          </p:cNvSpPr>
          <p:nvPr>
            <p:ph type="subTitle" idx="1"/>
          </p:nvPr>
        </p:nvSpPr>
        <p:spPr>
          <a:xfrm>
            <a:off x="311700" y="2834125"/>
            <a:ext cx="8520600" cy="15594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200"/>
              </a:spcAft>
              <a:buNone/>
            </a:pPr>
            <a:r>
              <a:rPr lang="en" sz="4600" b="1">
                <a:solidFill>
                  <a:schemeClr val="dk1"/>
                </a:solidFill>
                <a:latin typeface="Times New Roman"/>
                <a:ea typeface="Times New Roman"/>
                <a:cs typeface="Times New Roman"/>
                <a:sym typeface="Times New Roman"/>
              </a:rPr>
              <a:t>Subroutine</a:t>
            </a:r>
            <a:endParaRPr sz="3400"/>
          </a:p>
        </p:txBody>
      </p:sp>
    </p:spTree>
    <p:extLst>
      <p:ext uri="{BB962C8B-B14F-4D97-AF65-F5344CB8AC3E}">
        <p14:creationId xmlns:p14="http://schemas.microsoft.com/office/powerpoint/2010/main" val="20098398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36"/>
          <p:cNvSpPr txBox="1">
            <a:spLocks noGrp="1"/>
          </p:cNvSpPr>
          <p:nvPr>
            <p:ph type="title"/>
          </p:nvPr>
        </p:nvSpPr>
        <p:spPr>
          <a:xfrm>
            <a:off x="83100" y="-12175"/>
            <a:ext cx="8520600" cy="57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990"/>
              <a:buFont typeface="Arial"/>
              <a:buNone/>
            </a:pPr>
            <a:r>
              <a:rPr lang="en" sz="2640" b="1">
                <a:latin typeface="Times New Roman"/>
                <a:ea typeface="Times New Roman"/>
                <a:cs typeface="Times New Roman"/>
                <a:sym typeface="Times New Roman"/>
              </a:rPr>
              <a:t>Subroutine</a:t>
            </a:r>
            <a:endParaRPr sz="2160">
              <a:latin typeface="Times New Roman"/>
              <a:ea typeface="Times New Roman"/>
              <a:cs typeface="Times New Roman"/>
              <a:sym typeface="Times New Roman"/>
            </a:endParaRPr>
          </a:p>
          <a:p>
            <a:pPr marL="0" lvl="0" indent="0" algn="l" rtl="0">
              <a:lnSpc>
                <a:spcPct val="115000"/>
              </a:lnSpc>
              <a:spcBef>
                <a:spcPts val="1200"/>
              </a:spcBef>
              <a:spcAft>
                <a:spcPts val="1200"/>
              </a:spcAft>
              <a:buClr>
                <a:schemeClr val="dk1"/>
              </a:buClr>
              <a:buSzPts val="990"/>
              <a:buFont typeface="Arial"/>
              <a:buNone/>
            </a:pPr>
            <a:endParaRPr sz="3600" b="1">
              <a:latin typeface="Times New Roman"/>
              <a:ea typeface="Times New Roman"/>
              <a:cs typeface="Times New Roman"/>
              <a:sym typeface="Times New Roman"/>
            </a:endParaRPr>
          </a:p>
        </p:txBody>
      </p:sp>
      <p:sp>
        <p:nvSpPr>
          <p:cNvPr id="204" name="Google Shape;204;p36"/>
          <p:cNvSpPr txBox="1"/>
          <p:nvPr/>
        </p:nvSpPr>
        <p:spPr>
          <a:xfrm>
            <a:off x="93750" y="511375"/>
            <a:ext cx="8826900" cy="4632000"/>
          </a:xfrm>
          <a:prstGeom prst="rect">
            <a:avLst/>
          </a:prstGeom>
          <a:noFill/>
          <a:ln>
            <a:noFill/>
          </a:ln>
        </p:spPr>
        <p:txBody>
          <a:bodyPr spcFirstLastPara="1" wrap="square" lIns="91425" tIns="91425" rIns="91425" bIns="91425" anchor="t" anchorCtr="0">
            <a:noAutofit/>
          </a:bodyPr>
          <a:lstStyle/>
          <a:p>
            <a:pPr marL="457200" lvl="0" indent="-342900" algn="just" rtl="0">
              <a:spcBef>
                <a:spcPts val="0"/>
              </a:spcBef>
              <a:spcAft>
                <a:spcPts val="0"/>
              </a:spcAft>
              <a:buClr>
                <a:schemeClr val="dk1"/>
              </a:buClr>
              <a:buSzPts val="1800"/>
              <a:buFont typeface="Times New Roman"/>
              <a:buChar char="●"/>
            </a:pPr>
            <a:r>
              <a:rPr lang="en" sz="1800" dirty="0">
                <a:solidFill>
                  <a:schemeClr val="dk1"/>
                </a:solidFill>
                <a:latin typeface="Times New Roman"/>
                <a:ea typeface="Times New Roman"/>
                <a:cs typeface="Times New Roman"/>
                <a:sym typeface="Times New Roman"/>
              </a:rPr>
              <a:t>A set of common instructions that can be used in a program many times is called a subroutine.  </a:t>
            </a:r>
            <a:endParaRPr sz="1800" dirty="0">
              <a:solidFill>
                <a:schemeClr val="dk1"/>
              </a:solidFill>
              <a:latin typeface="Times New Roman"/>
              <a:ea typeface="Times New Roman"/>
              <a:cs typeface="Times New Roman"/>
              <a:sym typeface="Times New Roman"/>
            </a:endParaRPr>
          </a:p>
          <a:p>
            <a:pPr marL="457200" lvl="0" indent="-342900" algn="just" rtl="0">
              <a:spcBef>
                <a:spcPts val="0"/>
              </a:spcBef>
              <a:spcAft>
                <a:spcPts val="0"/>
              </a:spcAft>
              <a:buClr>
                <a:schemeClr val="dk1"/>
              </a:buClr>
              <a:buSzPts val="1800"/>
              <a:buFont typeface="Times New Roman"/>
              <a:buChar char="●"/>
            </a:pPr>
            <a:r>
              <a:rPr lang="en" sz="1800" dirty="0">
                <a:solidFill>
                  <a:schemeClr val="dk1"/>
                </a:solidFill>
                <a:latin typeface="Times New Roman"/>
                <a:ea typeface="Times New Roman"/>
                <a:cs typeface="Times New Roman"/>
                <a:sym typeface="Times New Roman"/>
              </a:rPr>
              <a:t>Each time that a subroutine is used in the main part of the program, a branch is executed to the beginning of the subroutine.  </a:t>
            </a:r>
            <a:endParaRPr sz="1800" dirty="0">
              <a:solidFill>
                <a:schemeClr val="dk1"/>
              </a:solidFill>
              <a:latin typeface="Times New Roman"/>
              <a:ea typeface="Times New Roman"/>
              <a:cs typeface="Times New Roman"/>
              <a:sym typeface="Times New Roman"/>
            </a:endParaRPr>
          </a:p>
          <a:p>
            <a:pPr marL="457200" lvl="0" indent="-342900" algn="just" rtl="0">
              <a:spcBef>
                <a:spcPts val="0"/>
              </a:spcBef>
              <a:spcAft>
                <a:spcPts val="0"/>
              </a:spcAft>
              <a:buClr>
                <a:schemeClr val="dk1"/>
              </a:buClr>
              <a:buSzPts val="1800"/>
              <a:buFont typeface="Times New Roman"/>
              <a:buChar char="●"/>
            </a:pPr>
            <a:r>
              <a:rPr lang="en" sz="1800" dirty="0">
                <a:solidFill>
                  <a:schemeClr val="dk1"/>
                </a:solidFill>
                <a:latin typeface="Times New Roman"/>
                <a:ea typeface="Times New Roman"/>
                <a:cs typeface="Times New Roman"/>
                <a:sym typeface="Times New Roman"/>
              </a:rPr>
              <a:t>After the subroutine has been executed, a branch is made back to the main program.  </a:t>
            </a:r>
            <a:endParaRPr sz="1800" dirty="0">
              <a:solidFill>
                <a:schemeClr val="dk1"/>
              </a:solidFill>
              <a:latin typeface="Times New Roman"/>
              <a:ea typeface="Times New Roman"/>
              <a:cs typeface="Times New Roman"/>
              <a:sym typeface="Times New Roman"/>
            </a:endParaRPr>
          </a:p>
          <a:p>
            <a:pPr marL="457200" lvl="0" indent="-342900" algn="just" rtl="0">
              <a:spcBef>
                <a:spcPts val="0"/>
              </a:spcBef>
              <a:spcAft>
                <a:spcPts val="0"/>
              </a:spcAft>
              <a:buClr>
                <a:schemeClr val="dk1"/>
              </a:buClr>
              <a:buSzPts val="1800"/>
              <a:buFont typeface="Times New Roman"/>
              <a:buChar char="●"/>
            </a:pPr>
            <a:r>
              <a:rPr lang="en" sz="1800" dirty="0">
                <a:solidFill>
                  <a:schemeClr val="dk1"/>
                </a:solidFill>
                <a:latin typeface="Times New Roman"/>
                <a:ea typeface="Times New Roman"/>
                <a:cs typeface="Times New Roman"/>
                <a:sym typeface="Times New Roman"/>
              </a:rPr>
              <a:t>A subroutine consists of a self-contained sequence of instructions that carries out a given task.  </a:t>
            </a:r>
            <a:endParaRPr sz="1800" dirty="0">
              <a:solidFill>
                <a:schemeClr val="dk1"/>
              </a:solidFill>
              <a:latin typeface="Times New Roman"/>
              <a:ea typeface="Times New Roman"/>
              <a:cs typeface="Times New Roman"/>
              <a:sym typeface="Times New Roman"/>
            </a:endParaRPr>
          </a:p>
          <a:p>
            <a:pPr marL="457200" lvl="0" indent="-342900" algn="just" rtl="0">
              <a:spcBef>
                <a:spcPts val="0"/>
              </a:spcBef>
              <a:spcAft>
                <a:spcPts val="0"/>
              </a:spcAft>
              <a:buClr>
                <a:schemeClr val="dk1"/>
              </a:buClr>
              <a:buSzPts val="1800"/>
              <a:buFont typeface="Times New Roman"/>
              <a:buChar char="●"/>
            </a:pPr>
            <a:r>
              <a:rPr lang="en" sz="1800" dirty="0">
                <a:solidFill>
                  <a:schemeClr val="dk1"/>
                </a:solidFill>
                <a:latin typeface="Times New Roman"/>
                <a:ea typeface="Times New Roman"/>
                <a:cs typeface="Times New Roman"/>
                <a:sym typeface="Times New Roman"/>
              </a:rPr>
              <a:t>A branch can be made to the subroutine from any part of the main program.  </a:t>
            </a:r>
            <a:endParaRPr sz="1800" dirty="0">
              <a:solidFill>
                <a:schemeClr val="dk1"/>
              </a:solidFill>
              <a:latin typeface="Times New Roman"/>
              <a:ea typeface="Times New Roman"/>
              <a:cs typeface="Times New Roman"/>
              <a:sym typeface="Times New Roman"/>
            </a:endParaRPr>
          </a:p>
          <a:p>
            <a:pPr marL="457200" lvl="0" indent="-342900" algn="just" rtl="0">
              <a:spcBef>
                <a:spcPts val="0"/>
              </a:spcBef>
              <a:spcAft>
                <a:spcPts val="0"/>
              </a:spcAft>
              <a:buClr>
                <a:schemeClr val="dk1"/>
              </a:buClr>
              <a:buSzPts val="1800"/>
              <a:buFont typeface="Times New Roman"/>
              <a:buChar char="●"/>
            </a:pPr>
            <a:r>
              <a:rPr lang="en" sz="1800" dirty="0">
                <a:solidFill>
                  <a:schemeClr val="dk1"/>
                </a:solidFill>
                <a:latin typeface="Times New Roman"/>
                <a:ea typeface="Times New Roman"/>
                <a:cs typeface="Times New Roman"/>
                <a:sym typeface="Times New Roman"/>
              </a:rPr>
              <a:t>Now how the subroutine knows which location to return to, since many different locations in the main program may make branches to the same subroutine.  </a:t>
            </a:r>
            <a:endParaRPr sz="1800" dirty="0">
              <a:solidFill>
                <a:schemeClr val="dk1"/>
              </a:solidFill>
              <a:latin typeface="Times New Roman"/>
              <a:ea typeface="Times New Roman"/>
              <a:cs typeface="Times New Roman"/>
              <a:sym typeface="Times New Roman"/>
            </a:endParaRPr>
          </a:p>
          <a:p>
            <a:pPr marL="457200" lvl="0" indent="-342900" algn="just" rtl="0">
              <a:spcBef>
                <a:spcPts val="0"/>
              </a:spcBef>
              <a:spcAft>
                <a:spcPts val="0"/>
              </a:spcAft>
              <a:buClr>
                <a:schemeClr val="dk1"/>
              </a:buClr>
              <a:buSzPts val="1800"/>
              <a:buFont typeface="Times New Roman"/>
              <a:buChar char="●"/>
            </a:pPr>
            <a:r>
              <a:rPr lang="en" sz="1800" dirty="0">
                <a:solidFill>
                  <a:schemeClr val="dk1"/>
                </a:solidFill>
                <a:latin typeface="Times New Roman"/>
                <a:ea typeface="Times New Roman"/>
                <a:cs typeface="Times New Roman"/>
                <a:sym typeface="Times New Roman"/>
              </a:rPr>
              <a:t>It is therefore necessary to store the return address somewhere in the computer for the subroutine to know where to return.  </a:t>
            </a:r>
            <a:endParaRPr sz="1800" dirty="0">
              <a:solidFill>
                <a:schemeClr val="dk1"/>
              </a:solidFill>
              <a:latin typeface="Times New Roman"/>
              <a:ea typeface="Times New Roman"/>
              <a:cs typeface="Times New Roman"/>
              <a:sym typeface="Times New Roman"/>
            </a:endParaRPr>
          </a:p>
          <a:p>
            <a:pPr marL="457200" lvl="0" indent="-342900" algn="just" rtl="0">
              <a:spcBef>
                <a:spcPts val="0"/>
              </a:spcBef>
              <a:spcAft>
                <a:spcPts val="0"/>
              </a:spcAft>
              <a:buClr>
                <a:schemeClr val="dk1"/>
              </a:buClr>
              <a:buSzPts val="1800"/>
              <a:buFont typeface="Times New Roman"/>
              <a:buChar char="●"/>
            </a:pPr>
            <a:r>
              <a:rPr lang="en" sz="1800" dirty="0">
                <a:solidFill>
                  <a:schemeClr val="dk1"/>
                </a:solidFill>
                <a:latin typeface="Times New Roman"/>
                <a:ea typeface="Times New Roman"/>
                <a:cs typeface="Times New Roman"/>
                <a:sym typeface="Times New Roman"/>
              </a:rPr>
              <a:t>The link between the main program and a subroutine is the BSA instruction (branch and save return address). </a:t>
            </a:r>
            <a:endParaRPr sz="18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37"/>
          <p:cNvSpPr txBox="1">
            <a:spLocks noGrp="1"/>
          </p:cNvSpPr>
          <p:nvPr>
            <p:ph type="title"/>
          </p:nvPr>
        </p:nvSpPr>
        <p:spPr>
          <a:xfrm>
            <a:off x="83100" y="-88375"/>
            <a:ext cx="8520600" cy="57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990"/>
              <a:buFont typeface="Arial"/>
              <a:buNone/>
            </a:pPr>
            <a:r>
              <a:rPr lang="en" sz="2640" b="1" dirty="0">
                <a:latin typeface="Times New Roman"/>
                <a:ea typeface="Times New Roman"/>
                <a:cs typeface="Times New Roman"/>
                <a:sym typeface="Times New Roman"/>
              </a:rPr>
              <a:t>Subroutine (Example)</a:t>
            </a:r>
            <a:endParaRPr sz="2160" dirty="0">
              <a:latin typeface="Times New Roman"/>
              <a:ea typeface="Times New Roman"/>
              <a:cs typeface="Times New Roman"/>
              <a:sym typeface="Times New Roman"/>
            </a:endParaRPr>
          </a:p>
          <a:p>
            <a:pPr marL="0" lvl="0" indent="0" algn="l" rtl="0">
              <a:lnSpc>
                <a:spcPct val="115000"/>
              </a:lnSpc>
              <a:spcBef>
                <a:spcPts val="1200"/>
              </a:spcBef>
              <a:spcAft>
                <a:spcPts val="1200"/>
              </a:spcAft>
              <a:buClr>
                <a:schemeClr val="dk1"/>
              </a:buClr>
              <a:buSzPts val="990"/>
              <a:buFont typeface="Arial"/>
              <a:buNone/>
            </a:pPr>
            <a:endParaRPr sz="3600" b="1" dirty="0">
              <a:latin typeface="Times New Roman"/>
              <a:ea typeface="Times New Roman"/>
              <a:cs typeface="Times New Roman"/>
              <a:sym typeface="Times New Roman"/>
            </a:endParaRPr>
          </a:p>
        </p:txBody>
      </p:sp>
      <p:sp>
        <p:nvSpPr>
          <p:cNvPr id="210" name="Google Shape;210;p37"/>
          <p:cNvSpPr txBox="1"/>
          <p:nvPr/>
        </p:nvSpPr>
        <p:spPr>
          <a:xfrm>
            <a:off x="93750" y="511375"/>
            <a:ext cx="8826900" cy="463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dirty="0">
                <a:solidFill>
                  <a:schemeClr val="dk1"/>
                </a:solidFill>
                <a:latin typeface="Times New Roman"/>
                <a:ea typeface="Times New Roman"/>
                <a:cs typeface="Times New Roman"/>
                <a:sym typeface="Times New Roman"/>
              </a:rPr>
              <a:t>Example: A.L.P. to perform shift left operation four times.</a:t>
            </a:r>
            <a:endParaRPr sz="1800" b="1" dirty="0">
              <a:solidFill>
                <a:schemeClr val="dk1"/>
              </a:solidFill>
              <a:latin typeface="Times New Roman"/>
              <a:ea typeface="Times New Roman"/>
              <a:cs typeface="Times New Roman"/>
              <a:sym typeface="Times New Roman"/>
            </a:endParaRPr>
          </a:p>
        </p:txBody>
      </p:sp>
      <p:pic>
        <p:nvPicPr>
          <p:cNvPr id="211" name="Google Shape;211;p37"/>
          <p:cNvPicPr preferRelativeResize="0"/>
          <p:nvPr/>
        </p:nvPicPr>
        <p:blipFill rotWithShape="1">
          <a:blip r:embed="rId3">
            <a:alphaModFix/>
          </a:blip>
          <a:srcRect l="11133" t="20039" r="15038" b="10138"/>
          <a:stretch/>
        </p:blipFill>
        <p:spPr>
          <a:xfrm>
            <a:off x="93750" y="969903"/>
            <a:ext cx="8826901" cy="403175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37"/>
          <p:cNvSpPr txBox="1">
            <a:spLocks noGrp="1"/>
          </p:cNvSpPr>
          <p:nvPr>
            <p:ph type="title"/>
          </p:nvPr>
        </p:nvSpPr>
        <p:spPr>
          <a:xfrm>
            <a:off x="83100" y="-88375"/>
            <a:ext cx="8520600" cy="57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990"/>
              <a:buFont typeface="Arial"/>
              <a:buNone/>
            </a:pPr>
            <a:r>
              <a:rPr lang="en" sz="2640" b="1" dirty="0">
                <a:latin typeface="Times New Roman"/>
                <a:ea typeface="Times New Roman"/>
                <a:cs typeface="Times New Roman"/>
                <a:sym typeface="Times New Roman"/>
              </a:rPr>
              <a:t>Subroutine </a:t>
            </a:r>
            <a:r>
              <a:rPr lang="en-US" sz="2640" b="1" dirty="0">
                <a:latin typeface="Times New Roman"/>
                <a:ea typeface="Times New Roman"/>
                <a:cs typeface="Times New Roman"/>
                <a:sym typeface="Times New Roman"/>
              </a:rPr>
              <a:t>vs Program Loop</a:t>
            </a:r>
            <a:endParaRPr sz="2160" dirty="0">
              <a:latin typeface="Times New Roman"/>
              <a:ea typeface="Times New Roman"/>
              <a:cs typeface="Times New Roman"/>
              <a:sym typeface="Times New Roman"/>
            </a:endParaRPr>
          </a:p>
          <a:p>
            <a:pPr marL="0" lvl="0" indent="0" algn="l" rtl="0">
              <a:lnSpc>
                <a:spcPct val="115000"/>
              </a:lnSpc>
              <a:spcBef>
                <a:spcPts val="1200"/>
              </a:spcBef>
              <a:spcAft>
                <a:spcPts val="1200"/>
              </a:spcAft>
              <a:buClr>
                <a:schemeClr val="dk1"/>
              </a:buClr>
              <a:buSzPts val="990"/>
              <a:buFont typeface="Arial"/>
              <a:buNone/>
            </a:pPr>
            <a:endParaRPr sz="3600" b="1" dirty="0">
              <a:latin typeface="Times New Roman"/>
              <a:ea typeface="Times New Roman"/>
              <a:cs typeface="Times New Roman"/>
              <a:sym typeface="Times New Roman"/>
            </a:endParaRPr>
          </a:p>
        </p:txBody>
      </p:sp>
      <p:sp>
        <p:nvSpPr>
          <p:cNvPr id="210" name="Google Shape;210;p37"/>
          <p:cNvSpPr txBox="1"/>
          <p:nvPr/>
        </p:nvSpPr>
        <p:spPr>
          <a:xfrm>
            <a:off x="93750" y="511375"/>
            <a:ext cx="8826900" cy="4632000"/>
          </a:xfrm>
          <a:prstGeom prst="rect">
            <a:avLst/>
          </a:prstGeom>
          <a:noFill/>
          <a:ln>
            <a:noFill/>
          </a:ln>
        </p:spPr>
        <p:txBody>
          <a:bodyPr spcFirstLastPara="1" wrap="square" lIns="91425" tIns="91425" rIns="91425" bIns="91425" anchor="t" anchorCtr="0">
            <a:noAutofit/>
          </a:bodyPr>
          <a:lstStyle/>
          <a:p>
            <a:pPr marL="457200" indent="-342900" algn="just">
              <a:buClr>
                <a:schemeClr val="dk1"/>
              </a:buClr>
              <a:buSzPts val="1800"/>
              <a:buFont typeface="Times New Roman"/>
              <a:buChar char="●"/>
            </a:pPr>
            <a:r>
              <a:rPr lang="en-US" sz="1800" dirty="0">
                <a:solidFill>
                  <a:schemeClr val="dk1"/>
                </a:solidFill>
                <a:latin typeface="Times New Roman"/>
                <a:cs typeface="Times New Roman"/>
              </a:rPr>
              <a:t>A </a:t>
            </a:r>
            <a:r>
              <a:rPr lang="en-US" sz="1800" b="1" dirty="0">
                <a:solidFill>
                  <a:schemeClr val="dk1"/>
                </a:solidFill>
                <a:latin typeface="Times New Roman"/>
                <a:cs typeface="Times New Roman"/>
              </a:rPr>
              <a:t>program loop </a:t>
            </a:r>
            <a:r>
              <a:rPr lang="en-US" sz="1800" dirty="0">
                <a:solidFill>
                  <a:schemeClr val="dk1"/>
                </a:solidFill>
                <a:latin typeface="Times New Roman"/>
                <a:cs typeface="Times New Roman"/>
              </a:rPr>
              <a:t>simply instructs the control unit to repeat a series of program statements a specified number of times.</a:t>
            </a:r>
          </a:p>
          <a:p>
            <a:pPr marL="457200" indent="-342900" algn="just">
              <a:buClr>
                <a:schemeClr val="dk1"/>
              </a:buClr>
              <a:buSzPts val="1800"/>
              <a:buFont typeface="Times New Roman"/>
              <a:buChar char="●"/>
            </a:pPr>
            <a:endParaRPr lang="en-US" sz="1800" dirty="0">
              <a:solidFill>
                <a:schemeClr val="dk1"/>
              </a:solidFill>
              <a:latin typeface="Times New Roman"/>
              <a:cs typeface="Times New Roman"/>
              <a:sym typeface="Times New Roman"/>
            </a:endParaRPr>
          </a:p>
          <a:p>
            <a:pPr marL="457200" indent="-342900" algn="just">
              <a:buClr>
                <a:schemeClr val="dk1"/>
              </a:buClr>
              <a:buSzPts val="1800"/>
              <a:buFont typeface="Times New Roman"/>
              <a:buChar char="●"/>
            </a:pPr>
            <a:r>
              <a:rPr lang="en-US" sz="1800" dirty="0">
                <a:solidFill>
                  <a:schemeClr val="dk1"/>
                </a:solidFill>
                <a:latin typeface="Times New Roman"/>
                <a:cs typeface="Times New Roman"/>
              </a:rPr>
              <a:t>A </a:t>
            </a:r>
            <a:r>
              <a:rPr lang="en-US" sz="1800" b="1" dirty="0">
                <a:solidFill>
                  <a:schemeClr val="dk1"/>
                </a:solidFill>
                <a:latin typeface="Times New Roman"/>
                <a:cs typeface="Times New Roman"/>
              </a:rPr>
              <a:t>subroutine</a:t>
            </a:r>
            <a:r>
              <a:rPr lang="en-US" sz="1800" dirty="0">
                <a:solidFill>
                  <a:schemeClr val="dk1"/>
                </a:solidFill>
                <a:latin typeface="Times New Roman"/>
                <a:cs typeface="Times New Roman"/>
              </a:rPr>
              <a:t> is a separate program called by another program. It is a sequence of program instructions that perform a specific task.</a:t>
            </a:r>
            <a:endParaRPr sz="1800" dirty="0">
              <a:solidFill>
                <a:schemeClr val="dk1"/>
              </a:solidFill>
              <a:latin typeface="Times New Roman"/>
              <a:cs typeface="Times New Roman"/>
              <a:sym typeface="Times New Roman"/>
            </a:endParaRPr>
          </a:p>
        </p:txBody>
      </p:sp>
    </p:spTree>
    <p:extLst>
      <p:ext uri="{BB962C8B-B14F-4D97-AF65-F5344CB8AC3E}">
        <p14:creationId xmlns:p14="http://schemas.microsoft.com/office/powerpoint/2010/main" val="37982434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38"/>
          <p:cNvSpPr txBox="1">
            <a:spLocks noGrp="1"/>
          </p:cNvSpPr>
          <p:nvPr>
            <p:ph type="subTitle" idx="1"/>
          </p:nvPr>
        </p:nvSpPr>
        <p:spPr>
          <a:xfrm>
            <a:off x="311700" y="2834125"/>
            <a:ext cx="8520600" cy="15594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4600" b="1">
                <a:solidFill>
                  <a:schemeClr val="dk1"/>
                </a:solidFill>
                <a:latin typeface="Times New Roman"/>
                <a:ea typeface="Times New Roman"/>
                <a:cs typeface="Times New Roman"/>
                <a:sym typeface="Times New Roman"/>
              </a:rPr>
              <a:t>I-O Programming</a:t>
            </a:r>
            <a:endParaRPr sz="24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4600" b="1">
              <a:solidFill>
                <a:schemeClr val="dk1"/>
              </a:solidFill>
              <a:latin typeface="Times New Roman"/>
              <a:ea typeface="Times New Roman"/>
              <a:cs typeface="Times New Roman"/>
              <a:sym typeface="Times New Roman"/>
            </a:endParaRPr>
          </a:p>
          <a:p>
            <a:pPr marL="0" lvl="0" indent="0" algn="ctr" rtl="0">
              <a:spcBef>
                <a:spcPts val="1200"/>
              </a:spcBef>
              <a:spcAft>
                <a:spcPts val="0"/>
              </a:spcAft>
              <a:buNone/>
            </a:pPr>
            <a:endParaRPr sz="34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39"/>
          <p:cNvSpPr txBox="1">
            <a:spLocks noGrp="1"/>
          </p:cNvSpPr>
          <p:nvPr>
            <p:ph type="title"/>
          </p:nvPr>
        </p:nvSpPr>
        <p:spPr>
          <a:xfrm>
            <a:off x="83100" y="-88375"/>
            <a:ext cx="8520600" cy="57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990"/>
              <a:buFont typeface="Arial"/>
              <a:buNone/>
            </a:pPr>
            <a:r>
              <a:rPr lang="en" sz="2640" b="1">
                <a:latin typeface="Times New Roman"/>
                <a:ea typeface="Times New Roman"/>
                <a:cs typeface="Times New Roman"/>
                <a:sym typeface="Times New Roman"/>
              </a:rPr>
              <a:t>Input-Output Programming</a:t>
            </a:r>
            <a:endParaRPr sz="2160">
              <a:latin typeface="Times New Roman"/>
              <a:ea typeface="Times New Roman"/>
              <a:cs typeface="Times New Roman"/>
              <a:sym typeface="Times New Roman"/>
            </a:endParaRPr>
          </a:p>
          <a:p>
            <a:pPr marL="0" lvl="0" indent="0" algn="l" rtl="0">
              <a:lnSpc>
                <a:spcPct val="115000"/>
              </a:lnSpc>
              <a:spcBef>
                <a:spcPts val="1200"/>
              </a:spcBef>
              <a:spcAft>
                <a:spcPts val="1200"/>
              </a:spcAft>
              <a:buClr>
                <a:schemeClr val="dk1"/>
              </a:buClr>
              <a:buSzPts val="990"/>
              <a:buFont typeface="Arial"/>
              <a:buNone/>
            </a:pPr>
            <a:endParaRPr sz="3600" b="1">
              <a:latin typeface="Times New Roman"/>
              <a:ea typeface="Times New Roman"/>
              <a:cs typeface="Times New Roman"/>
              <a:sym typeface="Times New Roman"/>
            </a:endParaRPr>
          </a:p>
        </p:txBody>
      </p:sp>
      <p:sp>
        <p:nvSpPr>
          <p:cNvPr id="222" name="Google Shape;222;p39"/>
          <p:cNvSpPr txBox="1"/>
          <p:nvPr/>
        </p:nvSpPr>
        <p:spPr>
          <a:xfrm>
            <a:off x="83100" y="657497"/>
            <a:ext cx="8826900" cy="4632000"/>
          </a:xfrm>
          <a:prstGeom prst="rect">
            <a:avLst/>
          </a:prstGeom>
          <a:noFill/>
          <a:ln>
            <a:noFill/>
          </a:ln>
        </p:spPr>
        <p:txBody>
          <a:bodyPr spcFirstLastPara="1" wrap="square" lIns="91425" tIns="91425" rIns="91425" bIns="91425" anchor="t" anchorCtr="0">
            <a:noAutofit/>
          </a:bodyPr>
          <a:lstStyle/>
          <a:p>
            <a:pPr marL="457200" indent="-342900" algn="just">
              <a:buClr>
                <a:schemeClr val="dk1"/>
              </a:buClr>
              <a:buSzPts val="1800"/>
              <a:buFont typeface="Times New Roman"/>
              <a:buChar char="●"/>
            </a:pPr>
            <a:r>
              <a:rPr lang="en-US" sz="1800" dirty="0">
                <a:solidFill>
                  <a:schemeClr val="dk1"/>
                </a:solidFill>
                <a:latin typeface="Times New Roman"/>
                <a:cs typeface="Times New Roman"/>
              </a:rPr>
              <a:t>Users of the computer write programs with symbols that are defined by the programming language employed. </a:t>
            </a:r>
          </a:p>
          <a:p>
            <a:pPr marL="457200" indent="-342900" algn="just">
              <a:buClr>
                <a:schemeClr val="dk1"/>
              </a:buClr>
              <a:buSzPts val="1800"/>
              <a:buFont typeface="Times New Roman"/>
              <a:buChar char="●"/>
            </a:pPr>
            <a:r>
              <a:rPr lang="en-US" sz="1800" dirty="0">
                <a:solidFill>
                  <a:schemeClr val="dk1"/>
                </a:solidFill>
                <a:latin typeface="Times New Roman"/>
                <a:cs typeface="Times New Roman"/>
              </a:rPr>
              <a:t>The symbols are strings of characters and each character is assigned an 8-bit code so that it can be stored in computer memory. </a:t>
            </a:r>
          </a:p>
          <a:p>
            <a:pPr marL="457200" indent="-342900" algn="just">
              <a:buClr>
                <a:schemeClr val="dk1"/>
              </a:buClr>
              <a:buSzPts val="1800"/>
              <a:buFont typeface="Times New Roman"/>
              <a:buChar char="●"/>
            </a:pPr>
            <a:r>
              <a:rPr lang="en-US" sz="1800" dirty="0">
                <a:solidFill>
                  <a:schemeClr val="dk1"/>
                </a:solidFill>
                <a:latin typeface="Times New Roman"/>
                <a:cs typeface="Times New Roman"/>
              </a:rPr>
              <a:t>A binary-coded character enters the computer when an INP (input) instruction is executed. A binary-coded character is transferred to the output device when an OUT (output) instruction is executed. </a:t>
            </a:r>
          </a:p>
          <a:p>
            <a:pPr marL="457200" indent="-342900" algn="just">
              <a:buClr>
                <a:schemeClr val="dk1"/>
              </a:buClr>
              <a:buSzPts val="1800"/>
              <a:buFont typeface="Times New Roman"/>
              <a:buChar char="●"/>
            </a:pPr>
            <a:r>
              <a:rPr lang="en-US" sz="1800" dirty="0">
                <a:solidFill>
                  <a:schemeClr val="dk1"/>
                </a:solidFill>
                <a:latin typeface="Times New Roman"/>
                <a:cs typeface="Times New Roman"/>
              </a:rPr>
              <a:t>The output device detects the binary code and types the corresponding character. </a:t>
            </a:r>
          </a:p>
          <a:p>
            <a:pPr marL="0" lvl="0" indent="0" algn="l" rtl="0">
              <a:spcBef>
                <a:spcPts val="0"/>
              </a:spcBef>
              <a:spcAft>
                <a:spcPts val="0"/>
              </a:spcAft>
              <a:buNone/>
            </a:pPr>
            <a:endParaRPr sz="18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39"/>
          <p:cNvSpPr txBox="1">
            <a:spLocks noGrp="1"/>
          </p:cNvSpPr>
          <p:nvPr>
            <p:ph type="title"/>
          </p:nvPr>
        </p:nvSpPr>
        <p:spPr>
          <a:xfrm>
            <a:off x="83100" y="-88375"/>
            <a:ext cx="8520600" cy="57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990"/>
              <a:buFont typeface="Arial"/>
              <a:buNone/>
            </a:pPr>
            <a:r>
              <a:rPr lang="en" sz="2640" b="1">
                <a:latin typeface="Times New Roman"/>
                <a:ea typeface="Times New Roman"/>
                <a:cs typeface="Times New Roman"/>
                <a:sym typeface="Times New Roman"/>
              </a:rPr>
              <a:t>Input-Output Programming</a:t>
            </a:r>
            <a:endParaRPr sz="2160">
              <a:latin typeface="Times New Roman"/>
              <a:ea typeface="Times New Roman"/>
              <a:cs typeface="Times New Roman"/>
              <a:sym typeface="Times New Roman"/>
            </a:endParaRPr>
          </a:p>
          <a:p>
            <a:pPr marL="0" lvl="0" indent="0" algn="l" rtl="0">
              <a:lnSpc>
                <a:spcPct val="115000"/>
              </a:lnSpc>
              <a:spcBef>
                <a:spcPts val="1200"/>
              </a:spcBef>
              <a:spcAft>
                <a:spcPts val="1200"/>
              </a:spcAft>
              <a:buClr>
                <a:schemeClr val="dk1"/>
              </a:buClr>
              <a:buSzPts val="990"/>
              <a:buFont typeface="Arial"/>
              <a:buNone/>
            </a:pPr>
            <a:endParaRPr sz="3600" b="1">
              <a:latin typeface="Times New Roman"/>
              <a:ea typeface="Times New Roman"/>
              <a:cs typeface="Times New Roman"/>
              <a:sym typeface="Times New Roman"/>
            </a:endParaRPr>
          </a:p>
        </p:txBody>
      </p:sp>
      <p:sp>
        <p:nvSpPr>
          <p:cNvPr id="222" name="Google Shape;222;p39"/>
          <p:cNvSpPr txBox="1"/>
          <p:nvPr/>
        </p:nvSpPr>
        <p:spPr>
          <a:xfrm>
            <a:off x="93750" y="511375"/>
            <a:ext cx="8826900" cy="463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latin typeface="Times New Roman"/>
                <a:ea typeface="Times New Roman"/>
                <a:cs typeface="Times New Roman"/>
                <a:sym typeface="Times New Roman"/>
              </a:rPr>
              <a:t>Example: A.L.P. to input one character  </a:t>
            </a:r>
            <a:endParaRPr sz="1800" b="1">
              <a:solidFill>
                <a:schemeClr val="dk1"/>
              </a:solidFill>
              <a:latin typeface="Times New Roman"/>
              <a:ea typeface="Times New Roman"/>
              <a:cs typeface="Times New Roman"/>
              <a:sym typeface="Times New Roman"/>
            </a:endParaRPr>
          </a:p>
          <a:p>
            <a:pPr marL="457200" lvl="0" indent="-342900" algn="just" rtl="0">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To input a character, a binary-coded character enters the computer when an INP (input) instruction is executed.  </a:t>
            </a:r>
            <a:endParaRPr sz="1800">
              <a:solidFill>
                <a:schemeClr val="dk1"/>
              </a:solidFill>
              <a:latin typeface="Times New Roman"/>
              <a:ea typeface="Times New Roman"/>
              <a:cs typeface="Times New Roman"/>
              <a:sym typeface="Times New Roman"/>
            </a:endParaRPr>
          </a:p>
          <a:p>
            <a:pPr marL="457200" lvl="0" indent="-342900" algn="just" rtl="0">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The SKI instruction checks the input flag to see if a character is available for transfer. The next instruction is skipped if the input flag bit is 1. The INP instruction then transfers the binary-coded character into AC(0-7). The character is then printed by means of the OUT instruction.  </a:t>
            </a:r>
            <a:endParaRPr sz="1800">
              <a:solidFill>
                <a:schemeClr val="dk1"/>
              </a:solidFill>
              <a:latin typeface="Times New Roman"/>
              <a:ea typeface="Times New Roman"/>
              <a:cs typeface="Times New Roman"/>
              <a:sym typeface="Times New Roman"/>
            </a:endParaRPr>
          </a:p>
          <a:p>
            <a:pPr marL="457200" lvl="0" indent="-342900" algn="just" rtl="0">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But if the SKI instruction finds the flag bit at 0, the next instruction in sequence is executed. This instruction is a branch to return and check the flag bit again.</a:t>
            </a:r>
            <a:endParaRPr sz="1800">
              <a:solidFill>
                <a:schemeClr val="dk1"/>
              </a:solidFill>
              <a:latin typeface="Times New Roman"/>
              <a:ea typeface="Times New Roman"/>
              <a:cs typeface="Times New Roman"/>
              <a:sym typeface="Times New Roman"/>
            </a:endParaRPr>
          </a:p>
        </p:txBody>
      </p:sp>
      <p:pic>
        <p:nvPicPr>
          <p:cNvPr id="223" name="Google Shape;223;p39"/>
          <p:cNvPicPr preferRelativeResize="0"/>
          <p:nvPr/>
        </p:nvPicPr>
        <p:blipFill rotWithShape="1">
          <a:blip r:embed="rId3">
            <a:alphaModFix/>
          </a:blip>
          <a:srcRect l="20365" t="39057" r="24263" b="24727"/>
          <a:stretch/>
        </p:blipFill>
        <p:spPr>
          <a:xfrm>
            <a:off x="1811838" y="3214675"/>
            <a:ext cx="5063123" cy="1861851"/>
          </a:xfrm>
          <a:prstGeom prst="rect">
            <a:avLst/>
          </a:prstGeom>
          <a:noFill/>
          <a:ln>
            <a:noFill/>
          </a:ln>
        </p:spPr>
      </p:pic>
    </p:spTree>
    <p:extLst>
      <p:ext uri="{BB962C8B-B14F-4D97-AF65-F5344CB8AC3E}">
        <p14:creationId xmlns:p14="http://schemas.microsoft.com/office/powerpoint/2010/main" val="13447449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A0D2109-FDCE-4A56-AEAB-3332709B8412}"/>
              </a:ext>
            </a:extLst>
          </p:cNvPr>
          <p:cNvSpPr txBox="1"/>
          <p:nvPr/>
        </p:nvSpPr>
        <p:spPr>
          <a:xfrm>
            <a:off x="75228" y="47612"/>
            <a:ext cx="5739973" cy="584775"/>
          </a:xfrm>
          <a:prstGeom prst="rect">
            <a:avLst/>
          </a:prstGeom>
          <a:noFill/>
        </p:spPr>
        <p:txBody>
          <a:bodyPr wrap="square" rtlCol="0">
            <a:spAutoFit/>
          </a:bodyPr>
          <a:lstStyle/>
          <a:p>
            <a:r>
              <a:rPr lang="en-US" sz="3200" b="1" dirty="0"/>
              <a:t>For reference only</a:t>
            </a:r>
            <a:endParaRPr lang="en-IN" sz="3200" b="1" dirty="0"/>
          </a:p>
        </p:txBody>
      </p:sp>
      <p:pic>
        <p:nvPicPr>
          <p:cNvPr id="7" name="Picture 6">
            <a:extLst>
              <a:ext uri="{FF2B5EF4-FFF2-40B4-BE49-F238E27FC236}">
                <a16:creationId xmlns:a16="http://schemas.microsoft.com/office/drawing/2014/main" id="{690AA46C-BDE6-49AC-8C63-D11CBCFB5D6E}"/>
              </a:ext>
            </a:extLst>
          </p:cNvPr>
          <p:cNvPicPr>
            <a:picLocks noChangeAspect="1"/>
          </p:cNvPicPr>
          <p:nvPr/>
        </p:nvPicPr>
        <p:blipFill rotWithShape="1">
          <a:blip r:embed="rId2"/>
          <a:srcRect t="18644"/>
          <a:stretch/>
        </p:blipFill>
        <p:spPr>
          <a:xfrm>
            <a:off x="75228" y="2338075"/>
            <a:ext cx="7113185" cy="2743199"/>
          </a:xfrm>
          <a:prstGeom prst="rect">
            <a:avLst/>
          </a:prstGeom>
        </p:spPr>
      </p:pic>
      <p:pic>
        <p:nvPicPr>
          <p:cNvPr id="8" name="Picture 7">
            <a:extLst>
              <a:ext uri="{FF2B5EF4-FFF2-40B4-BE49-F238E27FC236}">
                <a16:creationId xmlns:a16="http://schemas.microsoft.com/office/drawing/2014/main" id="{108CF201-4A25-4700-A05B-2DDA9B0102DD}"/>
              </a:ext>
            </a:extLst>
          </p:cNvPr>
          <p:cNvPicPr>
            <a:picLocks noChangeAspect="1"/>
          </p:cNvPicPr>
          <p:nvPr/>
        </p:nvPicPr>
        <p:blipFill rotWithShape="1">
          <a:blip r:embed="rId3"/>
          <a:srcRect r="31916"/>
          <a:stretch/>
        </p:blipFill>
        <p:spPr>
          <a:xfrm>
            <a:off x="3253480" y="744745"/>
            <a:ext cx="5739973" cy="1467650"/>
          </a:xfrm>
          <a:prstGeom prst="rect">
            <a:avLst/>
          </a:prstGeom>
        </p:spPr>
      </p:pic>
    </p:spTree>
    <p:extLst>
      <p:ext uri="{BB962C8B-B14F-4D97-AF65-F5344CB8AC3E}">
        <p14:creationId xmlns:p14="http://schemas.microsoft.com/office/powerpoint/2010/main" val="38067217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40"/>
          <p:cNvSpPr txBox="1">
            <a:spLocks noGrp="1"/>
          </p:cNvSpPr>
          <p:nvPr>
            <p:ph type="title"/>
          </p:nvPr>
        </p:nvSpPr>
        <p:spPr>
          <a:xfrm>
            <a:off x="83100" y="-88375"/>
            <a:ext cx="8520600" cy="57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990"/>
              <a:buFont typeface="Arial"/>
              <a:buNone/>
            </a:pPr>
            <a:r>
              <a:rPr lang="en" sz="2640" b="1">
                <a:latin typeface="Times New Roman"/>
                <a:ea typeface="Times New Roman"/>
                <a:cs typeface="Times New Roman"/>
                <a:sym typeface="Times New Roman"/>
              </a:rPr>
              <a:t>Input-Output Programming</a:t>
            </a:r>
            <a:endParaRPr sz="2160">
              <a:latin typeface="Times New Roman"/>
              <a:ea typeface="Times New Roman"/>
              <a:cs typeface="Times New Roman"/>
              <a:sym typeface="Times New Roman"/>
            </a:endParaRPr>
          </a:p>
          <a:p>
            <a:pPr marL="0" lvl="0" indent="0" algn="l" rtl="0">
              <a:lnSpc>
                <a:spcPct val="115000"/>
              </a:lnSpc>
              <a:spcBef>
                <a:spcPts val="1200"/>
              </a:spcBef>
              <a:spcAft>
                <a:spcPts val="1200"/>
              </a:spcAft>
              <a:buClr>
                <a:schemeClr val="dk1"/>
              </a:buClr>
              <a:buSzPts val="990"/>
              <a:buFont typeface="Arial"/>
              <a:buNone/>
            </a:pPr>
            <a:endParaRPr sz="3600" b="1">
              <a:latin typeface="Times New Roman"/>
              <a:ea typeface="Times New Roman"/>
              <a:cs typeface="Times New Roman"/>
              <a:sym typeface="Times New Roman"/>
            </a:endParaRPr>
          </a:p>
        </p:txBody>
      </p:sp>
      <p:sp>
        <p:nvSpPr>
          <p:cNvPr id="229" name="Google Shape;229;p40"/>
          <p:cNvSpPr txBox="1"/>
          <p:nvPr/>
        </p:nvSpPr>
        <p:spPr>
          <a:xfrm>
            <a:off x="93750" y="511375"/>
            <a:ext cx="8826900" cy="463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latin typeface="Times New Roman"/>
                <a:ea typeface="Times New Roman"/>
                <a:cs typeface="Times New Roman"/>
                <a:sym typeface="Times New Roman"/>
              </a:rPr>
              <a:t>Example: A.L.P. to output one character  </a:t>
            </a:r>
            <a:endParaRPr sz="1800" b="1">
              <a:solidFill>
                <a:schemeClr val="dk1"/>
              </a:solidFill>
              <a:latin typeface="Times New Roman"/>
              <a:ea typeface="Times New Roman"/>
              <a:cs typeface="Times New Roman"/>
              <a:sym typeface="Times New Roman"/>
            </a:endParaRPr>
          </a:p>
          <a:p>
            <a:pPr marL="457200" lvl="0" indent="-342900" algn="just" rtl="0">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To print a character initially stored in memory. The character is first loaded into the AC .  </a:t>
            </a:r>
            <a:endParaRPr sz="1800">
              <a:solidFill>
                <a:schemeClr val="dk1"/>
              </a:solidFill>
              <a:latin typeface="Times New Roman"/>
              <a:ea typeface="Times New Roman"/>
              <a:cs typeface="Times New Roman"/>
              <a:sym typeface="Times New Roman"/>
            </a:endParaRPr>
          </a:p>
          <a:p>
            <a:pPr marL="457200" lvl="0" indent="-342900" algn="just" rtl="0">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The output flag is then checked. If it is 0, the computer remains in a two-instruction loop checking the flag bit again.  </a:t>
            </a:r>
            <a:endParaRPr sz="1800">
              <a:solidFill>
                <a:schemeClr val="dk1"/>
              </a:solidFill>
              <a:latin typeface="Times New Roman"/>
              <a:ea typeface="Times New Roman"/>
              <a:cs typeface="Times New Roman"/>
              <a:sym typeface="Times New Roman"/>
            </a:endParaRPr>
          </a:p>
          <a:p>
            <a:pPr marL="457200" lvl="0" indent="-342900" algn="just" rtl="0">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A binary-coded character is transferred to the output device when an OUT (output) instruction is executed.  </a:t>
            </a:r>
            <a:endParaRPr sz="1800">
              <a:solidFill>
                <a:schemeClr val="dk1"/>
              </a:solidFill>
              <a:latin typeface="Times New Roman"/>
              <a:ea typeface="Times New Roman"/>
              <a:cs typeface="Times New Roman"/>
              <a:sym typeface="Times New Roman"/>
            </a:endParaRPr>
          </a:p>
          <a:p>
            <a:pPr marL="457200" lvl="0" indent="-342900" algn="just" rtl="0">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The output device detects the binary code and types the corresponding character. When the output flag changes to 1, the character is transferred from the accumulator to the printer.</a:t>
            </a:r>
            <a:endParaRPr sz="1800">
              <a:solidFill>
                <a:schemeClr val="dk1"/>
              </a:solidFill>
              <a:latin typeface="Times New Roman"/>
              <a:ea typeface="Times New Roman"/>
              <a:cs typeface="Times New Roman"/>
              <a:sym typeface="Times New Roman"/>
            </a:endParaRPr>
          </a:p>
        </p:txBody>
      </p:sp>
      <p:pic>
        <p:nvPicPr>
          <p:cNvPr id="230" name="Google Shape;230;p40"/>
          <p:cNvPicPr preferRelativeResize="0"/>
          <p:nvPr/>
        </p:nvPicPr>
        <p:blipFill rotWithShape="1">
          <a:blip r:embed="rId3">
            <a:alphaModFix/>
          </a:blip>
          <a:srcRect l="19624" t="48697" r="22073" b="16388"/>
          <a:stretch/>
        </p:blipFill>
        <p:spPr>
          <a:xfrm>
            <a:off x="1995800" y="3053825"/>
            <a:ext cx="5331023" cy="1794876"/>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46"/>
        <p:cNvGrpSpPr/>
        <p:nvPr/>
      </p:nvGrpSpPr>
      <p:grpSpPr>
        <a:xfrm>
          <a:off x="0" y="0"/>
          <a:ext cx="0" cy="0"/>
          <a:chOff x="0" y="0"/>
          <a:chExt cx="0" cy="0"/>
        </a:xfrm>
      </p:grpSpPr>
      <p:sp>
        <p:nvSpPr>
          <p:cNvPr id="547" name="Google Shape;547;p75"/>
          <p:cNvSpPr txBox="1">
            <a:spLocks noGrp="1"/>
          </p:cNvSpPr>
          <p:nvPr>
            <p:ph type="title"/>
          </p:nvPr>
        </p:nvSpPr>
        <p:spPr>
          <a:xfrm>
            <a:off x="235500" y="-180583"/>
            <a:ext cx="8520600" cy="472577"/>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sz="3200" b="1" dirty="0">
                <a:latin typeface="Times New Roman"/>
                <a:ea typeface="Times New Roman"/>
                <a:cs typeface="Times New Roman"/>
                <a:sym typeface="Times New Roman"/>
              </a:rPr>
              <a:t>GTU Questions</a:t>
            </a:r>
            <a:endParaRPr b="1" dirty="0">
              <a:latin typeface="Times New Roman"/>
              <a:ea typeface="Times New Roman"/>
              <a:cs typeface="Times New Roman"/>
              <a:sym typeface="Times New Roman"/>
            </a:endParaRPr>
          </a:p>
        </p:txBody>
      </p:sp>
      <p:sp>
        <p:nvSpPr>
          <p:cNvPr id="548" name="Google Shape;548;p75"/>
          <p:cNvSpPr txBox="1">
            <a:spLocks noGrp="1"/>
          </p:cNvSpPr>
          <p:nvPr>
            <p:ph type="body" idx="1"/>
          </p:nvPr>
        </p:nvSpPr>
        <p:spPr>
          <a:xfrm>
            <a:off x="147350" y="661400"/>
            <a:ext cx="8520600" cy="4419600"/>
          </a:xfrm>
          <a:prstGeom prst="rect">
            <a:avLst/>
          </a:prstGeom>
          <a:noFill/>
          <a:ln>
            <a:noFill/>
          </a:ln>
        </p:spPr>
        <p:txBody>
          <a:bodyPr spcFirstLastPara="1" wrap="square" lIns="91425" tIns="91425" rIns="91425" bIns="91425" anchor="t" anchorCtr="0">
            <a:noAutofit/>
          </a:bodyPr>
          <a:lstStyle/>
          <a:p>
            <a:pPr marL="285750" indent="-285750" algn="just">
              <a:spcBef>
                <a:spcPts val="500"/>
              </a:spcBef>
              <a:buClr>
                <a:schemeClr val="dk1"/>
              </a:buClr>
            </a:pPr>
            <a:endParaRPr lang="en" dirty="0">
              <a:solidFill>
                <a:schemeClr val="dk1"/>
              </a:solidFill>
              <a:latin typeface="Times New Roman"/>
              <a:cs typeface="Times New Roman"/>
              <a:sym typeface="Times New Roman"/>
            </a:endParaRPr>
          </a:p>
          <a:p>
            <a:pPr marL="285750" indent="-285750" algn="just">
              <a:spcBef>
                <a:spcPts val="500"/>
              </a:spcBef>
              <a:buClr>
                <a:schemeClr val="dk1"/>
              </a:buClr>
            </a:pPr>
            <a:endParaRPr lang="en" b="1" dirty="0">
              <a:solidFill>
                <a:schemeClr val="dk1"/>
              </a:solidFill>
              <a:latin typeface="Times New Roman"/>
              <a:ea typeface="Times New Roman"/>
              <a:cs typeface="Times New Roman"/>
              <a:sym typeface="Times New Roman"/>
            </a:endParaRPr>
          </a:p>
          <a:p>
            <a:pPr marL="285750" indent="-285750" algn="just">
              <a:spcBef>
                <a:spcPts val="500"/>
              </a:spcBef>
              <a:buClr>
                <a:schemeClr val="dk1"/>
              </a:buClr>
            </a:pPr>
            <a:endParaRPr lang="en" dirty="0">
              <a:solidFill>
                <a:schemeClr val="dk1"/>
              </a:solidFill>
              <a:latin typeface="Times New Roman"/>
              <a:ea typeface="Times New Roman"/>
              <a:cs typeface="Times New Roman"/>
              <a:sym typeface="Times New Roman"/>
            </a:endParaRPr>
          </a:p>
          <a:p>
            <a:pPr marL="285750" indent="-285750" algn="just">
              <a:spcBef>
                <a:spcPts val="500"/>
              </a:spcBef>
              <a:buClr>
                <a:schemeClr val="dk1"/>
              </a:buClr>
            </a:pPr>
            <a:endParaRPr lang="en" dirty="0">
              <a:solidFill>
                <a:schemeClr val="dk1"/>
              </a:solidFill>
              <a:latin typeface="Times New Roman"/>
              <a:ea typeface="Times New Roman"/>
              <a:cs typeface="Times New Roman"/>
              <a:sym typeface="Times New Roman"/>
            </a:endParaRPr>
          </a:p>
          <a:p>
            <a:pPr marL="285750" lvl="0" indent="-285750" algn="just" rtl="0">
              <a:lnSpc>
                <a:spcPct val="115000"/>
              </a:lnSpc>
              <a:spcBef>
                <a:spcPts val="500"/>
              </a:spcBef>
              <a:spcAft>
                <a:spcPts val="0"/>
              </a:spcAft>
              <a:buClr>
                <a:schemeClr val="dk1"/>
              </a:buClr>
              <a:buSzPts val="1800"/>
              <a:buChar char="●"/>
            </a:pPr>
            <a:endParaRPr lang="en" dirty="0">
              <a:solidFill>
                <a:schemeClr val="dk1"/>
              </a:solidFill>
              <a:latin typeface="Times New Roman"/>
              <a:ea typeface="Times New Roman"/>
              <a:cs typeface="Times New Roman"/>
              <a:sym typeface="Times New Roman"/>
            </a:endParaRPr>
          </a:p>
        </p:txBody>
      </p:sp>
      <p:graphicFrame>
        <p:nvGraphicFramePr>
          <p:cNvPr id="4" name="Table 3">
            <a:extLst>
              <a:ext uri="{FF2B5EF4-FFF2-40B4-BE49-F238E27FC236}">
                <a16:creationId xmlns:a16="http://schemas.microsoft.com/office/drawing/2014/main" id="{8E5E9464-FBF7-4C11-8683-0069D3B208A3}"/>
              </a:ext>
            </a:extLst>
          </p:cNvPr>
          <p:cNvGraphicFramePr>
            <a:graphicFrameLocks noGrp="1"/>
          </p:cNvGraphicFramePr>
          <p:nvPr>
            <p:extLst>
              <p:ext uri="{D42A27DB-BD31-4B8C-83A1-F6EECF244321}">
                <p14:modId xmlns:p14="http://schemas.microsoft.com/office/powerpoint/2010/main" val="2017225992"/>
              </p:ext>
            </p:extLst>
          </p:nvPr>
        </p:nvGraphicFramePr>
        <p:xfrm>
          <a:off x="165847" y="354039"/>
          <a:ext cx="8659906" cy="4679498"/>
        </p:xfrm>
        <a:graphic>
          <a:graphicData uri="http://schemas.openxmlformats.org/drawingml/2006/table">
            <a:tbl>
              <a:tblPr bandRow="1"/>
              <a:tblGrid>
                <a:gridCol w="8659906">
                  <a:extLst>
                    <a:ext uri="{9D8B030D-6E8A-4147-A177-3AD203B41FA5}">
                      <a16:colId xmlns:a16="http://schemas.microsoft.com/office/drawing/2014/main" val="4267597812"/>
                    </a:ext>
                  </a:extLst>
                </a:gridCol>
              </a:tblGrid>
              <a:tr h="377279">
                <a:tc>
                  <a:txBody>
                    <a:bodyPr/>
                    <a:lstStyle/>
                    <a:p>
                      <a:pPr marL="0" marR="0" algn="l" rtl="0">
                        <a:lnSpc>
                          <a:spcPct val="107000"/>
                        </a:lnSpc>
                        <a:spcBef>
                          <a:spcPts val="0"/>
                        </a:spcBef>
                        <a:spcAft>
                          <a:spcPts val="0"/>
                        </a:spcAft>
                        <a:buClr>
                          <a:srgbClr val="000000"/>
                        </a:buClr>
                        <a:buFont typeface="Arial"/>
                      </a:pPr>
                      <a:r>
                        <a:rPr lang="en-IN" sz="1600" b="0" i="0" u="none" strike="noStrike" cap="none" dirty="0">
                          <a:solidFill>
                            <a:schemeClr val="tx1"/>
                          </a:solidFill>
                          <a:effectLst/>
                          <a:latin typeface="+mn-lt"/>
                          <a:ea typeface="+mn-ea"/>
                          <a:cs typeface="+mn-cs"/>
                          <a:sym typeface="Arial"/>
                        </a:rPr>
                        <a:t>Q.1 Write an assembly language program to find the Fibonacci series up to the given number.</a:t>
                      </a:r>
                    </a:p>
                  </a:txBody>
                  <a:tcPr marL="68580" marR="68580" marT="0" marB="0"/>
                </a:tc>
                <a:extLst>
                  <a:ext uri="{0D108BD9-81ED-4DB2-BD59-A6C34878D82A}">
                    <a16:rowId xmlns:a16="http://schemas.microsoft.com/office/drawing/2014/main" val="3611640887"/>
                  </a:ext>
                </a:extLst>
              </a:tr>
              <a:tr h="468262">
                <a:tc>
                  <a:txBody>
                    <a:bodyPr/>
                    <a:lstStyle/>
                    <a:p>
                      <a:pPr marL="0" marR="0" algn="l" rtl="0">
                        <a:lnSpc>
                          <a:spcPct val="107000"/>
                        </a:lnSpc>
                        <a:spcBef>
                          <a:spcPts val="0"/>
                        </a:spcBef>
                        <a:spcAft>
                          <a:spcPts val="0"/>
                        </a:spcAft>
                        <a:buClr>
                          <a:srgbClr val="000000"/>
                        </a:buClr>
                        <a:buFont typeface="Arial"/>
                      </a:pPr>
                      <a:r>
                        <a:rPr lang="en-IN" sz="1600" b="0" i="0" u="none" strike="noStrike" cap="none" dirty="0">
                          <a:solidFill>
                            <a:schemeClr val="tx1"/>
                          </a:solidFill>
                          <a:effectLst/>
                          <a:latin typeface="+mn-lt"/>
                          <a:ea typeface="+mn-ea"/>
                          <a:cs typeface="+mn-cs"/>
                          <a:sym typeface="Arial"/>
                        </a:rPr>
                        <a:t>Q.2 </a:t>
                      </a:r>
                      <a:r>
                        <a:rPr lang="en-IN" sz="1600" b="1" i="0" u="none" strike="noStrike" cap="none" dirty="0">
                          <a:solidFill>
                            <a:schemeClr val="tx1"/>
                          </a:solidFill>
                          <a:effectLst/>
                          <a:highlight>
                            <a:srgbClr val="00FF00"/>
                          </a:highlight>
                          <a:latin typeface="+mn-lt"/>
                          <a:ea typeface="+mn-ea"/>
                          <a:cs typeface="+mn-cs"/>
                          <a:sym typeface="Arial"/>
                        </a:rPr>
                        <a:t>Write an assembly language program to find average of 15 numbers stored at consecutive location in memory.</a:t>
                      </a:r>
                    </a:p>
                  </a:txBody>
                  <a:tcPr marL="68580" marR="68580" marT="0" marB="0"/>
                </a:tc>
                <a:extLst>
                  <a:ext uri="{0D108BD9-81ED-4DB2-BD59-A6C34878D82A}">
                    <a16:rowId xmlns:a16="http://schemas.microsoft.com/office/drawing/2014/main" val="169610940"/>
                  </a:ext>
                </a:extLst>
              </a:tr>
              <a:tr h="355977">
                <a:tc>
                  <a:txBody>
                    <a:bodyPr/>
                    <a:lstStyle/>
                    <a:p>
                      <a:pPr marL="0" marR="0" algn="l" rtl="0">
                        <a:lnSpc>
                          <a:spcPct val="107000"/>
                        </a:lnSpc>
                        <a:spcBef>
                          <a:spcPts val="0"/>
                        </a:spcBef>
                        <a:spcAft>
                          <a:spcPts val="0"/>
                        </a:spcAft>
                        <a:buClr>
                          <a:srgbClr val="000000"/>
                        </a:buClr>
                        <a:buFont typeface="Arial"/>
                      </a:pPr>
                      <a:r>
                        <a:rPr lang="en-IN" sz="1600" b="0" i="0" u="none" strike="noStrike" cap="none" dirty="0">
                          <a:solidFill>
                            <a:schemeClr val="tx1"/>
                          </a:solidFill>
                          <a:effectLst/>
                          <a:latin typeface="+mn-lt"/>
                          <a:ea typeface="+mn-ea"/>
                          <a:cs typeface="+mn-cs"/>
                          <a:sym typeface="Arial"/>
                        </a:rPr>
                        <a:t>Q.3 </a:t>
                      </a:r>
                      <a:r>
                        <a:rPr lang="en-IN" sz="1600" b="0" i="0" u="none" strike="noStrike" cap="none" dirty="0">
                          <a:solidFill>
                            <a:schemeClr val="tx1"/>
                          </a:solidFill>
                          <a:effectLst/>
                          <a:highlight>
                            <a:srgbClr val="FFFF00"/>
                          </a:highlight>
                          <a:latin typeface="+mn-lt"/>
                          <a:ea typeface="+mn-ea"/>
                          <a:cs typeface="+mn-cs"/>
                          <a:sym typeface="Arial"/>
                        </a:rPr>
                        <a:t>What is assembler? Draw the flowchart of second pass of the assembler.</a:t>
                      </a:r>
                    </a:p>
                  </a:txBody>
                  <a:tcPr marL="68580" marR="68580" marT="0" marB="0"/>
                </a:tc>
                <a:extLst>
                  <a:ext uri="{0D108BD9-81ED-4DB2-BD59-A6C34878D82A}">
                    <a16:rowId xmlns:a16="http://schemas.microsoft.com/office/drawing/2014/main" val="852052330"/>
                  </a:ext>
                </a:extLst>
              </a:tr>
              <a:tr h="335807">
                <a:tc>
                  <a:txBody>
                    <a:bodyPr/>
                    <a:lstStyle/>
                    <a:p>
                      <a:pPr marL="0" marR="0" algn="l" rtl="0">
                        <a:lnSpc>
                          <a:spcPct val="107000"/>
                        </a:lnSpc>
                        <a:spcBef>
                          <a:spcPts val="0"/>
                        </a:spcBef>
                        <a:spcAft>
                          <a:spcPts val="0"/>
                        </a:spcAft>
                        <a:buClr>
                          <a:srgbClr val="000000"/>
                        </a:buClr>
                        <a:buFont typeface="Arial"/>
                      </a:pPr>
                      <a:r>
                        <a:rPr lang="en-IN" sz="1600" b="0" i="0" u="none" strike="noStrike" cap="none" dirty="0">
                          <a:solidFill>
                            <a:schemeClr val="tx1"/>
                          </a:solidFill>
                          <a:effectLst/>
                          <a:latin typeface="+mn-lt"/>
                          <a:ea typeface="+mn-ea"/>
                          <a:cs typeface="+mn-cs"/>
                          <a:sym typeface="Arial"/>
                        </a:rPr>
                        <a:t>Q.4 </a:t>
                      </a:r>
                      <a:r>
                        <a:rPr lang="en-IN" sz="1600" b="0" i="0" u="none" strike="noStrike" cap="none" dirty="0">
                          <a:solidFill>
                            <a:schemeClr val="tx1"/>
                          </a:solidFill>
                          <a:effectLst/>
                          <a:highlight>
                            <a:srgbClr val="FFFF00"/>
                          </a:highlight>
                          <a:latin typeface="+mn-lt"/>
                          <a:ea typeface="+mn-ea"/>
                          <a:cs typeface="+mn-cs"/>
                          <a:sym typeface="Arial"/>
                        </a:rPr>
                        <a:t>Draw and explain flowchart for first pass of assembler. </a:t>
                      </a:r>
                      <a:r>
                        <a:rPr lang="en-IN" sz="1600" b="1" i="0" u="none" strike="noStrike" cap="none" dirty="0">
                          <a:solidFill>
                            <a:schemeClr val="tx1"/>
                          </a:solidFill>
                          <a:effectLst/>
                          <a:highlight>
                            <a:srgbClr val="FFFF00"/>
                          </a:highlight>
                          <a:latin typeface="+mn-lt"/>
                          <a:ea typeface="+mn-ea"/>
                          <a:cs typeface="+mn-cs"/>
                          <a:sym typeface="Arial"/>
                        </a:rPr>
                        <a:t>(6 times)</a:t>
                      </a:r>
                    </a:p>
                  </a:txBody>
                  <a:tcPr marL="68580" marR="68580" marT="0" marB="0"/>
                </a:tc>
                <a:extLst>
                  <a:ext uri="{0D108BD9-81ED-4DB2-BD59-A6C34878D82A}">
                    <a16:rowId xmlns:a16="http://schemas.microsoft.com/office/drawing/2014/main" val="1776207201"/>
                  </a:ext>
                </a:extLst>
              </a:tr>
              <a:tr h="277551">
                <a:tc>
                  <a:txBody>
                    <a:bodyPr/>
                    <a:lstStyle/>
                    <a:p>
                      <a:pPr marL="0" marR="0" algn="l" rtl="0">
                        <a:lnSpc>
                          <a:spcPct val="107000"/>
                        </a:lnSpc>
                        <a:spcBef>
                          <a:spcPts val="0"/>
                        </a:spcBef>
                        <a:spcAft>
                          <a:spcPts val="0"/>
                        </a:spcAft>
                        <a:buClr>
                          <a:srgbClr val="000000"/>
                        </a:buClr>
                        <a:buFont typeface="Arial"/>
                      </a:pPr>
                      <a:r>
                        <a:rPr lang="en-IN" sz="1600" b="0" i="0" u="none" strike="noStrike" cap="none" dirty="0">
                          <a:solidFill>
                            <a:schemeClr val="tx1"/>
                          </a:solidFill>
                          <a:effectLst/>
                          <a:latin typeface="+mn-lt"/>
                          <a:ea typeface="+mn-ea"/>
                          <a:cs typeface="+mn-cs"/>
                          <a:sym typeface="Arial"/>
                        </a:rPr>
                        <a:t>Q.5 Write assembly level program to subtract two given numbers.</a:t>
                      </a:r>
                    </a:p>
                  </a:txBody>
                  <a:tcPr marL="68580" marR="68580" marT="0" marB="0"/>
                </a:tc>
                <a:extLst>
                  <a:ext uri="{0D108BD9-81ED-4DB2-BD59-A6C34878D82A}">
                    <a16:rowId xmlns:a16="http://schemas.microsoft.com/office/drawing/2014/main" val="2763584509"/>
                  </a:ext>
                </a:extLst>
              </a:tr>
              <a:tr h="277551">
                <a:tc>
                  <a:txBody>
                    <a:bodyPr/>
                    <a:lstStyle/>
                    <a:p>
                      <a:pPr marL="0" marR="0" algn="l" rtl="0">
                        <a:lnSpc>
                          <a:spcPct val="107000"/>
                        </a:lnSpc>
                        <a:spcBef>
                          <a:spcPts val="0"/>
                        </a:spcBef>
                        <a:spcAft>
                          <a:spcPts val="0"/>
                        </a:spcAft>
                        <a:buClr>
                          <a:srgbClr val="000000"/>
                        </a:buClr>
                        <a:buFont typeface="Arial"/>
                      </a:pPr>
                      <a:r>
                        <a:rPr lang="en-IN" sz="1600" b="0" i="0" u="none" strike="noStrike" cap="none" dirty="0">
                          <a:solidFill>
                            <a:schemeClr val="tx1"/>
                          </a:solidFill>
                          <a:effectLst/>
                          <a:latin typeface="+mn-lt"/>
                          <a:ea typeface="+mn-ea"/>
                          <a:cs typeface="+mn-cs"/>
                          <a:sym typeface="Arial"/>
                        </a:rPr>
                        <a:t>Q.6 Write assembly language program to add two numbers.</a:t>
                      </a:r>
                    </a:p>
                  </a:txBody>
                  <a:tcPr marL="68580" marR="68580" marT="0" marB="0"/>
                </a:tc>
                <a:extLst>
                  <a:ext uri="{0D108BD9-81ED-4DB2-BD59-A6C34878D82A}">
                    <a16:rowId xmlns:a16="http://schemas.microsoft.com/office/drawing/2014/main" val="2898604107"/>
                  </a:ext>
                </a:extLst>
              </a:tr>
              <a:tr h="861401">
                <a:tc>
                  <a:txBody>
                    <a:bodyPr/>
                    <a:lstStyle/>
                    <a:p>
                      <a:pPr marL="0" marR="0" algn="l" rtl="0">
                        <a:lnSpc>
                          <a:spcPct val="107000"/>
                        </a:lnSpc>
                        <a:spcBef>
                          <a:spcPts val="0"/>
                        </a:spcBef>
                        <a:spcAft>
                          <a:spcPts val="0"/>
                        </a:spcAft>
                        <a:buClr>
                          <a:srgbClr val="000000"/>
                        </a:buClr>
                        <a:buFont typeface="Arial"/>
                      </a:pPr>
                      <a:r>
                        <a:rPr lang="en-IN" sz="1600" b="0" i="0" u="none" strike="noStrike" cap="none" dirty="0">
                          <a:solidFill>
                            <a:schemeClr val="tx1"/>
                          </a:solidFill>
                          <a:effectLst/>
                          <a:latin typeface="+mn-lt"/>
                          <a:ea typeface="+mn-ea"/>
                          <a:cs typeface="+mn-cs"/>
                          <a:sym typeface="Arial"/>
                        </a:rPr>
                        <a:t>Q.7 Write assembly language program to multiply two numbers.</a:t>
                      </a:r>
                    </a:p>
                    <a:p>
                      <a:pPr marL="0" marR="0" algn="l" rtl="0">
                        <a:lnSpc>
                          <a:spcPct val="107000"/>
                        </a:lnSpc>
                        <a:spcBef>
                          <a:spcPts val="0"/>
                        </a:spcBef>
                        <a:spcAft>
                          <a:spcPts val="0"/>
                        </a:spcAft>
                        <a:buClr>
                          <a:srgbClr val="000000"/>
                        </a:buClr>
                        <a:buFont typeface="Arial"/>
                      </a:pPr>
                      <a:r>
                        <a:rPr lang="en-IN" sz="1600" b="0" i="0" u="none" strike="noStrike" cap="none" dirty="0">
                          <a:solidFill>
                            <a:schemeClr val="tx1"/>
                          </a:solidFill>
                          <a:effectLst/>
                          <a:latin typeface="+mn-lt"/>
                          <a:ea typeface="+mn-ea"/>
                          <a:cs typeface="+mn-cs"/>
                          <a:sym typeface="Arial"/>
                        </a:rPr>
                        <a:t>OR Write a program in assembly language to multiply two numbers in registers B and C in case the processor has only ADD instruction.</a:t>
                      </a:r>
                    </a:p>
                  </a:txBody>
                  <a:tcPr marL="68580" marR="68580" marT="0" marB="0"/>
                </a:tc>
                <a:extLst>
                  <a:ext uri="{0D108BD9-81ED-4DB2-BD59-A6C34878D82A}">
                    <a16:rowId xmlns:a16="http://schemas.microsoft.com/office/drawing/2014/main" val="3611863060"/>
                  </a:ext>
                </a:extLst>
              </a:tr>
              <a:tr h="341190">
                <a:tc>
                  <a:txBody>
                    <a:bodyPr/>
                    <a:lstStyle/>
                    <a:p>
                      <a:pPr marL="0" marR="0" algn="l" rtl="0">
                        <a:lnSpc>
                          <a:spcPct val="107000"/>
                        </a:lnSpc>
                        <a:spcBef>
                          <a:spcPts val="0"/>
                        </a:spcBef>
                        <a:spcAft>
                          <a:spcPts val="0"/>
                        </a:spcAft>
                        <a:buClr>
                          <a:srgbClr val="000000"/>
                        </a:buClr>
                        <a:buFont typeface="Arial"/>
                      </a:pPr>
                      <a:r>
                        <a:rPr lang="en-IN" sz="1600" b="0" i="0" u="none" strike="noStrike" cap="none" dirty="0">
                          <a:solidFill>
                            <a:schemeClr val="tx1"/>
                          </a:solidFill>
                          <a:effectLst/>
                          <a:latin typeface="+mn-lt"/>
                          <a:ea typeface="+mn-ea"/>
                          <a:cs typeface="+mn-cs"/>
                          <a:sym typeface="Arial"/>
                        </a:rPr>
                        <a:t>Q.8 </a:t>
                      </a:r>
                      <a:r>
                        <a:rPr lang="en-IN" sz="1600" b="0" i="0" u="none" strike="noStrike" cap="none" dirty="0">
                          <a:solidFill>
                            <a:schemeClr val="tx1"/>
                          </a:solidFill>
                          <a:effectLst/>
                          <a:highlight>
                            <a:srgbClr val="FFFF00"/>
                          </a:highlight>
                          <a:latin typeface="+mn-lt"/>
                          <a:ea typeface="+mn-ea"/>
                          <a:cs typeface="+mn-cs"/>
                          <a:sym typeface="Arial"/>
                        </a:rPr>
                        <a:t>Differentiate assembly language and machine language.</a:t>
                      </a:r>
                    </a:p>
                  </a:txBody>
                  <a:tcPr marL="68580" marR="68580" marT="0" marB="0"/>
                </a:tc>
                <a:extLst>
                  <a:ext uri="{0D108BD9-81ED-4DB2-BD59-A6C34878D82A}">
                    <a16:rowId xmlns:a16="http://schemas.microsoft.com/office/drawing/2014/main" val="1907428253"/>
                  </a:ext>
                </a:extLst>
              </a:tr>
              <a:tr h="277551">
                <a:tc>
                  <a:txBody>
                    <a:bodyPr/>
                    <a:lstStyle/>
                    <a:p>
                      <a:pPr marL="0" marR="0" algn="l" rtl="0">
                        <a:lnSpc>
                          <a:spcPct val="107000"/>
                        </a:lnSpc>
                        <a:spcBef>
                          <a:spcPts val="0"/>
                        </a:spcBef>
                        <a:spcAft>
                          <a:spcPts val="0"/>
                        </a:spcAft>
                        <a:buClr>
                          <a:srgbClr val="000000"/>
                        </a:buClr>
                        <a:buFont typeface="Arial"/>
                      </a:pPr>
                      <a:r>
                        <a:rPr lang="en-IN" sz="1600" b="0" i="0" u="none" strike="noStrike" cap="none" dirty="0">
                          <a:solidFill>
                            <a:schemeClr val="tx1"/>
                          </a:solidFill>
                          <a:effectLst/>
                          <a:latin typeface="+mn-lt"/>
                          <a:ea typeface="+mn-ea"/>
                          <a:cs typeface="+mn-cs"/>
                          <a:sym typeface="Arial"/>
                        </a:rPr>
                        <a:t>Q.9 </a:t>
                      </a:r>
                      <a:r>
                        <a:rPr lang="en-IN" sz="1600" b="1" i="0" u="none" strike="noStrike" cap="none" dirty="0">
                          <a:solidFill>
                            <a:schemeClr val="tx1"/>
                          </a:solidFill>
                          <a:effectLst/>
                          <a:highlight>
                            <a:srgbClr val="00FF00"/>
                          </a:highlight>
                          <a:latin typeface="+mn-lt"/>
                          <a:ea typeface="+mn-ea"/>
                          <a:cs typeface="+mn-cs"/>
                          <a:sym typeface="Arial"/>
                        </a:rPr>
                        <a:t>Write an assembly language program to find whether the given number is prime or not.</a:t>
                      </a:r>
                    </a:p>
                  </a:txBody>
                  <a:tcPr marL="68580" marR="68580" marT="0" marB="0"/>
                </a:tc>
                <a:extLst>
                  <a:ext uri="{0D108BD9-81ED-4DB2-BD59-A6C34878D82A}">
                    <a16:rowId xmlns:a16="http://schemas.microsoft.com/office/drawing/2014/main" val="532542771"/>
                  </a:ext>
                </a:extLst>
              </a:tr>
              <a:tr h="277551">
                <a:tc>
                  <a:txBody>
                    <a:bodyPr/>
                    <a:lstStyle/>
                    <a:p>
                      <a:pPr marL="0" marR="0" algn="l" rtl="0">
                        <a:lnSpc>
                          <a:spcPct val="107000"/>
                        </a:lnSpc>
                        <a:spcBef>
                          <a:spcPts val="0"/>
                        </a:spcBef>
                        <a:spcAft>
                          <a:spcPts val="0"/>
                        </a:spcAft>
                        <a:buClr>
                          <a:srgbClr val="000000"/>
                        </a:buClr>
                        <a:buFont typeface="Arial"/>
                      </a:pPr>
                      <a:r>
                        <a:rPr lang="en-IN" sz="1600" b="0" i="0" u="none" strike="noStrike" cap="none" dirty="0">
                          <a:solidFill>
                            <a:schemeClr val="tx1"/>
                          </a:solidFill>
                          <a:effectLst/>
                          <a:latin typeface="+mn-lt"/>
                          <a:ea typeface="+mn-ea"/>
                          <a:cs typeface="+mn-cs"/>
                          <a:sym typeface="Arial"/>
                        </a:rPr>
                        <a:t>Q.10 Write an assembly language program to find factorial of the given number.</a:t>
                      </a:r>
                    </a:p>
                  </a:txBody>
                  <a:tcPr marL="68580" marR="68580" marT="0" marB="0"/>
                </a:tc>
                <a:extLst>
                  <a:ext uri="{0D108BD9-81ED-4DB2-BD59-A6C34878D82A}">
                    <a16:rowId xmlns:a16="http://schemas.microsoft.com/office/drawing/2014/main" val="3548859863"/>
                  </a:ext>
                </a:extLst>
              </a:tr>
              <a:tr h="569477">
                <a:tc>
                  <a:txBody>
                    <a:bodyPr/>
                    <a:lstStyle/>
                    <a:p>
                      <a:pPr marL="0" marR="0" algn="l" rtl="0">
                        <a:lnSpc>
                          <a:spcPct val="107000"/>
                        </a:lnSpc>
                        <a:spcBef>
                          <a:spcPts val="0"/>
                        </a:spcBef>
                        <a:spcAft>
                          <a:spcPts val="0"/>
                        </a:spcAft>
                        <a:buClr>
                          <a:srgbClr val="000000"/>
                        </a:buClr>
                        <a:buFont typeface="Arial"/>
                      </a:pPr>
                      <a:r>
                        <a:rPr lang="en-IN" sz="1600" b="0" i="0" u="none" strike="noStrike" cap="none" dirty="0">
                          <a:solidFill>
                            <a:schemeClr val="tx1"/>
                          </a:solidFill>
                          <a:effectLst/>
                          <a:latin typeface="+mn-lt"/>
                          <a:ea typeface="+mn-ea"/>
                          <a:cs typeface="+mn-cs"/>
                          <a:sym typeface="Arial"/>
                        </a:rPr>
                        <a:t>Q.11 </a:t>
                      </a:r>
                      <a:r>
                        <a:rPr lang="en-IN" sz="1600" b="1" i="0" u="none" strike="noStrike" cap="none" dirty="0">
                          <a:solidFill>
                            <a:schemeClr val="tx1"/>
                          </a:solidFill>
                          <a:effectLst/>
                          <a:highlight>
                            <a:srgbClr val="00FF00"/>
                          </a:highlight>
                          <a:latin typeface="+mn-lt"/>
                          <a:ea typeface="+mn-ea"/>
                          <a:cs typeface="+mn-cs"/>
                          <a:sym typeface="Arial"/>
                        </a:rPr>
                        <a:t>Write an Assembly level program for addition of 50 numbers.</a:t>
                      </a:r>
                    </a:p>
                    <a:p>
                      <a:pPr marL="0" marR="0" algn="l" rtl="0">
                        <a:lnSpc>
                          <a:spcPct val="107000"/>
                        </a:lnSpc>
                        <a:spcBef>
                          <a:spcPts val="0"/>
                        </a:spcBef>
                        <a:spcAft>
                          <a:spcPts val="0"/>
                        </a:spcAft>
                        <a:buClr>
                          <a:srgbClr val="000000"/>
                        </a:buClr>
                        <a:buFont typeface="Arial"/>
                      </a:pPr>
                      <a:r>
                        <a:rPr lang="en-IN" sz="1600" b="1" i="0" u="none" strike="noStrike" cap="none" dirty="0">
                          <a:solidFill>
                            <a:schemeClr val="tx1"/>
                          </a:solidFill>
                          <a:effectLst/>
                          <a:highlight>
                            <a:srgbClr val="00FF00"/>
                          </a:highlight>
                          <a:latin typeface="+mn-lt"/>
                          <a:ea typeface="+mn-ea"/>
                          <a:cs typeface="+mn-cs"/>
                          <a:sym typeface="Arial"/>
                        </a:rPr>
                        <a:t>OR Write an assembly language program to add 50 numbers using a loop.</a:t>
                      </a:r>
                    </a:p>
                  </a:txBody>
                  <a:tcPr marL="68580" marR="68580" marT="0" marB="0"/>
                </a:tc>
                <a:extLst>
                  <a:ext uri="{0D108BD9-81ED-4DB2-BD59-A6C34878D82A}">
                    <a16:rowId xmlns:a16="http://schemas.microsoft.com/office/drawing/2014/main" val="673061462"/>
                  </a:ext>
                </a:extLst>
              </a:tr>
            </a:tbl>
          </a:graphicData>
        </a:graphic>
      </p:graphicFrame>
    </p:spTree>
    <p:extLst>
      <p:ext uri="{BB962C8B-B14F-4D97-AF65-F5344CB8AC3E}">
        <p14:creationId xmlns:p14="http://schemas.microsoft.com/office/powerpoint/2010/main" val="34744859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46"/>
        <p:cNvGrpSpPr/>
        <p:nvPr/>
      </p:nvGrpSpPr>
      <p:grpSpPr>
        <a:xfrm>
          <a:off x="0" y="0"/>
          <a:ext cx="0" cy="0"/>
          <a:chOff x="0" y="0"/>
          <a:chExt cx="0" cy="0"/>
        </a:xfrm>
      </p:grpSpPr>
      <p:sp>
        <p:nvSpPr>
          <p:cNvPr id="547" name="Google Shape;547;p75"/>
          <p:cNvSpPr txBox="1">
            <a:spLocks noGrp="1"/>
          </p:cNvSpPr>
          <p:nvPr>
            <p:ph type="title"/>
          </p:nvPr>
        </p:nvSpPr>
        <p:spPr>
          <a:xfrm>
            <a:off x="235500" y="-180583"/>
            <a:ext cx="8520600" cy="472577"/>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sz="4000" b="1" dirty="0">
                <a:latin typeface="Times New Roman"/>
                <a:ea typeface="Times New Roman"/>
                <a:cs typeface="Times New Roman"/>
                <a:sym typeface="Times New Roman"/>
              </a:rPr>
              <a:t>GTU Questions</a:t>
            </a:r>
            <a:endParaRPr sz="3600" b="1" dirty="0">
              <a:latin typeface="Times New Roman"/>
              <a:ea typeface="Times New Roman"/>
              <a:cs typeface="Times New Roman"/>
              <a:sym typeface="Times New Roman"/>
            </a:endParaRPr>
          </a:p>
        </p:txBody>
      </p:sp>
      <p:sp>
        <p:nvSpPr>
          <p:cNvPr id="548" name="Google Shape;548;p75"/>
          <p:cNvSpPr txBox="1">
            <a:spLocks noGrp="1"/>
          </p:cNvSpPr>
          <p:nvPr>
            <p:ph type="body" idx="1"/>
          </p:nvPr>
        </p:nvSpPr>
        <p:spPr>
          <a:xfrm>
            <a:off x="147350" y="661400"/>
            <a:ext cx="8520600" cy="4419600"/>
          </a:xfrm>
          <a:prstGeom prst="rect">
            <a:avLst/>
          </a:prstGeom>
          <a:noFill/>
          <a:ln>
            <a:noFill/>
          </a:ln>
        </p:spPr>
        <p:txBody>
          <a:bodyPr spcFirstLastPara="1" wrap="square" lIns="91425" tIns="91425" rIns="91425" bIns="91425" anchor="t" anchorCtr="0">
            <a:noAutofit/>
          </a:bodyPr>
          <a:lstStyle/>
          <a:p>
            <a:pPr marL="285750" indent="-285750" algn="just">
              <a:spcBef>
                <a:spcPts val="500"/>
              </a:spcBef>
              <a:buClr>
                <a:schemeClr val="dk1"/>
              </a:buClr>
            </a:pPr>
            <a:endParaRPr lang="en" dirty="0">
              <a:solidFill>
                <a:schemeClr val="dk1"/>
              </a:solidFill>
              <a:latin typeface="Times New Roman"/>
              <a:cs typeface="Times New Roman"/>
              <a:sym typeface="Times New Roman"/>
            </a:endParaRPr>
          </a:p>
          <a:p>
            <a:pPr marL="285750" indent="-285750" algn="just">
              <a:spcBef>
                <a:spcPts val="500"/>
              </a:spcBef>
              <a:buClr>
                <a:schemeClr val="dk1"/>
              </a:buClr>
            </a:pPr>
            <a:endParaRPr lang="en" b="1" dirty="0">
              <a:solidFill>
                <a:schemeClr val="dk1"/>
              </a:solidFill>
              <a:latin typeface="Times New Roman"/>
              <a:ea typeface="Times New Roman"/>
              <a:cs typeface="Times New Roman"/>
              <a:sym typeface="Times New Roman"/>
            </a:endParaRPr>
          </a:p>
          <a:p>
            <a:pPr marL="285750" indent="-285750" algn="just">
              <a:spcBef>
                <a:spcPts val="500"/>
              </a:spcBef>
              <a:buClr>
                <a:schemeClr val="dk1"/>
              </a:buClr>
            </a:pPr>
            <a:endParaRPr lang="en" dirty="0">
              <a:solidFill>
                <a:schemeClr val="dk1"/>
              </a:solidFill>
              <a:latin typeface="Times New Roman"/>
              <a:ea typeface="Times New Roman"/>
              <a:cs typeface="Times New Roman"/>
              <a:sym typeface="Times New Roman"/>
            </a:endParaRPr>
          </a:p>
          <a:p>
            <a:pPr marL="285750" indent="-285750" algn="just">
              <a:spcBef>
                <a:spcPts val="500"/>
              </a:spcBef>
              <a:buClr>
                <a:schemeClr val="dk1"/>
              </a:buClr>
            </a:pPr>
            <a:endParaRPr lang="en" dirty="0">
              <a:solidFill>
                <a:schemeClr val="dk1"/>
              </a:solidFill>
              <a:latin typeface="Times New Roman"/>
              <a:ea typeface="Times New Roman"/>
              <a:cs typeface="Times New Roman"/>
              <a:sym typeface="Times New Roman"/>
            </a:endParaRPr>
          </a:p>
          <a:p>
            <a:pPr marL="285750" lvl="0" indent="-285750" algn="just" rtl="0">
              <a:lnSpc>
                <a:spcPct val="115000"/>
              </a:lnSpc>
              <a:spcBef>
                <a:spcPts val="500"/>
              </a:spcBef>
              <a:spcAft>
                <a:spcPts val="0"/>
              </a:spcAft>
              <a:buClr>
                <a:schemeClr val="dk1"/>
              </a:buClr>
              <a:buSzPts val="1800"/>
              <a:buChar char="●"/>
            </a:pPr>
            <a:endParaRPr lang="en" dirty="0">
              <a:solidFill>
                <a:schemeClr val="dk1"/>
              </a:solidFill>
              <a:latin typeface="Times New Roman"/>
              <a:ea typeface="Times New Roman"/>
              <a:cs typeface="Times New Roman"/>
              <a:sym typeface="Times New Roman"/>
            </a:endParaRPr>
          </a:p>
        </p:txBody>
      </p:sp>
      <p:graphicFrame>
        <p:nvGraphicFramePr>
          <p:cNvPr id="4" name="Table 3">
            <a:extLst>
              <a:ext uri="{FF2B5EF4-FFF2-40B4-BE49-F238E27FC236}">
                <a16:creationId xmlns:a16="http://schemas.microsoft.com/office/drawing/2014/main" id="{8E5E9464-FBF7-4C11-8683-0069D3B208A3}"/>
              </a:ext>
            </a:extLst>
          </p:cNvPr>
          <p:cNvGraphicFramePr>
            <a:graphicFrameLocks noGrp="1"/>
          </p:cNvGraphicFramePr>
          <p:nvPr>
            <p:extLst>
              <p:ext uri="{D42A27DB-BD31-4B8C-83A1-F6EECF244321}">
                <p14:modId xmlns:p14="http://schemas.microsoft.com/office/powerpoint/2010/main" val="306526158"/>
              </p:ext>
            </p:extLst>
          </p:nvPr>
        </p:nvGraphicFramePr>
        <p:xfrm>
          <a:off x="165847" y="1068654"/>
          <a:ext cx="8659906" cy="1313397"/>
        </p:xfrm>
        <a:graphic>
          <a:graphicData uri="http://schemas.openxmlformats.org/drawingml/2006/table">
            <a:tbl>
              <a:tblPr bandRow="1"/>
              <a:tblGrid>
                <a:gridCol w="8659906">
                  <a:extLst>
                    <a:ext uri="{9D8B030D-6E8A-4147-A177-3AD203B41FA5}">
                      <a16:colId xmlns:a16="http://schemas.microsoft.com/office/drawing/2014/main" val="4267597812"/>
                    </a:ext>
                  </a:extLst>
                </a:gridCol>
              </a:tblGrid>
              <a:tr h="408421">
                <a:tc>
                  <a:txBody>
                    <a:bodyPr/>
                    <a:lstStyle/>
                    <a:p>
                      <a:pPr marL="0" marR="0" algn="l" rtl="0">
                        <a:lnSpc>
                          <a:spcPct val="107000"/>
                        </a:lnSpc>
                        <a:spcBef>
                          <a:spcPts val="0"/>
                        </a:spcBef>
                        <a:spcAft>
                          <a:spcPts val="0"/>
                        </a:spcAft>
                        <a:buClr>
                          <a:srgbClr val="000000"/>
                        </a:buClr>
                        <a:buFont typeface="Arial"/>
                      </a:pPr>
                      <a:r>
                        <a:rPr lang="en-IN" sz="1600" b="1" i="0" u="none" strike="noStrike" cap="none" dirty="0">
                          <a:solidFill>
                            <a:schemeClr val="tx1"/>
                          </a:solidFill>
                          <a:effectLst/>
                          <a:highlight>
                            <a:srgbClr val="00FF00"/>
                          </a:highlight>
                          <a:latin typeface="+mn-lt"/>
                          <a:ea typeface="+mn-ea"/>
                          <a:cs typeface="+mn-cs"/>
                          <a:sym typeface="Arial"/>
                        </a:rPr>
                        <a:t>Q.12 Write an Assembly level program to move one block of data to another location.</a:t>
                      </a:r>
                    </a:p>
                  </a:txBody>
                  <a:tcPr marL="68580" marR="68580" marT="0" marB="0"/>
                </a:tc>
                <a:extLst>
                  <a:ext uri="{0D108BD9-81ED-4DB2-BD59-A6C34878D82A}">
                    <a16:rowId xmlns:a16="http://schemas.microsoft.com/office/drawing/2014/main" val="3611640887"/>
                  </a:ext>
                </a:extLst>
              </a:tr>
              <a:tr h="904976">
                <a:tc>
                  <a:txBody>
                    <a:bodyPr/>
                    <a:lstStyle/>
                    <a:p>
                      <a:pPr marL="0" marR="0">
                        <a:lnSpc>
                          <a:spcPct val="107000"/>
                        </a:lnSpc>
                        <a:spcBef>
                          <a:spcPts val="0"/>
                        </a:spcBef>
                        <a:spcAft>
                          <a:spcPts val="0"/>
                        </a:spcAft>
                      </a:pPr>
                      <a:r>
                        <a:rPr lang="en-IN" sz="1600" b="1" i="0" u="none" strike="noStrike" cap="none" dirty="0">
                          <a:solidFill>
                            <a:schemeClr val="tx1"/>
                          </a:solidFill>
                          <a:effectLst/>
                          <a:highlight>
                            <a:srgbClr val="00FF00"/>
                          </a:highlight>
                          <a:latin typeface="+mn-lt"/>
                          <a:ea typeface="+mn-ea"/>
                          <a:cs typeface="+mn-cs"/>
                          <a:sym typeface="Arial"/>
                        </a:rPr>
                        <a:t>Q.13 Write assembly program for the arithmetic shift-left operation on a number stored in register B. Stop the program in case of overflow.</a:t>
                      </a:r>
                      <a:endParaRPr lang="en-IN" sz="1600" b="0" i="0" u="none" strike="noStrike" cap="none" dirty="0">
                        <a:solidFill>
                          <a:schemeClr val="tx1"/>
                        </a:solidFill>
                        <a:effectLst/>
                        <a:highlight>
                          <a:srgbClr val="FFFF00"/>
                        </a:highlight>
                        <a:latin typeface="+mn-lt"/>
                        <a:ea typeface="+mn-ea"/>
                        <a:cs typeface="+mn-cs"/>
                        <a:sym typeface="Arial"/>
                      </a:endParaRPr>
                    </a:p>
                  </a:txBody>
                  <a:tcPr marL="68580" marR="68580" marT="0" marB="0"/>
                </a:tc>
                <a:extLst>
                  <a:ext uri="{0D108BD9-81ED-4DB2-BD59-A6C34878D82A}">
                    <a16:rowId xmlns:a16="http://schemas.microsoft.com/office/drawing/2014/main" val="169610940"/>
                  </a:ext>
                </a:extLst>
              </a:tr>
            </a:tbl>
          </a:graphicData>
        </a:graphic>
      </p:graphicFrame>
    </p:spTree>
    <p:extLst>
      <p:ext uri="{BB962C8B-B14F-4D97-AF65-F5344CB8AC3E}">
        <p14:creationId xmlns:p14="http://schemas.microsoft.com/office/powerpoint/2010/main" val="330356991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9" name="Google Shape;229;p40"/>
          <p:cNvSpPr txBox="1"/>
          <p:nvPr/>
        </p:nvSpPr>
        <p:spPr>
          <a:xfrm>
            <a:off x="83100" y="-11012"/>
            <a:ext cx="8826900" cy="4632000"/>
          </a:xfrm>
          <a:prstGeom prst="rect">
            <a:avLst/>
          </a:prstGeom>
          <a:noFill/>
          <a:ln>
            <a:noFill/>
          </a:ln>
        </p:spPr>
        <p:txBody>
          <a:bodyPr spcFirstLastPara="1" wrap="square" lIns="91425" tIns="91425" rIns="91425" bIns="91425" anchor="t" anchorCtr="0">
            <a:noAutofit/>
          </a:bodyPr>
          <a:lstStyle/>
          <a:p>
            <a:pPr marL="0" marR="0" algn="l" rtl="0">
              <a:lnSpc>
                <a:spcPct val="107000"/>
              </a:lnSpc>
              <a:spcBef>
                <a:spcPts val="0"/>
              </a:spcBef>
              <a:spcAft>
                <a:spcPts val="0"/>
              </a:spcAft>
              <a:buClr>
                <a:srgbClr val="000000"/>
              </a:buClr>
              <a:buFont typeface="Arial"/>
            </a:pPr>
            <a:r>
              <a:rPr lang="en-IN" sz="1800" b="0" i="0" u="none" strike="noStrike" cap="none" dirty="0">
                <a:solidFill>
                  <a:schemeClr val="tx1"/>
                </a:solidFill>
                <a:effectLst/>
                <a:latin typeface="+mn-lt"/>
                <a:ea typeface="+mn-ea"/>
                <a:cs typeface="+mn-cs"/>
                <a:sym typeface="Arial"/>
              </a:rPr>
              <a:t>Q.8 Differentiate assembly language and machine language.</a:t>
            </a:r>
          </a:p>
        </p:txBody>
      </p:sp>
      <p:graphicFrame>
        <p:nvGraphicFramePr>
          <p:cNvPr id="2" name="Table 2">
            <a:extLst>
              <a:ext uri="{FF2B5EF4-FFF2-40B4-BE49-F238E27FC236}">
                <a16:creationId xmlns:a16="http://schemas.microsoft.com/office/drawing/2014/main" id="{7B0B2676-4EF4-4588-B10B-7439C9DCCD24}"/>
              </a:ext>
            </a:extLst>
          </p:cNvPr>
          <p:cNvGraphicFramePr>
            <a:graphicFrameLocks noGrp="1"/>
          </p:cNvGraphicFramePr>
          <p:nvPr>
            <p:extLst>
              <p:ext uri="{D42A27DB-BD31-4B8C-83A1-F6EECF244321}">
                <p14:modId xmlns:p14="http://schemas.microsoft.com/office/powerpoint/2010/main" val="2486339643"/>
              </p:ext>
            </p:extLst>
          </p:nvPr>
        </p:nvGraphicFramePr>
        <p:xfrm>
          <a:off x="83100" y="459567"/>
          <a:ext cx="8948488" cy="4523120"/>
        </p:xfrm>
        <a:graphic>
          <a:graphicData uri="http://schemas.openxmlformats.org/drawingml/2006/table">
            <a:tbl>
              <a:tblPr firstRow="1" bandRow="1">
                <a:tableStyleId>{5C22544A-7EE6-4342-B048-85BDC9FD1C3A}</a:tableStyleId>
              </a:tblPr>
              <a:tblGrid>
                <a:gridCol w="4474244">
                  <a:extLst>
                    <a:ext uri="{9D8B030D-6E8A-4147-A177-3AD203B41FA5}">
                      <a16:colId xmlns:a16="http://schemas.microsoft.com/office/drawing/2014/main" val="916116859"/>
                    </a:ext>
                  </a:extLst>
                </a:gridCol>
                <a:gridCol w="4474244">
                  <a:extLst>
                    <a:ext uri="{9D8B030D-6E8A-4147-A177-3AD203B41FA5}">
                      <a16:colId xmlns:a16="http://schemas.microsoft.com/office/drawing/2014/main" val="2382367316"/>
                    </a:ext>
                  </a:extLst>
                </a:gridCol>
              </a:tblGrid>
              <a:tr h="331889">
                <a:tc>
                  <a:txBody>
                    <a:bodyPr/>
                    <a:lstStyle/>
                    <a:p>
                      <a:pPr algn="ctr"/>
                      <a:r>
                        <a:rPr lang="en-IN" sz="1800" dirty="0">
                          <a:latin typeface="Times New Roman" panose="02020603050405020304" pitchFamily="18" charset="0"/>
                          <a:cs typeface="Times New Roman" panose="02020603050405020304" pitchFamily="18" charset="0"/>
                        </a:rPr>
                        <a:t>Machine Language</a:t>
                      </a:r>
                    </a:p>
                  </a:txBody>
                  <a:tcPr/>
                </a:tc>
                <a:tc>
                  <a:txBody>
                    <a:bodyPr/>
                    <a:lstStyle/>
                    <a:p>
                      <a:pPr algn="ctr"/>
                      <a:r>
                        <a:rPr lang="en-IN" sz="1800" dirty="0">
                          <a:latin typeface="Times New Roman" panose="02020603050405020304" pitchFamily="18" charset="0"/>
                          <a:cs typeface="Times New Roman" panose="02020603050405020304" pitchFamily="18" charset="0"/>
                        </a:rPr>
                        <a:t>Assembly Language</a:t>
                      </a:r>
                    </a:p>
                  </a:txBody>
                  <a:tcPr/>
                </a:tc>
                <a:extLst>
                  <a:ext uri="{0D108BD9-81ED-4DB2-BD59-A6C34878D82A}">
                    <a16:rowId xmlns:a16="http://schemas.microsoft.com/office/drawing/2014/main" val="1944435085"/>
                  </a:ext>
                </a:extLst>
              </a:tr>
              <a:tr h="652016">
                <a:tc>
                  <a:txBody>
                    <a:bodyPr/>
                    <a:lstStyle/>
                    <a:p>
                      <a:r>
                        <a:rPr lang="en-US" sz="16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Machine language is only understand by the computers.</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Assembly language is only understand by human beings not by the computers.</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34654242"/>
                  </a:ext>
                </a:extLst>
              </a:tr>
              <a:tr h="666616">
                <a:tc>
                  <a:txBody>
                    <a:bodyPr/>
                    <a:lstStyle/>
                    <a:p>
                      <a:r>
                        <a:rPr lang="en-US" sz="16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In machine language data only represented with the help of binary format(0s and 1s), hexadecimal and octal.</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In assembly language data can be represented with the help of mnemonics such as Mov, Add, Sub, End etc.</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241498924"/>
                  </a:ext>
                </a:extLst>
              </a:tr>
              <a:tr h="633062">
                <a:tc>
                  <a:txBody>
                    <a:bodyPr/>
                    <a:lstStyle/>
                    <a:p>
                      <a:r>
                        <a:rPr lang="en-US" sz="16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Machine language is very difficult to understand by the human beings.</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Assembly language is easy to understand by the human being as compare to machine language.</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17069984"/>
                  </a:ext>
                </a:extLst>
              </a:tr>
              <a:tr h="668665">
                <a:tc>
                  <a:txBody>
                    <a:bodyPr/>
                    <a:lstStyle/>
                    <a:p>
                      <a:r>
                        <a:rPr lang="en-US" sz="16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Modifications and error fixing cannot be done in machine language.</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Modifications and error fixing can be done in assembly language.</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28504743"/>
                  </a:ext>
                </a:extLst>
              </a:tr>
              <a:tr h="742688">
                <a:tc>
                  <a:txBody>
                    <a:bodyPr/>
                    <a:lstStyle/>
                    <a:p>
                      <a:r>
                        <a:rPr lang="en-US" sz="16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Execution is fast in machine language because all data is already present in binary format.</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Execution is slow as compared to machine language.</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93225991"/>
                  </a:ext>
                </a:extLst>
              </a:tr>
              <a:tr h="637969">
                <a:tc>
                  <a:txBody>
                    <a:bodyPr/>
                    <a:lstStyle/>
                    <a:p>
                      <a:r>
                        <a:rPr lang="en-US" sz="16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There is no need of translator. The machine understandable form is the machine language.</a:t>
                      </a:r>
                    </a:p>
                  </a:txBody>
                  <a:tcPr/>
                </a:tc>
                <a:tc>
                  <a:txBody>
                    <a:bodyPr/>
                    <a:lstStyle/>
                    <a:p>
                      <a:r>
                        <a:rPr lang="en-US" sz="16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Assembler is used as translator to convert mnemonics into machine understandable form.</a:t>
                      </a:r>
                    </a:p>
                  </a:txBody>
                  <a:tcPr/>
                </a:tc>
                <a:extLst>
                  <a:ext uri="{0D108BD9-81ED-4DB2-BD59-A6C34878D82A}">
                    <a16:rowId xmlns:a16="http://schemas.microsoft.com/office/drawing/2014/main" val="710595231"/>
                  </a:ext>
                </a:extLst>
              </a:tr>
            </a:tbl>
          </a:graphicData>
        </a:graphic>
      </p:graphicFrame>
    </p:spTree>
    <p:extLst>
      <p:ext uri="{BB962C8B-B14F-4D97-AF65-F5344CB8AC3E}">
        <p14:creationId xmlns:p14="http://schemas.microsoft.com/office/powerpoint/2010/main" val="384669455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41"/>
          <p:cNvSpPr txBox="1"/>
          <p:nvPr/>
        </p:nvSpPr>
        <p:spPr>
          <a:xfrm rot="-314">
            <a:off x="1198218" y="1716722"/>
            <a:ext cx="6576600" cy="1778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8000" b="1">
                <a:solidFill>
                  <a:schemeClr val="dk1"/>
                </a:solidFill>
                <a:latin typeface="Times New Roman"/>
                <a:ea typeface="Times New Roman"/>
                <a:cs typeface="Times New Roman"/>
                <a:sym typeface="Times New Roman"/>
              </a:rPr>
              <a:t>Thanking You</a:t>
            </a:r>
            <a:endParaRPr sz="8000" b="1">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2325</TotalTime>
  <Words>3359</Words>
  <Application>Microsoft Office PowerPoint</Application>
  <PresentationFormat>On-screen Show (16:9)</PresentationFormat>
  <Paragraphs>333</Paragraphs>
  <Slides>46</Slides>
  <Notes>45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46</vt:i4>
      </vt:variant>
    </vt:vector>
  </HeadingPairs>
  <TitlesOfParts>
    <vt:vector size="50" baseType="lpstr">
      <vt:lpstr>Arial</vt:lpstr>
      <vt:lpstr>Times New Roman</vt:lpstr>
      <vt:lpstr>Wingdings</vt:lpstr>
      <vt:lpstr>Simple Light</vt:lpstr>
      <vt:lpstr>Unit-4 Assembly Language Programming </vt:lpstr>
      <vt:lpstr>Outline</vt:lpstr>
      <vt:lpstr>PowerPoint Presentation</vt:lpstr>
      <vt:lpstr>Machine Language  </vt:lpstr>
      <vt:lpstr>Machine Language  </vt:lpstr>
      <vt:lpstr>Machine Language  </vt:lpstr>
      <vt:lpstr>PowerPoint Presentation</vt:lpstr>
      <vt:lpstr>Assembly Language Programming</vt:lpstr>
      <vt:lpstr>Assembly Language </vt:lpstr>
      <vt:lpstr>Assembly Language </vt:lpstr>
      <vt:lpstr>Assembly Language </vt:lpstr>
      <vt:lpstr>Assembly Language </vt:lpstr>
      <vt:lpstr>Pseudo instruction  </vt:lpstr>
      <vt:lpstr>Assembly Language Program to Subtract Two Numbers </vt:lpstr>
      <vt:lpstr>Assembly Language Program to Subtract Two Numbers </vt:lpstr>
      <vt:lpstr>Assembly Language Program to Subtract Two Numbers </vt:lpstr>
      <vt:lpstr>Translation to Binary </vt:lpstr>
      <vt:lpstr>Translation to Binary </vt:lpstr>
      <vt:lpstr>PowerPoint Presentation</vt:lpstr>
      <vt:lpstr>First Pass of Assembler </vt:lpstr>
      <vt:lpstr>PowerPoint Presentation</vt:lpstr>
      <vt:lpstr>PowerPoint Presentation</vt:lpstr>
      <vt:lpstr>PowerPoint Presentation</vt:lpstr>
      <vt:lpstr>PowerPoint Presentation</vt:lpstr>
      <vt:lpstr>Second Pass of Assembler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Program Loops </vt:lpstr>
      <vt:lpstr>PowerPoint Presentation</vt:lpstr>
      <vt:lpstr>Subroutine </vt:lpstr>
      <vt:lpstr>Subroutine (Example) </vt:lpstr>
      <vt:lpstr>Subroutine vs Program Loop </vt:lpstr>
      <vt:lpstr>PowerPoint Presentation</vt:lpstr>
      <vt:lpstr>Input-Output Programming </vt:lpstr>
      <vt:lpstr>Input-Output Programming </vt:lpstr>
      <vt:lpstr>PowerPoint Presentation</vt:lpstr>
      <vt:lpstr>Input-Output Programming </vt:lpstr>
      <vt:lpstr>GTU Questions</vt:lpstr>
      <vt:lpstr>GTU Questions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Unit-3 Assembly Language Programming </dc:title>
  <cp:lastModifiedBy>SAMANI RAVI</cp:lastModifiedBy>
  <cp:revision>143</cp:revision>
  <dcterms:modified xsi:type="dcterms:W3CDTF">2026-04-26T04:46:34Z</dcterms:modified>
</cp:coreProperties>
</file>